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8" r:id="rId9"/>
    <p:sldId id="265" r:id="rId10"/>
    <p:sldId id="267" r:id="rId11"/>
    <p:sldId id="264" r:id="rId12"/>
    <p:sldId id="275" r:id="rId13"/>
    <p:sldId id="262" r:id="rId14"/>
    <p:sldId id="269" r:id="rId15"/>
    <p:sldId id="271" r:id="rId16"/>
    <p:sldId id="270" r:id="rId17"/>
    <p:sldId id="273" r:id="rId18"/>
    <p:sldId id="276" r:id="rId19"/>
    <p:sldId id="277" r:id="rId20"/>
    <p:sldId id="272" r:id="rId21"/>
    <p:sldId id="278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89804" autoAdjust="0"/>
  </p:normalViewPr>
  <p:slideViewPr>
    <p:cSldViewPr snapToGrid="0">
      <p:cViewPr varScale="1">
        <p:scale>
          <a:sx n="51" d="100"/>
          <a:sy n="51" d="100"/>
        </p:scale>
        <p:origin x="88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2CED0-0053-4CA5-BBA9-1B4221C85B40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10795-42AE-41C2-B777-14342A7711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https://lukemerrett.com/different-merge-types-in-git/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10795-42AE-41C2-B777-14342A7711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57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89F59313-85B6-6266-1399-CE301CA0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>
            <a:extLst>
              <a:ext uri="{FF2B5EF4-FFF2-40B4-BE49-F238E27FC236}">
                <a16:creationId xmlns:a16="http://schemas.microsoft.com/office/drawing/2014/main" id="{BB926082-7897-4984-C719-7B6C48ED1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>
            <a:extLst>
              <a:ext uri="{FF2B5EF4-FFF2-40B4-BE49-F238E27FC236}">
                <a16:creationId xmlns:a16="http://schemas.microsoft.com/office/drawing/2014/main" id="{1F366794-905F-8668-F137-4DE3DC447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70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27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89801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27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206518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27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1419016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70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27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1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27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128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27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10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27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9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09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23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27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05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27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46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91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74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51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27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7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27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655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27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64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9800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592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83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27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944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85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30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20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834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70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27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27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22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39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880351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5172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634319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31951-655E-3AEC-53F6-41EB0D245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1DD75-8DF7-8685-8BDA-1E2D37A34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9D0B3-9249-8312-FE8A-C6DFCF200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73ACE-FED8-11D9-70C2-03FE7C65A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FB979-78DD-1D2D-75E1-40CC96F7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82C58-95AB-49C0-97EE-60A6E942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359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42D0-F42C-A7AD-451A-4EE650181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46013-3C83-B03F-180D-3F23214C5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1CD4A-3A28-146E-C83F-F79EA416F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07822-0D3E-2524-6605-B1549F9F5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BADB4-C04F-4E32-9A86-DF1B5AA91BC6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55B03-2E61-3D01-E355-C160E3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2FE4D-F4E1-835F-C314-1B8981F3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5D33F-208A-4E68-BA99-CA022307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0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27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95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etty/jetty.project/network" TargetMode="External"/><Relationship Id="rId2" Type="http://schemas.openxmlformats.org/officeDocument/2006/relationships/hyperlink" Target="https://github.com/vuejs/core/network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shafe123/cmu-aegis-scholar/network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book/en/v2/Git-Branching-Basic-Branching-and-Merging" TargetMode="External"/><Relationship Id="rId2" Type="http://schemas.openxmlformats.org/officeDocument/2006/relationships/hyperlink" Target="https://git-scm.com/book/en/v2/Git-Branching-Branches-in-a-Nutshell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-scm.com/book/en/v2/Git-Tools-Advanced-Merging" TargetMode="External"/><Relationship Id="rId4" Type="http://schemas.openxmlformats.org/officeDocument/2006/relationships/hyperlink" Target="https://git-scm.com/book/en/v2/Git-Branching-Rebas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58DE08-E9B7-C60E-54A9-B9C4CB0CF46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59550-E5DB-BC20-C81F-9EB6E3BDF38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9E274F-268E-C4ED-A309-77493A5AB6E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2DC52EC-EA38-5AC8-734C-86C48F1E57D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B337A7-6894-2467-BBC3-912DBFFF9B8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F04F4A-157C-C9CC-2860-3D7F9574FF6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72A5A1-0665-6040-2123-FF916F339B6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949461E-2B6C-DE1B-DB28-8C910984054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C6CF32-32EC-0E10-E2F1-84000E2DBFF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9D28072-55C9-BB90-EFEF-3FBA9F77665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FB89E-D437-DDEE-EF60-D8FEAACA94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Branching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16B13B-C7A6-E7BA-F0D6-EB060527E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4735B-E551-8A67-FBB3-00D1F65882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1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F13C-EF4C-AC2D-69C5-D96E2312A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0F9A6-D074-B4DD-AA37-66A632B0C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Utilize branching to manage changes to a git repository</a:t>
            </a:r>
          </a:p>
          <a:p>
            <a:r>
              <a:rPr lang="en-US" dirty="0"/>
              <a:t>Discuss the different merge strategies</a:t>
            </a:r>
          </a:p>
          <a:p>
            <a:r>
              <a:rPr lang="en-US" dirty="0"/>
              <a:t>Resolve merge conflicts</a:t>
            </a:r>
          </a:p>
        </p:txBody>
      </p:sp>
    </p:spTree>
    <p:extLst>
      <p:ext uri="{BB962C8B-B14F-4D97-AF65-F5344CB8AC3E}">
        <p14:creationId xmlns:p14="http://schemas.microsoft.com/office/powerpoint/2010/main" val="1445210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06D3-8399-980A-3E9A-996E53D4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F1031-5C8D-20A1-2FE1-25E3AF94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  <a:p>
            <a:r>
              <a:rPr lang="en-US" dirty="0"/>
              <a:t>Staged vs </a:t>
            </a:r>
            <a:r>
              <a:rPr lang="en-US" dirty="0" err="1"/>
              <a:t>unstaged</a:t>
            </a:r>
            <a:endParaRPr lang="en-US" dirty="0"/>
          </a:p>
          <a:p>
            <a:r>
              <a:rPr lang="en-US" dirty="0"/>
              <a:t>Commit</a:t>
            </a:r>
          </a:p>
          <a:p>
            <a:r>
              <a:rPr lang="en-US" dirty="0"/>
              <a:t>Diff?</a:t>
            </a:r>
          </a:p>
        </p:txBody>
      </p:sp>
    </p:spTree>
    <p:extLst>
      <p:ext uri="{BB962C8B-B14F-4D97-AF65-F5344CB8AC3E}">
        <p14:creationId xmlns:p14="http://schemas.microsoft.com/office/powerpoint/2010/main" val="307689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6DC8-4CE8-7214-363E-A9FAF50D2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5372C-2BEE-6542-A860-059964762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Repositories are a tree-like structure</a:t>
            </a:r>
          </a:p>
          <a:p>
            <a:r>
              <a:rPr lang="en-US" dirty="0"/>
              <a:t>Trees have branches</a:t>
            </a:r>
          </a:p>
          <a:p>
            <a:r>
              <a:rPr lang="en-US" dirty="0"/>
              <a:t>Branches are made off of the trunk, or other branches</a:t>
            </a:r>
          </a:p>
        </p:txBody>
      </p:sp>
      <p:pic>
        <p:nvPicPr>
          <p:cNvPr id="9" name="Content Placeholder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1161691D-16F9-BA6C-2075-4117CB22F93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2603" y="2926253"/>
            <a:ext cx="7556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9837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EAA1-9B24-D6D1-A2FD-45548B23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branch?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C358-BA3A-F9F2-ADE4-15EE7BA47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work</a:t>
            </a:r>
          </a:p>
          <a:p>
            <a:r>
              <a:rPr lang="en-US" dirty="0"/>
              <a:t>Safe experimentation</a:t>
            </a:r>
          </a:p>
          <a:p>
            <a:r>
              <a:rPr lang="en-US" dirty="0"/>
              <a:t>Protect the main 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5F00-D104-8674-1791-8E7BCAF4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“Normal”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8E0E4-5E30-AE1B-598E-556967384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Feature</a:t>
            </a:r>
          </a:p>
          <a:p>
            <a:r>
              <a:rPr lang="en-US" dirty="0"/>
              <a:t>Bugfix</a:t>
            </a:r>
          </a:p>
          <a:p>
            <a:r>
              <a:rPr lang="en-US" dirty="0"/>
              <a:t>Release</a:t>
            </a:r>
          </a:p>
          <a:p>
            <a:r>
              <a:rPr lang="en-US" dirty="0"/>
              <a:t>Hotfix</a:t>
            </a:r>
          </a:p>
          <a:p>
            <a:endParaRPr lang="en-US" dirty="0"/>
          </a:p>
        </p:txBody>
      </p:sp>
      <p:pic>
        <p:nvPicPr>
          <p:cNvPr id="9218" name="Picture 2" descr="Diagram Of Git System Github Branching Workflow Diagram">
            <a:extLst>
              <a:ext uri="{FF2B5EF4-FFF2-40B4-BE49-F238E27FC236}">
                <a16:creationId xmlns:a16="http://schemas.microsoft.com/office/drawing/2014/main" id="{90082470-912B-389A-C308-06664437A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8091" y="1469811"/>
            <a:ext cx="7646988" cy="5388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271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0134B-E65B-715D-4850-247A7810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Conflicts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9F7CFC6-8C84-502C-4A89-1882265B43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288" y="1275945"/>
            <a:ext cx="8231424" cy="308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t Burns GIFs - Find &amp; Share on GIPHY">
            <a:extLst>
              <a:ext uri="{FF2B5EF4-FFF2-40B4-BE49-F238E27FC236}">
                <a16:creationId xmlns:a16="http://schemas.microsoft.com/office/drawing/2014/main" id="{BC0294A4-37B0-2F1E-3C34-C9A5AF14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4412672"/>
            <a:ext cx="47625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63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650D-8433-6280-35F4-F6878BC8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resolving?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3429A-D957-8750-C9BD-BB63FD8CA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add / commit</a:t>
            </a:r>
          </a:p>
        </p:txBody>
      </p:sp>
      <p:pic>
        <p:nvPicPr>
          <p:cNvPr id="5122" name="Picture 2" descr="Image result for git conflict">
            <a:extLst>
              <a:ext uri="{FF2B5EF4-FFF2-40B4-BE49-F238E27FC236}">
                <a16:creationId xmlns:a16="http://schemas.microsoft.com/office/drawing/2014/main" id="{E9A2D120-7440-4544-B2B8-C56C2665C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346" y="1173121"/>
            <a:ext cx="5718759" cy="51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7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D131-ADA7-8C3C-0154-D53E660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(They’re not scary)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D9BDE-8AE8-4C81-14D8-430805CD77DC}"/>
              </a:ext>
            </a:extLst>
          </p:cNvPr>
          <p:cNvSpPr txBox="1"/>
          <p:nvPr/>
        </p:nvSpPr>
        <p:spPr>
          <a:xfrm>
            <a:off x="2521527" y="1983871"/>
            <a:ext cx="7148945" cy="2081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i="1" dirty="0">
                <a:solidFill>
                  <a:srgbClr val="82071E"/>
                </a:solidFill>
                <a:effectLst/>
                <a:latin typeface="Consolas" panose="020B0609020204030204" pitchFamily="49" charset="0"/>
              </a:rPr>
              <a:t>&lt;&lt;&lt;&lt;&lt;&lt;&lt;&lt;&lt;&lt;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HEAD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 Hello.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========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  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i="1" dirty="0">
                <a:solidFill>
                  <a:srgbClr val="82071E"/>
                </a:solidFill>
                <a:latin typeface="Consolas" panose="020B0609020204030204" pitchFamily="49" charset="0"/>
              </a:rPr>
              <a:t>&gt;&gt;&gt;&gt;&gt;&gt;&gt;&gt;&gt;&gt;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17c860612953c0f9d88f313c8dfbf7d858e02e91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5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CA6B3-EF80-B170-8B9B-0F02A95F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52CD-2DDD-F55F-1ACE-80F37A841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(Resolution)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1075E-5479-C1E4-63C2-4F12EDB0BCE8}"/>
              </a:ext>
            </a:extLst>
          </p:cNvPr>
          <p:cNvSpPr txBox="1"/>
          <p:nvPr/>
        </p:nvSpPr>
        <p:spPr>
          <a:xfrm>
            <a:off x="548640" y="1690109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Hello.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18AE35-2E66-2C2F-1459-4FA459CAB874}"/>
              </a:ext>
            </a:extLst>
          </p:cNvPr>
          <p:cNvSpPr txBox="1"/>
          <p:nvPr/>
        </p:nvSpPr>
        <p:spPr>
          <a:xfrm>
            <a:off x="5876020" y="1690109"/>
            <a:ext cx="6096000" cy="136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Merge Conflict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Hello.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strong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116329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7824A-66A5-F43E-B239-6799EF60D044}"/>
              </a:ext>
            </a:extLst>
          </p:cNvPr>
          <p:cNvSpPr txBox="1"/>
          <p:nvPr/>
        </p:nvSpPr>
        <p:spPr>
          <a:xfrm>
            <a:off x="4978245" y="2219425"/>
            <a:ext cx="670560" cy="3049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98846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6DA5-3D21-92FF-34B4-C70A956E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Conflicts (Pretty Colors)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8675508-4E5B-8D8D-51AE-760662C64C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53433" y="1600200"/>
            <a:ext cx="7415283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753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Git checkout / Merge</a:t>
            </a:r>
            <a:endParaRPr dirty="0"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1070067784"/>
              </p:ext>
            </p:extLst>
          </p:nvPr>
        </p:nvGraphicFramePr>
        <p:xfrm>
          <a:off x="838200" y="2629694"/>
          <a:ext cx="10515600" cy="262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–b feature-a</a:t>
                      </a:r>
                      <a:b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–c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Create a new branch and switch to it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Switch to an existing branch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feature-a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0" u="none" strike="noStrike" cap="none" dirty="0"/>
                        <a:t>Merge the specified branch onto the current branch using the default strategy (configured)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--squash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i="0" dirty="0"/>
                        <a:t>Merge the specified branch but do not commit the merge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532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EAB4-7253-7E9F-1250-6385F41B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335C9-73F6-7580-48E5-B50C5623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and merge branches</a:t>
            </a:r>
          </a:p>
          <a:p>
            <a:r>
              <a:rPr lang="en-US" dirty="0"/>
              <a:t>Resolve conflicts</a:t>
            </a:r>
          </a:p>
        </p:txBody>
      </p:sp>
    </p:spTree>
    <p:extLst>
      <p:ext uri="{BB962C8B-B14F-4D97-AF65-F5344CB8AC3E}">
        <p14:creationId xmlns:p14="http://schemas.microsoft.com/office/powerpoint/2010/main" val="3255125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0FB0-AE62-4F16-CDEC-B51DCB403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Merging Strategies</a:t>
            </a:r>
            <a:endParaRPr lang="en-US" dirty="0"/>
          </a:p>
        </p:txBody>
      </p:sp>
      <p:pic>
        <p:nvPicPr>
          <p:cNvPr id="7170" name="Picture 2" descr="Understanding Git merge strategies - Mastering Microsoft Dynamics 365 ...">
            <a:extLst>
              <a:ext uri="{FF2B5EF4-FFF2-40B4-BE49-F238E27FC236}">
                <a16:creationId xmlns:a16="http://schemas.microsoft.com/office/drawing/2014/main" id="{FF416298-C934-01A9-67AF-A2D5DD9618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07192" y="1005897"/>
            <a:ext cx="5324191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52C7B-727A-220E-3B83-7707EE432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Fast-forward applies all commits onto the other branch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--no-ff keeps the branch history and creates a merge commit with all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--squash acts like a merge, but never creates the commit</a:t>
            </a:r>
          </a:p>
        </p:txBody>
      </p:sp>
    </p:spTree>
    <p:extLst>
      <p:ext uri="{BB962C8B-B14F-4D97-AF65-F5344CB8AC3E}">
        <p14:creationId xmlns:p14="http://schemas.microsoft.com/office/powerpoint/2010/main" val="2336034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95DF-39D3-B8C4-7C76-A3C061391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Rebasing</a:t>
            </a:r>
            <a:endParaRPr lang="en-US" dirty="0"/>
          </a:p>
        </p:txBody>
      </p:sp>
      <p:pic>
        <p:nvPicPr>
          <p:cNvPr id="8194" name="Picture 2" descr="How to Rebase in Git: Explained Step-by-Step - Become A Better Programmer">
            <a:extLst>
              <a:ext uri="{FF2B5EF4-FFF2-40B4-BE49-F238E27FC236}">
                <a16:creationId xmlns:a16="http://schemas.microsoft.com/office/drawing/2014/main" id="{EBB635A1-D0BD-7359-97E0-8461B133C3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83188" y="1495425"/>
            <a:ext cx="617220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6D04F-99F6-E1E9-9733-BD62A84E5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Rebasing reapplies the current branch onto the target branch in order.</a:t>
            </a:r>
          </a:p>
        </p:txBody>
      </p:sp>
    </p:spTree>
    <p:extLst>
      <p:ext uri="{BB962C8B-B14F-4D97-AF65-F5344CB8AC3E}">
        <p14:creationId xmlns:p14="http://schemas.microsoft.com/office/powerpoint/2010/main" val="3117765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C1A1-F35F-DB0A-51CA-06D8DDA6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Branches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E6D48-0922-FA22-A215-9A863078B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for Windows has tig built-in</a:t>
            </a:r>
          </a:p>
          <a:p>
            <a:r>
              <a:rPr lang="en-US" dirty="0"/>
              <a:t>VS Code has branch visualization extensions</a:t>
            </a:r>
          </a:p>
          <a:p>
            <a:endParaRPr lang="en-US" dirty="0"/>
          </a:p>
          <a:p>
            <a:r>
              <a:rPr lang="en-US" dirty="0"/>
              <a:t>Using "true merge":  </a:t>
            </a:r>
            <a:r>
              <a:rPr lang="en-US" dirty="0">
                <a:hlinkClick r:id="rId2"/>
              </a:rPr>
              <a:t>https://github.com/vuejs/core/network</a:t>
            </a:r>
            <a:endParaRPr lang="en-US" dirty="0"/>
          </a:p>
          <a:p>
            <a:r>
              <a:rPr lang="en-US" dirty="0"/>
              <a:t>Full feature / fix / release branches:  </a:t>
            </a:r>
            <a:r>
              <a:rPr lang="en-US" dirty="0">
                <a:hlinkClick r:id="rId3"/>
              </a:rPr>
              <a:t>https://github.com/jetty/jetty.project/network</a:t>
            </a:r>
            <a:endParaRPr lang="en-US" dirty="0"/>
          </a:p>
          <a:p>
            <a:r>
              <a:rPr lang="en-US" dirty="0"/>
              <a:t>Using squash / ff commits:  </a:t>
            </a:r>
            <a:r>
              <a:rPr lang="en-US" dirty="0">
                <a:hlinkClick r:id="rId4"/>
              </a:rPr>
              <a:t>https://github.com/shafe123/cmu-aegis-scholar/network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595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02DD6C-962D-6C04-6EF2-7E6FE2F2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3" y="3171347"/>
            <a:ext cx="4273667" cy="1053482"/>
          </a:xfrm>
        </p:spPr>
        <p:txBody>
          <a:bodyPr/>
          <a:lstStyle/>
          <a:p>
            <a:r>
              <a:rPr lang="en-US" dirty="0"/>
              <a:t>One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17216A-5550-4CD2-84FC-448ADD6F1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32" y="41061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--squash feature-a</a:t>
            </a:r>
          </a:p>
          <a:p>
            <a:r>
              <a:rPr lang="en-US" dirty="0"/>
              <a:t>git commit -m “feature-a”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55FD1-F732-3DDF-AEF7-0B90E43FA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8470" y="480717"/>
            <a:ext cx="3962114" cy="1959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ABC6A8-D342-EB1E-C560-43BF428DD0D0}"/>
              </a:ext>
            </a:extLst>
          </p:cNvPr>
          <p:cNvSpPr txBox="1"/>
          <p:nvPr/>
        </p:nvSpPr>
        <p:spPr>
          <a:xfrm>
            <a:off x="3957780" y="1309637"/>
            <a:ext cx="3018906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fetch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B8D69B-4FA8-D915-CDEB-B1D5EA7A3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6687" y="471840"/>
            <a:ext cx="4538749" cy="19706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0F9E91-4F93-E4F4-69FD-B2BD9CF6A14E}"/>
              </a:ext>
            </a:extLst>
          </p:cNvPr>
          <p:cNvSpPr txBox="1"/>
          <p:nvPr/>
        </p:nvSpPr>
        <p:spPr>
          <a:xfrm>
            <a:off x="3957780" y="3218077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rebase main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D28AE5-CE99-0070-CB9F-0025C41AE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686" y="2469390"/>
            <a:ext cx="4751951" cy="22031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52FF1D-427D-C1E0-B50C-3A398C20625F}"/>
              </a:ext>
            </a:extLst>
          </p:cNvPr>
          <p:cNvSpPr txBox="1"/>
          <p:nvPr/>
        </p:nvSpPr>
        <p:spPr>
          <a:xfrm>
            <a:off x="4046680" y="5403563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C2FDB30-8908-2C84-16B9-537F006C8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78922" y="4654876"/>
            <a:ext cx="4725279" cy="22031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B395EB-CBAA-7BD7-FE69-A50E528333DE}"/>
              </a:ext>
            </a:extLst>
          </p:cNvPr>
          <p:cNvSpPr txBox="1"/>
          <p:nvPr/>
        </p:nvSpPr>
        <p:spPr>
          <a:xfrm>
            <a:off x="-2538270" y="1309637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b="1" dirty="0">
                <a:latin typeface="+mj-lt"/>
                <a:cs typeface="Courier New" panose="02070309020205020404" pitchFamily="49" charset="0"/>
              </a:rPr>
              <a:t>Start Point</a:t>
            </a:r>
          </a:p>
        </p:txBody>
      </p:sp>
    </p:spTree>
    <p:extLst>
      <p:ext uri="{BB962C8B-B14F-4D97-AF65-F5344CB8AC3E}">
        <p14:creationId xmlns:p14="http://schemas.microsoft.com/office/powerpoint/2010/main" val="199564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9342-4844-A3EA-95CC-B4A03B25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9AFF559-7C22-ED9E-3AB8-C9670F6B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33" y="3171347"/>
            <a:ext cx="4273667" cy="1053482"/>
          </a:xfrm>
        </p:spPr>
        <p:txBody>
          <a:bodyPr/>
          <a:lstStyle/>
          <a:p>
            <a:r>
              <a:rPr lang="en-US" dirty="0"/>
              <a:t>One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8E8ADAA-281A-A3BB-14BB-C5B09D7AC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632" y="41061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--squash feature-a</a:t>
            </a:r>
          </a:p>
          <a:p>
            <a:r>
              <a:rPr lang="en-US" dirty="0"/>
              <a:t>git commit -m “feature-a”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32DC0D-724A-F544-BA42-3C77C2431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420" y="471840"/>
            <a:ext cx="3962114" cy="1845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35F3C-FCB9-1250-35F3-A48C70B30C5D}"/>
              </a:ext>
            </a:extLst>
          </p:cNvPr>
          <p:cNvSpPr txBox="1"/>
          <p:nvPr/>
        </p:nvSpPr>
        <p:spPr>
          <a:xfrm>
            <a:off x="3673562" y="2560533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--squash feature-a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0A6590-7A3B-4543-5A1D-23661FE98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92468" y="1933148"/>
            <a:ext cx="4751951" cy="1960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8C2228-0630-1F26-1FD5-64F4C5400719}"/>
              </a:ext>
            </a:extLst>
          </p:cNvPr>
          <p:cNvSpPr txBox="1"/>
          <p:nvPr/>
        </p:nvSpPr>
        <p:spPr>
          <a:xfrm>
            <a:off x="3932380" y="4785460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-m "feature-a"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3F7941-F452-26D7-9812-0C0BC3F2E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4622" y="4136782"/>
            <a:ext cx="4725279" cy="20031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D58D9D-C7D9-5A92-E7C1-DFAD4391872B}"/>
              </a:ext>
            </a:extLst>
          </p:cNvPr>
          <p:cNvSpPr txBox="1"/>
          <p:nvPr/>
        </p:nvSpPr>
        <p:spPr>
          <a:xfrm>
            <a:off x="-2049320" y="1243759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366073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BC2F7-A4F6-9005-729F-656D9F779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C7E2A0-A6A0-3A5A-7C1D-DF3D6C3C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83" y="4098447"/>
            <a:ext cx="5211867" cy="1053482"/>
          </a:xfrm>
        </p:spPr>
        <p:txBody>
          <a:bodyPr/>
          <a:lstStyle/>
          <a:p>
            <a:r>
              <a:rPr lang="en-US" dirty="0"/>
              <a:t>Alternate strategy (feature branch)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3EB9EE3-8D32-CDF4-65BB-C12639688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382" y="5033213"/>
            <a:ext cx="5181600" cy="4351338"/>
          </a:xfrm>
        </p:spPr>
        <p:txBody>
          <a:bodyPr/>
          <a:lstStyle/>
          <a:p>
            <a:r>
              <a:rPr lang="en-US" dirty="0"/>
              <a:t>git fetch</a:t>
            </a:r>
          </a:p>
          <a:p>
            <a:r>
              <a:rPr lang="en-US" dirty="0"/>
              <a:t>git rebase main</a:t>
            </a:r>
          </a:p>
          <a:p>
            <a:r>
              <a:rPr lang="en-US" dirty="0"/>
              <a:t>git checkout main</a:t>
            </a:r>
          </a:p>
          <a:p>
            <a:r>
              <a:rPr lang="en-US" dirty="0"/>
              <a:t>git merge --no-ff feature-a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160358-E2E7-8B70-F69C-E039B1FC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7420" y="471840"/>
            <a:ext cx="3962114" cy="18455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FCFF2D-EC0B-BC10-E0B1-00720F3656A5}"/>
              </a:ext>
            </a:extLst>
          </p:cNvPr>
          <p:cNvSpPr txBox="1"/>
          <p:nvPr/>
        </p:nvSpPr>
        <p:spPr>
          <a:xfrm>
            <a:off x="3692612" y="3076125"/>
            <a:ext cx="3018906" cy="68811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merge --no-ff feature-a –m "feature-a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3DC7583-D310-A8C7-AF0A-6D9E11EC0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0551" y="2448740"/>
            <a:ext cx="4493885" cy="19605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866EAB1-5C8D-F60F-20BE-8245D9E66BCF}"/>
              </a:ext>
            </a:extLst>
          </p:cNvPr>
          <p:cNvSpPr txBox="1"/>
          <p:nvPr/>
        </p:nvSpPr>
        <p:spPr>
          <a:xfrm>
            <a:off x="-2049320" y="1243759"/>
            <a:ext cx="378922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git checkout main</a:t>
            </a:r>
          </a:p>
        </p:txBody>
      </p:sp>
    </p:spTree>
    <p:extLst>
      <p:ext uri="{BB962C8B-B14F-4D97-AF65-F5344CB8AC3E}">
        <p14:creationId xmlns:p14="http://schemas.microsoft.com/office/powerpoint/2010/main" val="4270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FCAFD4-556D-F1D7-CEAD-18E98C43A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EE901-90E5-A079-F7AB-9D5BBFA96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 different merging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63535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6A7D4440-3599-97A3-A94B-36CB1F282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>
            <a:extLst>
              <a:ext uri="{FF2B5EF4-FFF2-40B4-BE49-F238E27FC236}">
                <a16:creationId xmlns:a16="http://schemas.microsoft.com/office/drawing/2014/main" id="{84E27EC2-7C0C-A352-A445-6352A9868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Git checkout / Merge</a:t>
            </a:r>
            <a:endParaRPr dirty="0"/>
          </a:p>
        </p:txBody>
      </p:sp>
      <p:graphicFrame>
        <p:nvGraphicFramePr>
          <p:cNvPr id="142" name="Google Shape;142;p20">
            <a:extLst>
              <a:ext uri="{FF2B5EF4-FFF2-40B4-BE49-F238E27FC236}">
                <a16:creationId xmlns:a16="http://schemas.microsoft.com/office/drawing/2014/main" id="{73EDB1E8-DD1F-5E98-2763-77DD4E74010B}"/>
              </a:ext>
            </a:extLst>
          </p:cNvPr>
          <p:cNvGraphicFramePr/>
          <p:nvPr/>
        </p:nvGraphicFramePr>
        <p:xfrm>
          <a:off x="838200" y="2629694"/>
          <a:ext cx="10515600" cy="26213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–b feature-a</a:t>
                      </a:r>
                      <a:b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</a:b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switch –c feature-a</a:t>
                      </a:r>
                      <a:endParaRPr lang="en-US" sz="180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Create a new branch and switch to it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checkout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Switch to an existing branch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feature-a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0" u="none" strike="noStrike" cap="none" dirty="0"/>
                        <a:t>Merge the specified branch onto the current branch using the default strategy (configured)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  <a:tabLst/>
                        <a:defRPr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merge --squash feature-a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i="0" dirty="0"/>
                        <a:t>Merge the specified branch but do not commit the merge</a:t>
                      </a:r>
                      <a:endParaRPr i="0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4253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552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A482F-A1AF-7A43-C9F9-B0D107B9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72B8C-6524-EBD5-6705-4DFCBA22F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https://git-scm.com/book/en/v2/Git-Branching-Branches-in-a-Nutshell</a:t>
            </a:r>
            <a:endParaRPr lang="en-US" dirty="0"/>
          </a:p>
          <a:p>
            <a:r>
              <a:rPr lang="en-US" dirty="0">
                <a:hlinkClick r:id="rId3"/>
              </a:rPr>
              <a:t>https://git-scm.com/book/en/v2/Git-Branching-Basic-Branching-and-Merging</a:t>
            </a:r>
            <a:endParaRPr lang="en-US" dirty="0"/>
          </a:p>
          <a:p>
            <a:r>
              <a:rPr lang="en-US" dirty="0">
                <a:hlinkClick r:id="rId4"/>
              </a:rPr>
              <a:t>https://git-scm.com/book/en/v2/Git-Branching-Rebasing</a:t>
            </a:r>
            <a:endParaRPr lang="en-US" dirty="0"/>
          </a:p>
          <a:p>
            <a:r>
              <a:rPr lang="en-US" dirty="0">
                <a:hlinkClick r:id="rId5"/>
              </a:rPr>
              <a:t>https://git-scm.com/book/en/v2/Git-Tools-Advanced-Merging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ACBFC-09D9-B88C-9B1A-871D04DE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27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5D01C3-9118-F75B-338E-C30CF47F01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6824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638</Words>
  <Application>Microsoft Office PowerPoint</Application>
  <PresentationFormat>Widescreen</PresentationFormat>
  <Paragraphs>135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Arial Bold</vt:lpstr>
      <vt:lpstr>Consolas</vt:lpstr>
      <vt:lpstr>Courier New</vt:lpstr>
      <vt:lpstr>Play</vt:lpstr>
      <vt:lpstr>US Army 2023 AFC DEVCOM Logo</vt:lpstr>
      <vt:lpstr>Branching</vt:lpstr>
      <vt:lpstr>Objectives</vt:lpstr>
      <vt:lpstr>Git Review</vt:lpstr>
      <vt:lpstr>Branches</vt:lpstr>
      <vt:lpstr>Why branch?</vt:lpstr>
      <vt:lpstr>“Normal” branches</vt:lpstr>
      <vt:lpstr>Conflicts</vt:lpstr>
      <vt:lpstr>After resolving?</vt:lpstr>
      <vt:lpstr>Reading Conflicts (They’re not scary)</vt:lpstr>
      <vt:lpstr>Reading Conflicts (Resolution)</vt:lpstr>
      <vt:lpstr>Reading Conflicts (Pretty Colors)</vt:lpstr>
      <vt:lpstr>Git checkout / Merge</vt:lpstr>
      <vt:lpstr>Hands-On #1</vt:lpstr>
      <vt:lpstr>Merging Strategies</vt:lpstr>
      <vt:lpstr>Rebasing</vt:lpstr>
      <vt:lpstr>Viewing Branches</vt:lpstr>
      <vt:lpstr>One strategy (feature branch)</vt:lpstr>
      <vt:lpstr>One strategy (feature branch)</vt:lpstr>
      <vt:lpstr>Alternate strategy (feature branch)</vt:lpstr>
      <vt:lpstr>Hands-On #2</vt:lpstr>
      <vt:lpstr>Git checkout / Merge</vt:lpstr>
      <vt:lpstr>Good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Robert Haenze</cp:lastModifiedBy>
  <cp:revision>93</cp:revision>
  <dcterms:created xsi:type="dcterms:W3CDTF">2025-07-21T13:16:33Z</dcterms:created>
  <dcterms:modified xsi:type="dcterms:W3CDTF">2026-07-27T16:01:12Z</dcterms:modified>
</cp:coreProperties>
</file>