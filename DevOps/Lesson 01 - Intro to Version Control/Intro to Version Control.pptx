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78" r:id="rId8"/>
    <p:sldId id="279" r:id="rId9"/>
    <p:sldId id="281" r:id="rId10"/>
    <p:sldId id="283" r:id="rId11"/>
    <p:sldId id="284" r:id="rId12"/>
    <p:sldId id="262" r:id="rId13"/>
    <p:sldId id="285" r:id="rId14"/>
    <p:sldId id="263" r:id="rId15"/>
    <p:sldId id="286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</p:sldIdLst>
  <p:sldSz cx="12192000" cy="6858000"/>
  <p:notesSz cx="6858000" cy="9144000"/>
  <p:embeddedFontLst>
    <p:embeddedFont>
      <p:font typeface="Arial Bold" panose="020B0704020202020204" pitchFamily="34" charset="0"/>
      <p:bold r:id="rId31"/>
    </p:embeddedFont>
    <p:embeddedFont>
      <p:font typeface="Consolas" panose="020B0609020204030204" pitchFamily="49" charset="0"/>
      <p:regular r:id="rId32"/>
      <p:bold r:id="rId33"/>
      <p:italic r:id="rId34"/>
      <p:boldItalic r:id="rId35"/>
    </p:embeddedFont>
    <p:embeddedFont>
      <p:font typeface="Play" panose="020B0604020202020204" charset="0"/>
      <p:regular r:id="rId36"/>
      <p:bold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B4D1AB0-2925-4953-8AE0-7B973092ED5E}">
  <a:tblStyle styleId="{4B4D1AB0-2925-4953-8AE0-7B973092ED5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6" d="100"/>
          <a:sy n="136" d="100"/>
        </p:scale>
        <p:origin x="120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30000"/>
              <a:t>1 </a:t>
            </a:r>
            <a:r>
              <a:rPr lang="en-US"/>
              <a:t>https://stackoverflow.blog/2023/01/09/beyond-git-the-other-version-control-systems-developers-use/</a:t>
            </a:r>
            <a:endParaRPr/>
          </a:p>
        </p:txBody>
      </p:sp>
      <p:sp>
        <p:nvSpPr>
          <p:cNvPr id="107" name="Google Shape;10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30000"/>
              <a:t>1 </a:t>
            </a:r>
            <a:r>
              <a:rPr lang="en-US"/>
              <a:t>https://marc.info/?l=git&amp;m=117254154130732</a:t>
            </a:r>
            <a:endParaRPr/>
          </a:p>
        </p:txBody>
      </p:sp>
      <p:sp>
        <p:nvSpPr>
          <p:cNvPr id="115" name="Google Shape;11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30000"/>
              <a:t>1 </a:t>
            </a:r>
            <a:r>
              <a:rPr lang="en-US"/>
              <a:t>https://archive.kernel.org/oldwiki/git.wiki.kernel.org/index.php/GitFaq.html#Why_the_.27Git.27_name.3F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30000"/>
              <a:t>1 </a:t>
            </a:r>
            <a:r>
              <a:rPr lang="en-US"/>
              <a:t>https://www.w3schools.com/git/git_intro.asp?remote=github</a:t>
            </a:r>
            <a:endParaRPr/>
          </a:p>
        </p:txBody>
      </p:sp>
      <p:sp>
        <p:nvSpPr>
          <p:cNvPr id="130" name="Google Shape;13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First, we need to be able to read diffs</a:t>
            </a:r>
            <a:endParaRPr/>
          </a:p>
        </p:txBody>
      </p:sp>
      <p:sp>
        <p:nvSpPr>
          <p:cNvPr id="170" name="Google Shape;170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```git diff greet_full_v1.py greet_full_v2.py```</a:t>
            </a:r>
            <a:endParaRPr/>
          </a:p>
        </p:txBody>
      </p:sp>
      <p:sp>
        <p:nvSpPr>
          <p:cNvPr id="178" name="Google Shape;17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```git diff math_utils_v1.py math_utils_v2.py```</a:t>
            </a:r>
            <a:endParaRPr/>
          </a:p>
        </p:txBody>
      </p:sp>
      <p:sp>
        <p:nvSpPr>
          <p:cNvPr id="193" name="Google Shape;193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677852e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370677852e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4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27733505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4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5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3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30524907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4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20643300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018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4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992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4 June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20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4 June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925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9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4 June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38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4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607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4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08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4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65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4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061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53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70438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703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4 June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41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4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23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6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6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6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4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489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2118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5048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696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6481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4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3258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4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7471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134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9283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4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56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4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790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9" y="4819415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4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6994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085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304993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947981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 preserve="1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113608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4156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64432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352070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66572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14099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0005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2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8"/>
          <a:srcRect l="26274" t="67"/>
          <a:stretch>
            <a:fillRect/>
          </a:stretch>
        </p:blipFill>
        <p:spPr>
          <a:xfrm>
            <a:off x="10428515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9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4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7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9"/>
          <a:stretch>
            <a:fillRect/>
          </a:stretch>
        </p:blipFill>
        <p:spPr>
          <a:xfrm>
            <a:off x="9926021" y="424087"/>
            <a:ext cx="502495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396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75" indent="-182875" algn="l" defTabSz="914377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1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6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02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28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0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879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2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ohmygit.org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learngitbranching.js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8FF48C0-9750-4D6E-5860-4DC5EDB8F830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002F1D5-C4ED-CB9C-9FAC-48F5ACA7961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AF5866C-9F25-3D80-C56F-B57A28B4B00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4E4A1B5-4407-DC72-984A-3E4D41D46F7E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971EA5A-47D3-99A3-3A6B-71F941D771D6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115B789-077D-D626-01EF-9406D5A22B4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E44AF09-B51C-9FA2-1D18-1E263699B95F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ECC310F-8B65-5F92-0786-EBF1B1C16BA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2F5A7D8-D815-1784-7C5D-39734DF38B7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5F458A7-9133-CD4B-916B-188790E6CD2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914401" y="2202820"/>
            <a:ext cx="6429375" cy="1325880"/>
          </a:xfr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US"/>
              <a:t>Intro to Version Control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914402" y="3784732"/>
            <a:ext cx="3565524" cy="4572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/>
              <a:t>AI2C Tech Intro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934CD16-F3A4-FE1C-B9B0-FAB60720CF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Discuss basic git concepts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 basic git commands to manage a local repository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 basic git commands to view a repository’s history and changes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US"/>
              <a:t>Version Control</a:t>
            </a:r>
            <a:endParaRPr/>
          </a:p>
        </p:txBody>
      </p:sp>
      <p:pic>
        <p:nvPicPr>
          <p:cNvPr id="102" name="Google Shape;102;p15" descr="A comic strip of a person sitting at a computer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tretch/>
        </p:blipFill>
        <p:spPr>
          <a:xfrm>
            <a:off x="6441679" y="987425"/>
            <a:ext cx="3655218" cy="487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Common VCS</a:t>
            </a:r>
            <a:endParaRPr/>
          </a:p>
        </p:txBody>
      </p:sp>
      <p:pic>
        <p:nvPicPr>
          <p:cNvPr id="110" name="Google Shape;110;p16" descr="A blue background with a black and red line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tretch/>
        </p:blipFill>
        <p:spPr>
          <a:xfrm>
            <a:off x="838200" y="2590816"/>
            <a:ext cx="5181600" cy="282095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93% of developers use git</a:t>
            </a:r>
            <a:r>
              <a:rPr lang="en-US" baseline="30000"/>
              <a:t>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Git</a:t>
            </a:r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Made by Linus Torvalds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Wrote the basics in about two weeks</a:t>
            </a:r>
            <a:r>
              <a:rPr lang="en-US" baseline="30000" dirty="0"/>
              <a:t>1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The first commit was for git itself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en-US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What is git and what </a:t>
            </a:r>
            <a:r>
              <a:rPr lang="en-US"/>
              <a:t>is GitHub?</a:t>
            </a:r>
            <a:endParaRPr/>
          </a:p>
        </p:txBody>
      </p:sp>
      <p:pic>
        <p:nvPicPr>
          <p:cNvPr id="119" name="Google Shape;119;p17" descr="A close up of a logo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76716" y="4538461"/>
            <a:ext cx="4924926" cy="2057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dirty="0"/>
              <a:t>Why "Git"?</a:t>
            </a:r>
            <a:r>
              <a:rPr lang="en-US" baseline="30000" dirty="0"/>
              <a:t>1</a:t>
            </a:r>
            <a:endParaRPr dirty="0"/>
          </a:p>
        </p:txBody>
      </p:sp>
      <p:sp>
        <p:nvSpPr>
          <p:cNvPr id="126" name="Google Shape;126;p1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Quoting Linus: "I'm an egotistical bastard, and I name all my projects after myself. First 'Linux', now 'Git'".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en-US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Alternatively, in Linus' own words as the inventor of Git: "git" can mean anything, depending on your mood: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en-US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Random three-letter combination that is pronounceable, and not actually used by any common UNIX command. The fact that it is a mispronunciation of "get" may or may not be relevant.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en-US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Stupid. Contemptible and despicable. Simple. Take your pick from the dictionary of slang.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en-US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"Global information tracker": you're in a good mood, and it actually works for you. Angels sing and light suddenly fills the room.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en-US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"Goddamn idiotic truckload of </a:t>
            </a:r>
            <a:r>
              <a:rPr lang="en-US" dirty="0" err="1"/>
              <a:t>sh</a:t>
            </a:r>
            <a:r>
              <a:rPr lang="en-US" dirty="0"/>
              <a:t>*t": when it breaks 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11A75-4C85-4ABF-6E28-569AB6877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Elevator Pitch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FBEAD-11D3-2DDC-13F8-4530CCD05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1600199"/>
            <a:ext cx="6938356" cy="4572000"/>
          </a:xfrm>
        </p:spPr>
        <p:txBody>
          <a:bodyPr/>
          <a:lstStyle/>
          <a:p>
            <a:r>
              <a:rPr lang="en-US" dirty="0"/>
              <a:t>Git is a </a:t>
            </a:r>
            <a:r>
              <a:rPr lang="en-US" dirty="0">
                <a:highlight>
                  <a:srgbClr val="FFFF00"/>
                </a:highlight>
              </a:rPr>
              <a:t>distributed</a:t>
            </a:r>
            <a:r>
              <a:rPr lang="en-US" dirty="0"/>
              <a:t> </a:t>
            </a:r>
            <a:r>
              <a:rPr lang="en-US" dirty="0">
                <a:highlight>
                  <a:srgbClr val="00FF00"/>
                </a:highlight>
              </a:rPr>
              <a:t>version control system</a:t>
            </a:r>
            <a:r>
              <a:rPr lang="en-US" dirty="0"/>
              <a:t> that </a:t>
            </a:r>
            <a:r>
              <a:rPr lang="en-US" dirty="0">
                <a:highlight>
                  <a:srgbClr val="00FFFF"/>
                </a:highlight>
              </a:rPr>
              <a:t>tracks changes in repositories</a:t>
            </a:r>
            <a:r>
              <a:rPr lang="en-US" dirty="0"/>
              <a:t> through </a:t>
            </a:r>
            <a:r>
              <a:rPr lang="en-US" dirty="0">
                <a:highlight>
                  <a:srgbClr val="FF00FF"/>
                </a:highlight>
              </a:rPr>
              <a:t>commits</a:t>
            </a:r>
            <a:r>
              <a:rPr lang="en-US" dirty="0"/>
              <a:t> using </a:t>
            </a:r>
            <a:r>
              <a:rPr lang="en-US" dirty="0">
                <a:highlight>
                  <a:srgbClr val="C0C0C0"/>
                </a:highlight>
              </a:rPr>
              <a:t>hashing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>
                <a:highlight>
                  <a:srgbClr val="FFFF00"/>
                </a:highlight>
              </a:rPr>
              <a:t>Distributed</a:t>
            </a:r>
            <a:r>
              <a:rPr lang="en-US" dirty="0"/>
              <a:t>:  Multiple computers in various states</a:t>
            </a:r>
          </a:p>
          <a:p>
            <a:pPr lvl="1"/>
            <a:r>
              <a:rPr lang="en-US" dirty="0">
                <a:highlight>
                  <a:srgbClr val="00FF00"/>
                </a:highlight>
              </a:rPr>
              <a:t>Version Control System</a:t>
            </a:r>
            <a:r>
              <a:rPr lang="en-US" dirty="0"/>
              <a:t>:  Manages versions of files</a:t>
            </a:r>
          </a:p>
          <a:p>
            <a:pPr lvl="1"/>
            <a:r>
              <a:rPr lang="en-US" dirty="0">
                <a:highlight>
                  <a:srgbClr val="00FFFF"/>
                </a:highlight>
              </a:rPr>
              <a:t>Tracks changes</a:t>
            </a:r>
            <a:r>
              <a:rPr lang="en-US" dirty="0"/>
              <a:t>:  Commits store changes to files</a:t>
            </a:r>
          </a:p>
          <a:p>
            <a:pPr lvl="1"/>
            <a:r>
              <a:rPr lang="en-US" dirty="0">
                <a:highlight>
                  <a:srgbClr val="FF00FF"/>
                </a:highlight>
              </a:rPr>
              <a:t>Commit</a:t>
            </a:r>
            <a:r>
              <a:rPr lang="en-US" dirty="0"/>
              <a:t>:  A "save point"</a:t>
            </a:r>
          </a:p>
          <a:p>
            <a:pPr lvl="1"/>
            <a:r>
              <a:rPr lang="en-US" dirty="0">
                <a:highlight>
                  <a:srgbClr val="808080"/>
                </a:highlight>
              </a:rPr>
              <a:t>Hashing</a:t>
            </a:r>
            <a:r>
              <a:rPr lang="en-US" dirty="0"/>
              <a:t>:  A one-way function that makes it easy to detect changes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B4EF1-4477-524D-C15F-9264098EE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674772-ED87-5460-C5E3-4F01F89333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 descr="Git Template Repository">
            <a:extLst>
              <a:ext uri="{FF2B5EF4-FFF2-40B4-BE49-F238E27FC236}">
                <a16:creationId xmlns:a16="http://schemas.microsoft.com/office/drawing/2014/main" id="{5927892C-570E-AA4D-2084-C00859C55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600" y="2013238"/>
            <a:ext cx="4514850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324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B2B55EB-5B3D-80AF-700E-8F255078BEE1}"/>
              </a:ext>
            </a:extLst>
          </p:cNvPr>
          <p:cNvSpPr txBox="1"/>
          <p:nvPr/>
        </p:nvSpPr>
        <p:spPr>
          <a:xfrm>
            <a:off x="4455621" y="469779"/>
            <a:ext cx="7736379" cy="63773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scores: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calculate_weighted_average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homework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exams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projects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hw_avg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(homework)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exam_avg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(exams)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proj_avg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(projects)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weighted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hw_avg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exam_avg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0.05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proj_avg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weighted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apply_bonus_points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participation_days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extra_credit_completed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bonus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participation_days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bonus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extra_credit_completed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final_average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bonus,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final_average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get_letter_grade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'A'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'B'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'C'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'D'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'F'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is_passing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001A17-BC5A-496A-796C-79B74ED9D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57" y="10834"/>
            <a:ext cx="8231293" cy="914400"/>
          </a:xfrm>
        </p:spPr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C9F7D-BA48-BE86-FD85-020DF60C5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2AEF0D-F81B-8631-CABC-85A7BA49E0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D2CD4D-8D96-3EB1-3E4B-4CD9DCCB3FB4}"/>
              </a:ext>
            </a:extLst>
          </p:cNvPr>
          <p:cNvSpPr txBox="1"/>
          <p:nvPr/>
        </p:nvSpPr>
        <p:spPr>
          <a:xfrm>
            <a:off x="110836" y="468034"/>
            <a:ext cx="3929149" cy="350480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scores: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get_letter_grade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'A'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'B'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'C'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'D'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'F'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is_passing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5031C3-C536-80AE-8341-B5684B726195}"/>
              </a:ext>
            </a:extLst>
          </p:cNvPr>
          <p:cNvCxnSpPr/>
          <p:nvPr/>
        </p:nvCxnSpPr>
        <p:spPr>
          <a:xfrm>
            <a:off x="4095884" y="2478157"/>
            <a:ext cx="346485" cy="0"/>
          </a:xfrm>
          <a:prstGeom prst="straightConnector1">
            <a:avLst/>
          </a:prstGeom>
          <a:ln w="50800" cap="flat">
            <a:miter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</p:spTree>
    <p:extLst>
      <p:ext uri="{BB962C8B-B14F-4D97-AF65-F5344CB8AC3E}">
        <p14:creationId xmlns:p14="http://schemas.microsoft.com/office/powerpoint/2010/main" val="371853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85940-B664-1FD6-725D-2C35299ED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69A9A-987F-19AD-6A9E-0FC89D28D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57" y="10834"/>
            <a:ext cx="8231293" cy="914400"/>
          </a:xfrm>
        </p:spPr>
        <p:txBody>
          <a:bodyPr/>
          <a:lstStyle/>
          <a:p>
            <a:r>
              <a:rPr lang="en-US" dirty="0"/>
              <a:t>Example 1 Continued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5D110-AFDC-245F-909C-0A0C84E79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36E4B7-12ED-453E-8C57-F06DCF60AD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061410-297C-7FDB-812D-8475A50474E0}"/>
              </a:ext>
            </a:extLst>
          </p:cNvPr>
          <p:cNvSpPr txBox="1"/>
          <p:nvPr/>
        </p:nvSpPr>
        <p:spPr>
          <a:xfrm>
            <a:off x="110836" y="468034"/>
            <a:ext cx="3929149" cy="63773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scores: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get_letter_grade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'A'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'B'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'C'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'D'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'F'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is_passing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196967-EBDB-9413-351A-232D9C0BE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985" y="1382434"/>
            <a:ext cx="5730214" cy="2589718"/>
          </a:xfrm>
          <a:prstGeom prst="rect">
            <a:avLst/>
          </a:prstGeom>
        </p:spPr>
      </p:pic>
      <p:sp>
        <p:nvSpPr>
          <p:cNvPr id="10" name="Plus Sign 9">
            <a:extLst>
              <a:ext uri="{FF2B5EF4-FFF2-40B4-BE49-F238E27FC236}">
                <a16:creationId xmlns:a16="http://schemas.microsoft.com/office/drawing/2014/main" id="{ACC31DBC-7DC1-5A2B-5950-50D18DBBE79D}"/>
              </a:ext>
            </a:extLst>
          </p:cNvPr>
          <p:cNvSpPr/>
          <p:nvPr/>
        </p:nvSpPr>
        <p:spPr>
          <a:xfrm>
            <a:off x="3562907" y="2280606"/>
            <a:ext cx="477078" cy="477078"/>
          </a:xfrm>
          <a:prstGeom prst="mathPlus">
            <a:avLst/>
          </a:prstGeom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4F7B666-AB80-80A0-DACC-7A938C6FA653}"/>
              </a:ext>
            </a:extLst>
          </p:cNvPr>
          <p:cNvSpPr/>
          <p:nvPr/>
        </p:nvSpPr>
        <p:spPr>
          <a:xfrm>
            <a:off x="5726349" y="2503251"/>
            <a:ext cx="590145" cy="219761"/>
          </a:xfrm>
          <a:prstGeom prst="rightArrow">
            <a:avLst/>
          </a:prstGeom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196392-18F2-6385-2FC0-DC8AA02586A8}"/>
              </a:ext>
            </a:extLst>
          </p:cNvPr>
          <p:cNvSpPr txBox="1"/>
          <p:nvPr/>
        </p:nvSpPr>
        <p:spPr>
          <a:xfrm>
            <a:off x="6379087" y="570275"/>
            <a:ext cx="7736379" cy="63773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scores: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calculate_weighted_average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homework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exams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projects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hw_avg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(homework)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exam_avg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(exams)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proj_avg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(projects)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weighted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hw_avg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exam_avg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0.05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proj_avg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weighted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apply_bonus_points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participation_days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extra_credit_completed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bonus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participation_days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bonus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extra_credit_completed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final_average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bonus,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final_average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get_letter_grade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'A'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'B'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'C'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'D'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'F'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is_passing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859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2.22222E-6 L -0.32227 2.22222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12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8541E-6E80-D928-F103-8E71E679E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76066-9E56-2263-4FBC-EA1DEEA4C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57" y="10834"/>
            <a:ext cx="8231293" cy="914400"/>
          </a:xfrm>
        </p:spPr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55C81-80A0-5193-664D-29F350C95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64C4B-ECBB-8B4E-C240-1CC1E18928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FD0908-186F-585A-EBCD-BFA23BB1749A}"/>
              </a:ext>
            </a:extLst>
          </p:cNvPr>
          <p:cNvSpPr txBox="1"/>
          <p:nvPr/>
        </p:nvSpPr>
        <p:spPr>
          <a:xfrm>
            <a:off x="110836" y="468034"/>
            <a:ext cx="3929149" cy="530016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scores: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get_letter_grade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'A'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'B'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'C'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'D'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'F'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is_passing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A49A7B-5ED0-F35A-C9E8-FA1DED38B9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039985" y="1382434"/>
            <a:ext cx="5730214" cy="1355728"/>
          </a:xfrm>
          <a:prstGeom prst="rect">
            <a:avLst/>
          </a:prstGeom>
        </p:spPr>
      </p:pic>
      <p:sp>
        <p:nvSpPr>
          <p:cNvPr id="10" name="Plus Sign 9">
            <a:extLst>
              <a:ext uri="{FF2B5EF4-FFF2-40B4-BE49-F238E27FC236}">
                <a16:creationId xmlns:a16="http://schemas.microsoft.com/office/drawing/2014/main" id="{AA85D492-DD17-13C4-1208-3F5DC75EC2A0}"/>
              </a:ext>
            </a:extLst>
          </p:cNvPr>
          <p:cNvSpPr/>
          <p:nvPr/>
        </p:nvSpPr>
        <p:spPr>
          <a:xfrm>
            <a:off x="3562907" y="1663611"/>
            <a:ext cx="477078" cy="477078"/>
          </a:xfrm>
          <a:prstGeom prst="mathPlus">
            <a:avLst/>
          </a:prstGeom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37E58A-5A97-5298-A17C-3B7332880807}"/>
              </a:ext>
            </a:extLst>
          </p:cNvPr>
          <p:cNvSpPr txBox="1"/>
          <p:nvPr/>
        </p:nvSpPr>
        <p:spPr>
          <a:xfrm>
            <a:off x="5833352" y="468034"/>
            <a:ext cx="7448145" cy="565924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scores: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calculate_weighted_average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homework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exams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projects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hw_avg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(homework)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exam_avg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(exams)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proj_avg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(projects)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weighted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hw_avg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exam_avg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0.50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proj_avg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weighted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get_letter_grade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'A'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'B'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'C'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'D'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'F'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is_passing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A5CEE46-1DF9-DE78-B743-6852FF5EA05D}"/>
              </a:ext>
            </a:extLst>
          </p:cNvPr>
          <p:cNvSpPr/>
          <p:nvPr/>
        </p:nvSpPr>
        <p:spPr>
          <a:xfrm>
            <a:off x="5205488" y="2518401"/>
            <a:ext cx="590145" cy="219761"/>
          </a:xfrm>
          <a:prstGeom prst="rightArrow">
            <a:avLst/>
          </a:prstGeom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03397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2.96296E-6 L -0.32227 -2.96296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12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504A1-0227-1092-2CDF-8EA91F968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3A993-EA8A-4922-28C0-14EDA533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57" y="10834"/>
            <a:ext cx="8231293" cy="914400"/>
          </a:xfrm>
        </p:spPr>
        <p:txBody>
          <a:bodyPr/>
          <a:lstStyle/>
          <a:p>
            <a:r>
              <a:rPr lang="en-US" dirty="0"/>
              <a:t>Example 2 continued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B8F59-6A3A-4E9C-529A-6FE922A5B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2307D1-294C-929F-B788-BBF9BA3F66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705788-272B-8680-708D-E5D5FBA62FB5}"/>
              </a:ext>
            </a:extLst>
          </p:cNvPr>
          <p:cNvSpPr txBox="1"/>
          <p:nvPr/>
        </p:nvSpPr>
        <p:spPr>
          <a:xfrm>
            <a:off x="110836" y="468034"/>
            <a:ext cx="7107087" cy="601831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CF222E"/>
                </a:solidFill>
                <a:latin typeface="Consolas" panose="020B0609020204030204" pitchFamily="49" charset="0"/>
              </a:rPr>
              <a:t>def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250DF"/>
                </a:solidFill>
                <a:latin typeface="Consolas" panose="020B0609020204030204" pitchFamily="49" charset="0"/>
              </a:rPr>
              <a:t>calculate_average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scores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scores: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sum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(scores) </a:t>
            </a:r>
            <a:r>
              <a:rPr lang="en-US" dirty="0">
                <a:latin typeface="Consolas" panose="020B0609020204030204" pitchFamily="49" charset="0"/>
              </a:rPr>
              <a:t>/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len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(scores)</a:t>
            </a:r>
          </a:p>
          <a:p>
            <a:pPr>
              <a:lnSpc>
                <a:spcPts val="1425"/>
              </a:lnSpc>
              <a:buNone/>
            </a:pPr>
            <a:b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CF222E"/>
                </a:solidFill>
                <a:latin typeface="Consolas" panose="020B0609020204030204" pitchFamily="49" charset="0"/>
              </a:rPr>
              <a:t>def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250DF"/>
                </a:solidFill>
                <a:latin typeface="Consolas" panose="020B0609020204030204" pitchFamily="49" charset="0"/>
              </a:rPr>
              <a:t>calculate_weighted_average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homework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exams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projects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hw_avg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calculate_average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(homework)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exam_avg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calculate_average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(exams)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proj_avg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calculate_average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(projects)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weighted </a:t>
            </a:r>
            <a:r>
              <a:rPr lang="en-US" dirty="0"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hw_avg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0.30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) </a:t>
            </a:r>
            <a:r>
              <a:rPr lang="en-US" dirty="0">
                <a:latin typeface="Consolas" panose="020B0609020204030204" pitchFamily="49" charset="0"/>
              </a:rPr>
              <a:t>+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exam_avg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0.50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) </a:t>
            </a:r>
            <a:r>
              <a:rPr lang="en-US" dirty="0">
                <a:latin typeface="Consolas" panose="020B0609020204030204" pitchFamily="49" charset="0"/>
              </a:rPr>
              <a:t>+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proj_avg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0.20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weighted</a:t>
            </a:r>
          </a:p>
          <a:p>
            <a:pPr>
              <a:lnSpc>
                <a:spcPts val="1425"/>
              </a:lnSpc>
              <a:buNone/>
            </a:pPr>
            <a:b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CF222E"/>
                </a:solidFill>
                <a:latin typeface="Consolas" panose="020B0609020204030204" pitchFamily="49" charset="0"/>
              </a:rPr>
              <a:t>def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250DF"/>
                </a:solidFill>
                <a:latin typeface="Consolas" panose="020B0609020204030204" pitchFamily="49" charset="0"/>
              </a:rPr>
              <a:t>get_letter_grade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average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average </a:t>
            </a:r>
            <a:r>
              <a:rPr lang="en-US" dirty="0">
                <a:latin typeface="Consolas" panose="020B0609020204030204" pitchFamily="49" charset="0"/>
              </a:rPr>
              <a:t>&gt;=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90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'A'</a:t>
            </a: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AF00DB"/>
                </a:solidFill>
                <a:latin typeface="Consolas" panose="020B0609020204030204" pitchFamily="49" charset="0"/>
              </a:rPr>
              <a:t>elif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average </a:t>
            </a:r>
            <a:r>
              <a:rPr lang="en-US" dirty="0">
                <a:latin typeface="Consolas" panose="020B0609020204030204" pitchFamily="49" charset="0"/>
              </a:rPr>
              <a:t>&gt;=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80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'B'</a:t>
            </a: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AF00DB"/>
                </a:solidFill>
                <a:latin typeface="Consolas" panose="020B0609020204030204" pitchFamily="49" charset="0"/>
              </a:rPr>
              <a:t>elif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average </a:t>
            </a:r>
            <a:r>
              <a:rPr lang="en-US" dirty="0">
                <a:latin typeface="Consolas" panose="020B0609020204030204" pitchFamily="49" charset="0"/>
              </a:rPr>
              <a:t>&gt;=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70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'C'</a:t>
            </a: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AF00DB"/>
                </a:solidFill>
                <a:latin typeface="Consolas" panose="020B0609020204030204" pitchFamily="49" charset="0"/>
              </a:rPr>
              <a:t>elif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average </a:t>
            </a:r>
            <a:r>
              <a:rPr lang="en-US" dirty="0">
                <a:latin typeface="Consolas" panose="020B0609020204030204" pitchFamily="49" charset="0"/>
              </a:rPr>
              <a:t>&gt;=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60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'D'</a:t>
            </a: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'F'</a:t>
            </a: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CF222E"/>
                </a:solidFill>
                <a:latin typeface="Consolas" panose="020B0609020204030204" pitchFamily="49" charset="0"/>
              </a:rPr>
              <a:t>def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250DF"/>
                </a:solidFill>
                <a:latin typeface="Consolas" panose="020B0609020204030204" pitchFamily="49" charset="0"/>
              </a:rPr>
              <a:t>is_passing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average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average </a:t>
            </a:r>
            <a:r>
              <a:rPr lang="en-US" dirty="0">
                <a:latin typeface="Consolas" panose="020B0609020204030204" pitchFamily="49" charset="0"/>
              </a:rPr>
              <a:t>&gt;=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60</a:t>
            </a: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F49363-ABD5-9EEA-E4FA-CA7070B8DB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127132" y="2413647"/>
            <a:ext cx="7286639" cy="597148"/>
          </a:xfrm>
          <a:prstGeom prst="rect">
            <a:avLst/>
          </a:prstGeom>
        </p:spPr>
      </p:pic>
      <p:sp>
        <p:nvSpPr>
          <p:cNvPr id="10" name="Plus Sign 9">
            <a:extLst>
              <a:ext uri="{FF2B5EF4-FFF2-40B4-BE49-F238E27FC236}">
                <a16:creationId xmlns:a16="http://schemas.microsoft.com/office/drawing/2014/main" id="{9FA631A9-B378-2CF8-3544-C00C2E2CF918}"/>
              </a:ext>
            </a:extLst>
          </p:cNvPr>
          <p:cNvSpPr/>
          <p:nvPr/>
        </p:nvSpPr>
        <p:spPr>
          <a:xfrm>
            <a:off x="6740845" y="2611728"/>
            <a:ext cx="477078" cy="477078"/>
          </a:xfrm>
          <a:prstGeom prst="mathPlus">
            <a:avLst/>
          </a:prstGeom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FCDD38-1A76-D0E5-ED58-11F7DCF85F7F}"/>
              </a:ext>
            </a:extLst>
          </p:cNvPr>
          <p:cNvSpPr txBox="1"/>
          <p:nvPr/>
        </p:nvSpPr>
        <p:spPr>
          <a:xfrm>
            <a:off x="5896701" y="468034"/>
            <a:ext cx="7448145" cy="565924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scores: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calculate_weighted_average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homework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exams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projects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hw_avg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(homework)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exam_avg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(exams)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proj_avg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(projects)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weighted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hw_avg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exam_avg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0.05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proj_avg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weighted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get_letter_grade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'A'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'B'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'C'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'D'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'F'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is_passing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554A304-4448-F0E1-CDCE-8AE0EA77FFC6}"/>
              </a:ext>
            </a:extLst>
          </p:cNvPr>
          <p:cNvSpPr/>
          <p:nvPr/>
        </p:nvSpPr>
        <p:spPr>
          <a:xfrm>
            <a:off x="5205488" y="2518401"/>
            <a:ext cx="590145" cy="219761"/>
          </a:xfrm>
          <a:prstGeom prst="rightArrow">
            <a:avLst/>
          </a:prstGeom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878510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4.07407E-6 L -0.5888 0.0037 " pathEditMode="fixed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88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Basic Ideas</a:t>
            </a:r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Terminology</a:t>
            </a:r>
            <a:r>
              <a:rPr lang="en-US" baseline="30000"/>
              <a:t>1</a:t>
            </a:r>
            <a:endParaRPr/>
          </a:p>
        </p:txBody>
      </p:sp>
      <p:sp>
        <p:nvSpPr>
          <p:cNvPr id="134" name="Google Shape;134;p19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>
                <a:highlight>
                  <a:srgbClr val="FFFF00"/>
                </a:highlight>
              </a:rPr>
              <a:t>Repository</a:t>
            </a:r>
            <a:r>
              <a:rPr lang="en-US">
                <a:highlight>
                  <a:srgbClr val="FFFF00"/>
                </a:highlight>
              </a:rPr>
              <a:t> (today)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>
                <a:highlight>
                  <a:srgbClr val="FFFF00"/>
                </a:highlight>
              </a:rPr>
              <a:t>Clone</a:t>
            </a:r>
            <a:r>
              <a:rPr lang="en-US">
                <a:highlight>
                  <a:srgbClr val="FFFF00"/>
                </a:highlight>
              </a:rPr>
              <a:t> (today)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>
                <a:highlight>
                  <a:srgbClr val="FFFF00"/>
                </a:highlight>
              </a:rPr>
              <a:t>Stage</a:t>
            </a:r>
            <a:r>
              <a:rPr lang="en-US">
                <a:highlight>
                  <a:srgbClr val="FFFF00"/>
                </a:highlight>
              </a:rPr>
              <a:t> (today)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>
                <a:highlight>
                  <a:srgbClr val="FFFF00"/>
                </a:highlight>
              </a:rPr>
              <a:t>Commit</a:t>
            </a:r>
            <a:r>
              <a:rPr lang="en-US">
                <a:highlight>
                  <a:srgbClr val="FFFF00"/>
                </a:highlight>
              </a:rPr>
              <a:t> (today)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Branch</a:t>
            </a:r>
            <a:r>
              <a:rPr lang="en-US"/>
              <a:t> (later)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Merge</a:t>
            </a:r>
            <a:r>
              <a:rPr lang="en-US"/>
              <a:t> (later)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Fetch</a:t>
            </a:r>
            <a:r>
              <a:rPr lang="en-US"/>
              <a:t> (later)</a:t>
            </a:r>
            <a:endParaRPr b="1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Pull</a:t>
            </a:r>
            <a:r>
              <a:rPr lang="en-US"/>
              <a:t> (later)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Push</a:t>
            </a:r>
            <a:r>
              <a:rPr lang="en-US"/>
              <a:t> (later)</a:t>
            </a:r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Process</a:t>
            </a:r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body" idx="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Initialize repository (or clone)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Make changes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Stage changes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Commit changes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???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Profit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14F6EEF-582C-4702-6FB9-8D56D7B0A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Areas</a:t>
            </a:r>
          </a:p>
        </p:txBody>
      </p:sp>
      <p:pic>
        <p:nvPicPr>
          <p:cNvPr id="12" name="Content Placeholder 11" descr="Basic GIT Workflow Concept. Simple explanation to learn basic GIT… | by ...">
            <a:extLst>
              <a:ext uri="{FF2B5EF4-FFF2-40B4-BE49-F238E27FC236}">
                <a16:creationId xmlns:a16="http://schemas.microsoft.com/office/drawing/2014/main" id="{AD3EECC0-9E2D-0DF8-ABD1-3A8E812336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9386" y="620024"/>
            <a:ext cx="4873228" cy="6009376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DF6F65-093E-A56C-D311-43B6D0094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F5743D-1122-855F-B3EB-7BBE8A4DA1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016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Git Commit / Reset / Revert</a:t>
            </a:r>
            <a:endParaRPr/>
          </a:p>
        </p:txBody>
      </p:sp>
      <p:graphicFrame>
        <p:nvGraphicFramePr>
          <p:cNvPr id="142" name="Google Shape;142;p20"/>
          <p:cNvGraphicFramePr/>
          <p:nvPr>
            <p:extLst>
              <p:ext uri="{D42A27DB-BD31-4B8C-83A1-F6EECF244321}">
                <p14:modId xmlns:p14="http://schemas.microsoft.com/office/powerpoint/2010/main" val="2299869515"/>
              </p:ext>
            </p:extLst>
          </p:nvPr>
        </p:nvGraphicFramePr>
        <p:xfrm>
          <a:off x="838200" y="2629694"/>
          <a:ext cx="10515600" cy="3459560"/>
        </p:xfrm>
        <a:graphic>
          <a:graphicData uri="http://schemas.openxmlformats.org/drawingml/2006/table">
            <a:tbl>
              <a:tblPr>
                <a:noFill/>
                <a:tableStyleId>{4B4D1AB0-2925-4953-8AE0-7B973092ED5E}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Command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Description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6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</a:t>
                      </a:r>
                      <a:r>
                        <a:rPr lang="en-US" sz="1600" u="none" strike="noStrike" cap="none" dirty="0" err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init</a:t>
                      </a:r>
                      <a:endParaRPr lang="en-US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dirty="0"/>
                        <a:t>Initialize a repository in an empty directory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529183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add [file/directory]</a:t>
                      </a:r>
                      <a:endParaRPr lang="en-US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dirty="0"/>
                        <a:t>Mark a file as </a:t>
                      </a:r>
                      <a:r>
                        <a:rPr lang="en-US" i="1" dirty="0"/>
                        <a:t>staged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11094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commit -m "message"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i="1" u="none" strike="noStrike" cap="none" dirty="0"/>
                        <a:t>Commit staged changes </a:t>
                      </a:r>
                      <a:r>
                        <a:rPr lang="en-US" sz="1800" u="none" strike="noStrike" cap="none" dirty="0"/>
                        <a:t>with a message.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commit -a -m "message"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i="1" u="none" strike="noStrike" cap="none" dirty="0"/>
                        <a:t>Stage</a:t>
                      </a:r>
                      <a:r>
                        <a:rPr lang="en-US" sz="1800" u="none" strike="noStrike" cap="none" dirty="0"/>
                        <a:t> all modified (tracked) files and commit.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commit --amend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Modify the last commit (message or content).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reset HEAD~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Undo the last commit but keep the changes unstaged.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revert &lt;commit&gt;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Create a new commit that reverses a specific commit.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1C375-C085-7523-AF4C-3AC4929FD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35D42-9D34-E1CA-A4F6-B0931AE02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 the working, staging, and repository have after each following command?</a:t>
            </a:r>
          </a:p>
          <a:p>
            <a:pPr marL="525776" lvl="1" indent="-34290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25776" lvl="1" indent="-34290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echo "hello" &gt;&gt; my_file.txt</a:t>
            </a:r>
          </a:p>
          <a:p>
            <a:pPr marL="525776" lvl="1" indent="-34290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echo "goodbye" &gt;&gt; new_file.txt</a:t>
            </a:r>
          </a:p>
          <a:p>
            <a:pPr marL="525776" lvl="1" indent="-34290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add my_file.txt</a:t>
            </a:r>
          </a:p>
          <a:p>
            <a:pPr marL="525776" lvl="1" indent="-34290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commit –m "my first commit"</a:t>
            </a:r>
          </a:p>
          <a:p>
            <a:pPr marL="525776" lvl="1" indent="-342900">
              <a:buFont typeface="+mj-lt"/>
              <a:buAutoNum type="arabicPeriod"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91726-252A-C35C-231F-E108D2B42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25C6AA-53D5-6163-89CC-1C61732E06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EA37E9-98DF-A815-74BC-69E9D2CCF2A0}"/>
              </a:ext>
            </a:extLst>
          </p:cNvPr>
          <p:cNvSpPr txBox="1"/>
          <p:nvPr/>
        </p:nvSpPr>
        <p:spPr>
          <a:xfrm>
            <a:off x="9404350" y="1954530"/>
            <a:ext cx="2076450" cy="15227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/>
              <a:t>Working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69154D-9977-5540-5BB7-4F6D06C09C48}"/>
              </a:ext>
            </a:extLst>
          </p:cNvPr>
          <p:cNvSpPr txBox="1"/>
          <p:nvPr/>
        </p:nvSpPr>
        <p:spPr>
          <a:xfrm>
            <a:off x="9404350" y="3573780"/>
            <a:ext cx="2076450" cy="147955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/>
              <a:t>Staging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A8C7B6-1C0E-116D-466A-A55E3FDE14AA}"/>
              </a:ext>
            </a:extLst>
          </p:cNvPr>
          <p:cNvSpPr txBox="1"/>
          <p:nvPr/>
        </p:nvSpPr>
        <p:spPr>
          <a:xfrm>
            <a:off x="9404350" y="5149849"/>
            <a:ext cx="2076450" cy="147955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/>
              <a:t>Repository</a:t>
            </a:r>
          </a:p>
        </p:txBody>
      </p:sp>
    </p:spTree>
    <p:extLst>
      <p:ext uri="{BB962C8B-B14F-4D97-AF65-F5344CB8AC3E}">
        <p14:creationId xmlns:p14="http://schemas.microsoft.com/office/powerpoint/2010/main" val="3872978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Hands-On #1</a:t>
            </a:r>
            <a:endParaRPr/>
          </a:p>
        </p:txBody>
      </p:sp>
      <p:sp>
        <p:nvSpPr>
          <p:cNvPr id="148" name="Google Shape;148;p2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dirty="0"/>
              <a:t>Initialize repository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dirty="0"/>
              <a:t>Make some changes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dirty="0"/>
              <a:t>Observe effects of changes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dirty="0"/>
              <a:t>Stage changes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dirty="0"/>
              <a:t>Commit changes</a:t>
            </a:r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endParaRPr lang="en-US"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endParaRPr lang="en-US"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endParaRPr lang="en-US" dirty="0"/>
          </a:p>
          <a:p>
            <a:pPr>
              <a:lnSpc>
                <a:spcPct val="90000"/>
              </a:lnSpc>
              <a:buClr>
                <a:schemeClr val="dk1"/>
              </a:buClr>
              <a:buSzPct val="100000"/>
            </a:pPr>
            <a:r>
              <a:rPr lang="en-US" dirty="0"/>
              <a:t>Bonus exercise:  If you make changes to a file that is already being tracked in the repository, are those new changes already staged or only in the working directory?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But why…</a:t>
            </a:r>
            <a:endParaRPr/>
          </a:p>
        </p:txBody>
      </p:sp>
      <p:sp>
        <p:nvSpPr>
          <p:cNvPr id="154" name="Google Shape;154;p2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Most developer teams are not just one person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Having version control limits hassle across changes / teams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See how the code has changed over time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Analyze those changes for problem areas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(an aside) Not just for code…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Git History</a:t>
            </a:r>
            <a:endParaRPr/>
          </a:p>
        </p:txBody>
      </p:sp>
      <p:sp>
        <p:nvSpPr>
          <p:cNvPr id="160" name="Google Shape;160;p2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 keep telling you that you can see what changed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So… how do we do that?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First we need to learn to read diffs…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Git Diff</a:t>
            </a:r>
            <a:endParaRPr/>
          </a:p>
        </p:txBody>
      </p:sp>
      <p:graphicFrame>
        <p:nvGraphicFramePr>
          <p:cNvPr id="166" name="Google Shape;166;p24"/>
          <p:cNvGraphicFramePr/>
          <p:nvPr/>
        </p:nvGraphicFramePr>
        <p:xfrm>
          <a:off x="838200" y="2721134"/>
          <a:ext cx="10515600" cy="2560390"/>
        </p:xfrm>
        <a:graphic>
          <a:graphicData uri="http://schemas.openxmlformats.org/drawingml/2006/table">
            <a:tbl>
              <a:tblPr>
                <a:noFill/>
                <a:tableStyleId>{4B4D1AB0-2925-4953-8AE0-7B973092ED5E}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Command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Description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diff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Show unstaged changes.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diff --cached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Show staged changes.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diff HEAD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Compare working directory with last commit.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diff &lt;commit1&gt; &lt;commit2&gt;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Compare two commits.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diff &lt;branch1&gt; &lt;branch2&gt;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Show differences between two branches.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diff &lt;commit&gt; &lt;file&gt;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Compare a file between commits.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Spot the diff</a:t>
            </a:r>
            <a:endParaRPr/>
          </a:p>
        </p:txBody>
      </p:sp>
      <p:pic>
        <p:nvPicPr>
          <p:cNvPr id="173" name="Google Shape;173;p2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tretch/>
        </p:blipFill>
        <p:spPr>
          <a:xfrm>
            <a:off x="838200" y="2239428"/>
            <a:ext cx="5181600" cy="3523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5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4">
            <a:alphaModFix/>
          </a:blip>
          <a:stretch/>
        </p:blipFill>
        <p:spPr>
          <a:xfrm>
            <a:off x="6172200" y="2257952"/>
            <a:ext cx="5181600" cy="3486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US"/>
              <a:t>Spot the diff</a:t>
            </a:r>
            <a:endParaRPr/>
          </a:p>
        </p:txBody>
      </p:sp>
      <p:pic>
        <p:nvPicPr>
          <p:cNvPr id="181" name="Google Shape;181;p2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tretch/>
        </p:blipFill>
        <p:spPr>
          <a:xfrm>
            <a:off x="5183188" y="1459643"/>
            <a:ext cx="6172200" cy="392918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6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/>
              <a:t>Diffed two files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/>
              <a:t>File metadata…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/>
              <a:t>File “a” is denoted by ‘-’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/>
              <a:t>File “b” is denoted by ‘+’</a:t>
            </a:r>
            <a:endParaRPr/>
          </a:p>
          <a:p>
            <a:pPr marL="285750" lvl="0" indent="-1841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Spot the diff, again</a:t>
            </a:r>
            <a:endParaRPr/>
          </a:p>
        </p:txBody>
      </p:sp>
      <p:pic>
        <p:nvPicPr>
          <p:cNvPr id="188" name="Google Shape;188;p2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tretch/>
        </p:blipFill>
        <p:spPr>
          <a:xfrm>
            <a:off x="1561909" y="1825625"/>
            <a:ext cx="3734182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7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4">
            <a:alphaModFix/>
          </a:blip>
          <a:stretch/>
        </p:blipFill>
        <p:spPr>
          <a:xfrm>
            <a:off x="7009714" y="1825625"/>
            <a:ext cx="3506572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US"/>
              <a:t>Spot the diff, again</a:t>
            </a:r>
            <a:endParaRPr/>
          </a:p>
        </p:txBody>
      </p:sp>
      <p:pic>
        <p:nvPicPr>
          <p:cNvPr id="197" name="Google Shape;197;p2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tretch/>
        </p:blipFill>
        <p:spPr>
          <a:xfrm>
            <a:off x="5731393" y="987425"/>
            <a:ext cx="5075790" cy="487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8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Git Log</a:t>
            </a:r>
            <a:endParaRPr/>
          </a:p>
        </p:txBody>
      </p:sp>
      <p:graphicFrame>
        <p:nvGraphicFramePr>
          <p:cNvPr id="203" name="Google Shape;203;p29"/>
          <p:cNvGraphicFramePr/>
          <p:nvPr/>
        </p:nvGraphicFramePr>
        <p:xfrm>
          <a:off x="838200" y="2401094"/>
          <a:ext cx="10515600" cy="3200480"/>
        </p:xfrm>
        <a:graphic>
          <a:graphicData uri="http://schemas.openxmlformats.org/drawingml/2006/table">
            <a:tbl>
              <a:tblPr>
                <a:noFill/>
                <a:tableStyleId>{4B4D1AB0-2925-4953-8AE0-7B973092ED5E}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Command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Description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log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Show commit history.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log --oneline</a:t>
                      </a:r>
                      <a:endParaRPr sz="1800" u="none" strike="noStrike" cap="non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Condensed log (1 line per commit).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log -p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Show log with diffs.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log --stat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Show summary of changes per file.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log --graph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Show commit history as a graph (great with branches).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log &lt;file&gt;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Show commit history for a specific file.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log -n &lt;num&gt;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Show the latest &lt;num&gt; commits.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Hands-On #2</a:t>
            </a:r>
            <a:endParaRPr/>
          </a:p>
        </p:txBody>
      </p:sp>
      <p:sp>
        <p:nvSpPr>
          <p:cNvPr id="209" name="Google Shape;209;p3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Practice viewing file changes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Practice comparing commits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Why the command line???</a:t>
            </a:r>
            <a:endParaRPr/>
          </a:p>
        </p:txBody>
      </p:sp>
      <p:sp>
        <p:nvSpPr>
          <p:cNvPr id="215" name="Google Shape;215;p3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Good practice using terminals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 every UI exposes all the commands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Most servers are terminal-only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Using commands allows us to automate / script / chain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Reading documentation for command-line utilities is an art…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US"/>
              <a:t>In Case of Fire…</a:t>
            </a:r>
            <a:endParaRPr/>
          </a:p>
        </p:txBody>
      </p:sp>
      <p:pic>
        <p:nvPicPr>
          <p:cNvPr id="221" name="Google Shape;221;p32" descr="A close-up of a computer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tretch/>
        </p:blipFill>
        <p:spPr>
          <a:xfrm>
            <a:off x="6432976" y="987425"/>
            <a:ext cx="3672624" cy="487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2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pic>
        <p:nvPicPr>
          <p:cNvPr id="223" name="Google Shape;223;p32" descr="A black text with black text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481" y="1957031"/>
            <a:ext cx="4514850" cy="225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US"/>
              <a:t>Other Resources (HIGHLY RECOMMEND)</a:t>
            </a:r>
            <a:endParaRPr/>
          </a:p>
        </p:txBody>
      </p:sp>
      <p:sp>
        <p:nvSpPr>
          <p:cNvPr id="229" name="Google Shape;229;p33"/>
          <p:cNvSpPr txBox="1">
            <a:spLocks noGrp="1"/>
          </p:cNvSpPr>
          <p:nvPr>
            <p:ph idx="1"/>
          </p:nvPr>
        </p:nvSpPr>
        <p:spPr>
          <a:xfrm>
            <a:off x="838200" y="1756750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hlink"/>
                </a:solidFill>
                <a:hlinkClick r:id="rId3"/>
              </a:rPr>
              <a:t>Oh My Git!</a:t>
            </a:r>
            <a:endParaRPr sz="3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u="sng">
                <a:solidFill>
                  <a:schemeClr val="hlink"/>
                </a:solidFill>
                <a:hlinkClick r:id="rId4"/>
              </a:rPr>
              <a:t>Learn Git Branching</a:t>
            </a:r>
            <a:endParaRPr sz="3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4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2310</Words>
  <Application>Microsoft Office PowerPoint</Application>
  <PresentationFormat>Widescreen</PresentationFormat>
  <Paragraphs>413</Paragraphs>
  <Slides>28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 Bold</vt:lpstr>
      <vt:lpstr>Play</vt:lpstr>
      <vt:lpstr>Courier New</vt:lpstr>
      <vt:lpstr>Consolas</vt:lpstr>
      <vt:lpstr>Arial</vt:lpstr>
      <vt:lpstr>US Army 2023 AFC DEVCOM Logo</vt:lpstr>
      <vt:lpstr>Intro to Version Control</vt:lpstr>
      <vt:lpstr>Objectives</vt:lpstr>
      <vt:lpstr>Version Control</vt:lpstr>
      <vt:lpstr>Common VCS</vt:lpstr>
      <vt:lpstr>Git</vt:lpstr>
      <vt:lpstr>Why "Git"?1</vt:lpstr>
      <vt:lpstr>The Elevator Pitch</vt:lpstr>
      <vt:lpstr>Example 1</vt:lpstr>
      <vt:lpstr>Example 1 Continued</vt:lpstr>
      <vt:lpstr>Example 2</vt:lpstr>
      <vt:lpstr>Example 2 continued</vt:lpstr>
      <vt:lpstr>Basic Ideas</vt:lpstr>
      <vt:lpstr>Git Areas</vt:lpstr>
      <vt:lpstr>Git Commit / Reset / Revert</vt:lpstr>
      <vt:lpstr>Quiz Time</vt:lpstr>
      <vt:lpstr>Hands-On #1</vt:lpstr>
      <vt:lpstr>But why…</vt:lpstr>
      <vt:lpstr>Git History</vt:lpstr>
      <vt:lpstr>Git Diff</vt:lpstr>
      <vt:lpstr>Spot the diff</vt:lpstr>
      <vt:lpstr>Spot the diff</vt:lpstr>
      <vt:lpstr>Spot the diff, again</vt:lpstr>
      <vt:lpstr>Spot the diff, again</vt:lpstr>
      <vt:lpstr>Git Log</vt:lpstr>
      <vt:lpstr>Hands-On #2</vt:lpstr>
      <vt:lpstr>Why the command line???</vt:lpstr>
      <vt:lpstr>In Case of Fire…</vt:lpstr>
      <vt:lpstr>Other Resources (HIGHLY RECOMMEND)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Shafer</cp:lastModifiedBy>
  <cp:revision>32</cp:revision>
  <dcterms:modified xsi:type="dcterms:W3CDTF">2026-06-04T16:03:56Z</dcterms:modified>
</cp:coreProperties>
</file>