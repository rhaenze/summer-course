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37"/>
  </p:notesMasterIdLst>
  <p:sldIdLst>
    <p:sldId id="256" r:id="rId6"/>
    <p:sldId id="342" r:id="rId7"/>
    <p:sldId id="315" r:id="rId8"/>
    <p:sldId id="262" r:id="rId9"/>
    <p:sldId id="343" r:id="rId10"/>
    <p:sldId id="263" r:id="rId11"/>
    <p:sldId id="264" r:id="rId12"/>
    <p:sldId id="339" r:id="rId13"/>
    <p:sldId id="341" r:id="rId14"/>
    <p:sldId id="265" r:id="rId15"/>
    <p:sldId id="266" r:id="rId16"/>
    <p:sldId id="268" r:id="rId17"/>
    <p:sldId id="276" r:id="rId18"/>
    <p:sldId id="267" r:id="rId19"/>
    <p:sldId id="269" r:id="rId20"/>
    <p:sldId id="271" r:id="rId21"/>
    <p:sldId id="351" r:id="rId22"/>
    <p:sldId id="349" r:id="rId23"/>
    <p:sldId id="347" r:id="rId24"/>
    <p:sldId id="272" r:id="rId25"/>
    <p:sldId id="350" r:id="rId26"/>
    <p:sldId id="352" r:id="rId27"/>
    <p:sldId id="274" r:id="rId28"/>
    <p:sldId id="275" r:id="rId29"/>
    <p:sldId id="279" r:id="rId30"/>
    <p:sldId id="280" r:id="rId31"/>
    <p:sldId id="281" r:id="rId32"/>
    <p:sldId id="282" r:id="rId33"/>
    <p:sldId id="316" r:id="rId34"/>
    <p:sldId id="340" r:id="rId35"/>
    <p:sldId id="2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2B3A8B-E5D7-F0F2-BECC-987273141BF3}" name="Iggy Siegel" initials="IS" userId="71bb0d4fac5e3b6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 autoAdjust="0"/>
    <p:restoredTop sz="73672" autoAdjust="0"/>
  </p:normalViewPr>
  <p:slideViewPr>
    <p:cSldViewPr snapToGrid="0">
      <p:cViewPr varScale="1">
        <p:scale>
          <a:sx n="70" d="100"/>
          <a:sy n="70" d="100"/>
        </p:scale>
        <p:origin x="14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Bank: unsupervised ML</a:t>
            </a:r>
          </a:p>
          <a:p>
            <a:endParaRPr lang="en-US" dirty="0"/>
          </a:p>
          <a:p>
            <a:r>
              <a:rPr lang="en-US" dirty="0"/>
              <a:t>Spam: supervised ML </a:t>
            </a:r>
          </a:p>
          <a:p>
            <a:endParaRPr lang="en-US" dirty="0"/>
          </a:p>
          <a:p>
            <a:r>
              <a:rPr lang="en-US" dirty="0"/>
              <a:t>Robot Maze: reinforcement ML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10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Tabular Data Set e.g. Rows and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6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Logistic Regression: Supervised machine learning algorithm primarily used for classification problems.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used for binary classification where the output can be one of two possible categories such as Yes/No, True/False or 0/1.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82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08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Fraud: Accuracy would be 99%... But in reality, it does nothing and shows the fraudulent transactions.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Medical: Recall metrics would be good to use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1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12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12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12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12 August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12 August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12 August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12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12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12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12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12 August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12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12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12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12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12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12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12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12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12 August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12 AUG 2026</a:t>
            </a:r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8F9E-9D79-FDA5-59B8-416A4DF8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F0632C-F4B1-8463-D1EA-CA574D6F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current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385FA-4D37-7E45-7882-BDF37CF3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E104C-3CA2-A9DE-A998-F8B6D544C1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A2B6B26C-58B9-9825-7831-174A796F00B1}"/>
              </a:ext>
            </a:extLst>
          </p:cNvPr>
          <p:cNvSpPr txBox="1">
            <a:spLocks/>
          </p:cNvSpPr>
          <p:nvPr/>
        </p:nvSpPr>
        <p:spPr>
          <a:xfrm>
            <a:off x="1222907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Automotive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AA67EEB5-4DE4-5B40-76B6-2FDA874F1E36}"/>
              </a:ext>
            </a:extLst>
          </p:cNvPr>
          <p:cNvSpPr txBox="1">
            <a:spLocks/>
          </p:cNvSpPr>
          <p:nvPr/>
        </p:nvSpPr>
        <p:spPr>
          <a:xfrm>
            <a:off x="495065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Medical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40AAF2FF-E341-95BC-DE5E-5770E29AC72C}"/>
              </a:ext>
            </a:extLst>
          </p:cNvPr>
          <p:cNvSpPr txBox="1">
            <a:spLocks/>
          </p:cNvSpPr>
          <p:nvPr/>
        </p:nvSpPr>
        <p:spPr>
          <a:xfrm>
            <a:off x="858103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Robotics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08BBD-53C8-1F10-9BB9-32FDCD651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923" y="2008855"/>
            <a:ext cx="2323287" cy="2146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4FD411-21BA-D69C-DBFC-799686CFE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8" y="2156074"/>
            <a:ext cx="3610248" cy="1920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ACD10B-D715-04B3-4E7F-E88A86BAE6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758" y="1983398"/>
            <a:ext cx="3257958" cy="217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9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8D58-43F6-A7E5-E146-F1AC739A8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729A3B-0382-990A-688C-2BFD65FC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current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AD38-A061-0179-DEA4-562A2D7A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8C919-0B6A-7E18-7FB0-6C5CC63DEC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79DB9EB2-6AE1-9F89-4500-80DA31C4EBEA}"/>
              </a:ext>
            </a:extLst>
          </p:cNvPr>
          <p:cNvSpPr txBox="1">
            <a:spLocks/>
          </p:cNvSpPr>
          <p:nvPr/>
        </p:nvSpPr>
        <p:spPr>
          <a:xfrm>
            <a:off x="1222907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Manufacturing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DA3CD8B4-2482-9896-B711-F1A9A94B7E22}"/>
              </a:ext>
            </a:extLst>
          </p:cNvPr>
          <p:cNvSpPr txBox="1">
            <a:spLocks/>
          </p:cNvSpPr>
          <p:nvPr/>
        </p:nvSpPr>
        <p:spPr>
          <a:xfrm>
            <a:off x="495065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Cybersecurity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45A905DB-0910-8E49-803B-23DD08D1AFF4}"/>
              </a:ext>
            </a:extLst>
          </p:cNvPr>
          <p:cNvSpPr txBox="1">
            <a:spLocks/>
          </p:cNvSpPr>
          <p:nvPr/>
        </p:nvSpPr>
        <p:spPr>
          <a:xfrm>
            <a:off x="858103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Entertainment</a:t>
            </a:r>
          </a:p>
        </p:txBody>
      </p:sp>
      <p:pic>
        <p:nvPicPr>
          <p:cNvPr id="3" name="Google Shape;339;g34533193377_0_121">
            <a:extLst>
              <a:ext uri="{FF2B5EF4-FFF2-40B4-BE49-F238E27FC236}">
                <a16:creationId xmlns:a16="http://schemas.microsoft.com/office/drawing/2014/main" id="{FF75979A-1FF5-5EED-3A9C-03F5EC97E30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99783" y="2392727"/>
            <a:ext cx="2953568" cy="16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41;g34533193377_0_121">
            <a:extLst>
              <a:ext uri="{FF2B5EF4-FFF2-40B4-BE49-F238E27FC236}">
                <a16:creationId xmlns:a16="http://schemas.microsoft.com/office/drawing/2014/main" id="{FCC95683-02B7-608A-13C9-F5B80669C4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038" y="2225624"/>
            <a:ext cx="2953568" cy="1971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40;g34533193377_0_121">
            <a:extLst>
              <a:ext uri="{FF2B5EF4-FFF2-40B4-BE49-F238E27FC236}">
                <a16:creationId xmlns:a16="http://schemas.microsoft.com/office/drawing/2014/main" id="{F0C3610A-ECD6-DFCF-E97C-A78D197BDA6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2903" y="2482360"/>
            <a:ext cx="3888088" cy="1458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67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E5DE-F011-B94C-DA1C-CB04CAC9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4F6894-CA74-EF92-E198-E926C482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Potential and biases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80D45-03EF-963E-D981-09A36DCA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3353A-526A-8857-4CBF-A6AFED8408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030B385-D69A-600C-7F61-4D866E1DD173}"/>
              </a:ext>
            </a:extLst>
          </p:cNvPr>
          <p:cNvSpPr txBox="1">
            <a:spLocks/>
          </p:cNvSpPr>
          <p:nvPr/>
        </p:nvSpPr>
        <p:spPr>
          <a:xfrm>
            <a:off x="1617059" y="4361965"/>
            <a:ext cx="2626282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Some models to evaluate job applicants show bias in favor of male candidates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73E1C2D7-E340-D732-7CC7-5A49DE6CE507}"/>
              </a:ext>
            </a:extLst>
          </p:cNvPr>
          <p:cNvSpPr txBox="1">
            <a:spLocks/>
          </p:cNvSpPr>
          <p:nvPr/>
        </p:nvSpPr>
        <p:spPr>
          <a:xfrm>
            <a:off x="6978764" y="4130053"/>
            <a:ext cx="3071685" cy="84576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Risk models used in US courts have shown to be biased against non-white defendants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FC896-0E4A-F7E0-0ACC-238CE62EB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703" y="1586230"/>
            <a:ext cx="3092994" cy="2515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BC9195-F436-6E8D-78E2-2361E05E5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395" y="1721396"/>
            <a:ext cx="3578845" cy="201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7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FB75-C3F7-D3B7-D987-0E8C1E26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7C10-2B7A-F02C-E28F-8E92CB12E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8" y="1600200"/>
            <a:ext cx="10662077" cy="4572000"/>
          </a:xfrm>
        </p:spPr>
        <p:txBody>
          <a:bodyPr/>
          <a:lstStyle/>
          <a:p>
            <a:r>
              <a:rPr lang="en-US" dirty="0"/>
              <a:t>Explain how machine learning differs from traditional rule-based programming.</a:t>
            </a:r>
          </a:p>
          <a:p>
            <a:r>
              <a:rPr lang="en-US" dirty="0"/>
              <a:t>Differentiate between supervised, unsupervised, and reinforcement learning.</a:t>
            </a:r>
          </a:p>
          <a:p>
            <a:r>
              <a:rPr lang="en-US" dirty="0"/>
              <a:t>Implement a simple supervised learning model on a tabular dataset.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B3703-CED1-1330-2097-54A7C10D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12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437C8-AE0B-E30E-A116-6DA025BBB3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9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755E6-6974-8EA8-BAF2-064D50D5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8660F-5D4B-6F33-913B-C3C17B99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9CED7-14DC-7D5B-C554-86578CC2E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AAEEE-1A33-C8E5-C4C9-463110CCE766}"/>
              </a:ext>
            </a:extLst>
          </p:cNvPr>
          <p:cNvSpPr txBox="1"/>
          <p:nvPr/>
        </p:nvSpPr>
        <p:spPr>
          <a:xfrm>
            <a:off x="2679405" y="164804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buSzPct val="100000"/>
            </a:pPr>
            <a:endParaRPr lang="en-US" sz="1700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82BF9E23-0FCF-DF17-7192-C947B49A277E}"/>
              </a:ext>
            </a:extLst>
          </p:cNvPr>
          <p:cNvSpPr txBox="1">
            <a:spLocks/>
          </p:cNvSpPr>
          <p:nvPr/>
        </p:nvSpPr>
        <p:spPr>
          <a:xfrm>
            <a:off x="1197226" y="1292171"/>
            <a:ext cx="4267909" cy="466769"/>
          </a:xfrm>
          <a:prstGeom prst="rect">
            <a:avLst/>
          </a:prstGeom>
        </p:spPr>
        <p:txBody>
          <a:bodyPr vert="horz" lIns="0" tIns="0" rIns="0" bIns="0" spcCol="365760" rtlCol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Roboto"/>
                <a:ea typeface="Roboto"/>
                <a:cs typeface="Roboto"/>
              </a:rPr>
              <a:t>TRADITIONAL PROGRAMMING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EA2B8C9-2460-4F3E-7427-54C8B7D2BB95}"/>
              </a:ext>
            </a:extLst>
          </p:cNvPr>
          <p:cNvSpPr txBox="1">
            <a:spLocks/>
          </p:cNvSpPr>
          <p:nvPr/>
        </p:nvSpPr>
        <p:spPr>
          <a:xfrm>
            <a:off x="6261867" y="1292170"/>
            <a:ext cx="4267909" cy="466769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MACHINE LEARNING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1C6342-F209-89A9-59F7-364A08BB408C}"/>
              </a:ext>
            </a:extLst>
          </p:cNvPr>
          <p:cNvSpPr/>
          <p:nvPr/>
        </p:nvSpPr>
        <p:spPr>
          <a:xfrm>
            <a:off x="2593811" y="1988286"/>
            <a:ext cx="1474737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9181A6-A6A4-037E-6BF6-94F792040C30}"/>
              </a:ext>
            </a:extLst>
          </p:cNvPr>
          <p:cNvSpPr/>
          <p:nvPr/>
        </p:nvSpPr>
        <p:spPr>
          <a:xfrm>
            <a:off x="6733778" y="1988286"/>
            <a:ext cx="1474737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2B72BD-5DE6-B687-A83A-9EFD20E6F505}"/>
              </a:ext>
            </a:extLst>
          </p:cNvPr>
          <p:cNvSpPr/>
          <p:nvPr/>
        </p:nvSpPr>
        <p:spPr>
          <a:xfrm>
            <a:off x="8668547" y="1988286"/>
            <a:ext cx="1474737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942DBCB8-2146-95CE-3C56-58A0B36C101A}"/>
              </a:ext>
            </a:extLst>
          </p:cNvPr>
          <p:cNvSpPr/>
          <p:nvPr/>
        </p:nvSpPr>
        <p:spPr>
          <a:xfrm>
            <a:off x="3072809" y="2796361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BEB8DC-F406-503A-AF4C-44387129A830}"/>
              </a:ext>
            </a:extLst>
          </p:cNvPr>
          <p:cNvSpPr/>
          <p:nvPr/>
        </p:nvSpPr>
        <p:spPr>
          <a:xfrm>
            <a:off x="2129434" y="3583169"/>
            <a:ext cx="2400036" cy="1254641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GENERAL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PROGRAMMING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CB8F4E-526D-BD4E-5233-F4184E73881C}"/>
              </a:ext>
            </a:extLst>
          </p:cNvPr>
          <p:cNvSpPr/>
          <p:nvPr/>
        </p:nvSpPr>
        <p:spPr>
          <a:xfrm>
            <a:off x="7195803" y="3583168"/>
            <a:ext cx="2400036" cy="1254641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MACHINE LEARNING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29524015-B4F4-47EC-9FD7-9D7DE51F5FB8}"/>
              </a:ext>
            </a:extLst>
          </p:cNvPr>
          <p:cNvSpPr/>
          <p:nvPr/>
        </p:nvSpPr>
        <p:spPr>
          <a:xfrm>
            <a:off x="7210648" y="2796361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A5F2FB0A-85E8-397A-F351-6BEF89BEB127}"/>
              </a:ext>
            </a:extLst>
          </p:cNvPr>
          <p:cNvSpPr/>
          <p:nvPr/>
        </p:nvSpPr>
        <p:spPr>
          <a:xfrm>
            <a:off x="9145417" y="2796361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654F2756-1FCE-E0CF-E493-5120D07FF580}"/>
              </a:ext>
            </a:extLst>
          </p:cNvPr>
          <p:cNvSpPr/>
          <p:nvPr/>
        </p:nvSpPr>
        <p:spPr>
          <a:xfrm>
            <a:off x="3068954" y="4976032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FB8F5EF8-BC15-14BA-B78B-493DA0FC9BEC}"/>
              </a:ext>
            </a:extLst>
          </p:cNvPr>
          <p:cNvSpPr/>
          <p:nvPr/>
        </p:nvSpPr>
        <p:spPr>
          <a:xfrm>
            <a:off x="8208515" y="4976032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1ACC023-3624-2DDA-DE38-6D68309CC9F9}"/>
              </a:ext>
            </a:extLst>
          </p:cNvPr>
          <p:cNvSpPr/>
          <p:nvPr/>
        </p:nvSpPr>
        <p:spPr>
          <a:xfrm>
            <a:off x="2592083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C96A74-297F-06D1-DA3B-73DCB97E394B}"/>
              </a:ext>
            </a:extLst>
          </p:cNvPr>
          <p:cNvSpPr/>
          <p:nvPr/>
        </p:nvSpPr>
        <p:spPr>
          <a:xfrm>
            <a:off x="7747459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LEARNED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DA450E7-9C70-7706-8EB4-5FC57C1BE101}"/>
              </a:ext>
            </a:extLst>
          </p:cNvPr>
          <p:cNvSpPr/>
          <p:nvPr/>
        </p:nvSpPr>
        <p:spPr>
          <a:xfrm>
            <a:off x="9792407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INFERRED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1B0CF0A-9A4D-137A-AF46-6FB68438931D}"/>
              </a:ext>
            </a:extLst>
          </p:cNvPr>
          <p:cNvSpPr/>
          <p:nvPr/>
        </p:nvSpPr>
        <p:spPr>
          <a:xfrm>
            <a:off x="5735911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D1350DAF-A6FF-38CE-28A5-4BDFA0427D4B}"/>
              </a:ext>
            </a:extLst>
          </p:cNvPr>
          <p:cNvSpPr/>
          <p:nvPr/>
        </p:nvSpPr>
        <p:spPr>
          <a:xfrm rot="16200000">
            <a:off x="7331479" y="5875367"/>
            <a:ext cx="328549" cy="423530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3620C74D-D665-A8A4-D036-42B836E7E406}"/>
              </a:ext>
            </a:extLst>
          </p:cNvPr>
          <p:cNvSpPr/>
          <p:nvPr/>
        </p:nvSpPr>
        <p:spPr>
          <a:xfrm rot="16200000">
            <a:off x="9353659" y="5875368"/>
            <a:ext cx="328549" cy="423530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2AB6801-7AC9-FE31-C584-C45EFF523CFA}"/>
              </a:ext>
            </a:extLst>
          </p:cNvPr>
          <p:cNvSpPr/>
          <p:nvPr/>
        </p:nvSpPr>
        <p:spPr>
          <a:xfrm>
            <a:off x="6511379" y="1818749"/>
            <a:ext cx="3832771" cy="977612"/>
          </a:xfrm>
          <a:prstGeom prst="roundRect">
            <a:avLst/>
          </a:prstGeom>
          <a:noFill/>
          <a:ln w="50800">
            <a:solidFill>
              <a:schemeClr val="tx2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125418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3D3D-D5D2-F4CD-28DB-DE80D9DB0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11D2-8423-03BE-6B66-08DDC31B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flavors of Machine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B9B6-3509-9797-3B22-2E1B391E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4A9A8-B8C4-E44F-3576-E05DA08456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C0235-72BA-8572-12D5-857172CED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15" y="1807679"/>
            <a:ext cx="3704708" cy="27140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3551E7A-11DD-E638-1B11-7154D8EA2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585" y="1792570"/>
            <a:ext cx="3704708" cy="2744228"/>
          </a:xfrm>
          <a:prstGeom prst="rect">
            <a:avLst/>
          </a:prstGeom>
        </p:spPr>
      </p:pic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74A83CB9-2A5C-391F-B0F9-6E8B2FCEF57A}"/>
              </a:ext>
            </a:extLst>
          </p:cNvPr>
          <p:cNvSpPr txBox="1">
            <a:spLocks/>
          </p:cNvSpPr>
          <p:nvPr/>
        </p:nvSpPr>
        <p:spPr>
          <a:xfrm>
            <a:off x="890876" y="4729434"/>
            <a:ext cx="4848386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Supervised Learning</a:t>
            </a:r>
            <a:r>
              <a:rPr lang="en-US" dirty="0"/>
              <a:t>: Learns with “labeled” data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11D3470C-95CE-843B-741F-92F08669CCAD}"/>
              </a:ext>
            </a:extLst>
          </p:cNvPr>
          <p:cNvSpPr txBox="1">
            <a:spLocks/>
          </p:cNvSpPr>
          <p:nvPr/>
        </p:nvSpPr>
        <p:spPr>
          <a:xfrm>
            <a:off x="6355740" y="4729434"/>
            <a:ext cx="4848386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Unsupervised Learning</a:t>
            </a:r>
            <a:r>
              <a:rPr lang="en-US" dirty="0"/>
              <a:t>: Learns by association</a:t>
            </a:r>
          </a:p>
        </p:txBody>
      </p:sp>
    </p:spTree>
    <p:extLst>
      <p:ext uri="{BB962C8B-B14F-4D97-AF65-F5344CB8AC3E}">
        <p14:creationId xmlns:p14="http://schemas.microsoft.com/office/powerpoint/2010/main" val="367876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44E7-B82B-563B-F7C5-B3742EE1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4236-24F5-90F4-AD40-0E1A935F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flavors of Machine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8027-8F12-B0A5-4FD9-44094F90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60BD9-D3B6-C2DC-96B7-2C639B0CAF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863CB1D4-024E-9652-DC50-46D06B683100}"/>
              </a:ext>
            </a:extLst>
          </p:cNvPr>
          <p:cNvSpPr txBox="1">
            <a:spLocks/>
          </p:cNvSpPr>
          <p:nvPr/>
        </p:nvSpPr>
        <p:spPr>
          <a:xfrm>
            <a:off x="2712388" y="5311671"/>
            <a:ext cx="6767224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Reinforcement Learning</a:t>
            </a:r>
            <a:r>
              <a:rPr lang="en-US" dirty="0"/>
              <a:t>: Learns by interacting with an environment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E7F740-6C22-940F-6CE2-E17B09D17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04" y="2482118"/>
            <a:ext cx="4684090" cy="1893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23B342-35C3-2948-3D23-6E80AA03F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30" y="1879806"/>
            <a:ext cx="4664606" cy="309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1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4E5D-2C28-3FBA-00DA-46DEEF7A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4340-9C86-976E-6E2A-236B20460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8FB61-A48D-7C36-5803-AB0ED2B6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8CE9A-A9FB-26B4-BAE5-1B2DAF43A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E55E8B6-A2E6-EB56-FD79-13E50AE13244}"/>
              </a:ext>
            </a:extLst>
          </p:cNvPr>
          <p:cNvSpPr txBox="1">
            <a:spLocks/>
          </p:cNvSpPr>
          <p:nvPr/>
        </p:nvSpPr>
        <p:spPr>
          <a:xfrm>
            <a:off x="548640" y="2185349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Anomaly Detection: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A bank looks for unusual credit card transactions that do not fit the user’s normal spending patterns.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23EE985-22CE-D5E6-D6EB-DA7823619AA4}"/>
              </a:ext>
            </a:extLst>
          </p:cNvPr>
          <p:cNvSpPr txBox="1">
            <a:spLocks/>
          </p:cNvSpPr>
          <p:nvPr/>
        </p:nvSpPr>
        <p:spPr>
          <a:xfrm>
            <a:off x="4404360" y="2185349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Spam Filter: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You feed the computer thousands of emails labeled “Spam” or “Not Spam” so it can learn to filter your inbox.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717A696-0A6E-03CA-D7B8-679A061B90F6}"/>
              </a:ext>
            </a:extLst>
          </p:cNvPr>
          <p:cNvSpPr txBox="1">
            <a:spLocks/>
          </p:cNvSpPr>
          <p:nvPr/>
        </p:nvSpPr>
        <p:spPr>
          <a:xfrm>
            <a:off x="8260080" y="2185349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Robot Maze: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A robot learns to navigate a maze by trying different paths and receiving rewards when it gets closer to the goal.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BD68121-8325-63AA-B4D4-CCE4C31F750F}"/>
              </a:ext>
            </a:extLst>
          </p:cNvPr>
          <p:cNvSpPr txBox="1">
            <a:spLocks/>
          </p:cNvSpPr>
          <p:nvPr/>
        </p:nvSpPr>
        <p:spPr>
          <a:xfrm>
            <a:off x="548640" y="1199452"/>
            <a:ext cx="11094720" cy="914400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For each scenario, decide what type of machine learning would be best:</a:t>
            </a:r>
          </a:p>
        </p:txBody>
      </p:sp>
    </p:spTree>
    <p:extLst>
      <p:ext uri="{BB962C8B-B14F-4D97-AF65-F5344CB8AC3E}">
        <p14:creationId xmlns:p14="http://schemas.microsoft.com/office/powerpoint/2010/main" val="411451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F8EE-1662-954F-973E-8D51CDFC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supervised learning building blocks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396A-95FA-62D8-B0DE-C030EFF3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13178-447B-0570-C11E-7E1CBF3EF8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1D57FF-BD66-8B6D-B2EF-80663062D069}"/>
              </a:ext>
            </a:extLst>
          </p:cNvPr>
          <p:cNvGrpSpPr/>
          <p:nvPr/>
        </p:nvGrpSpPr>
        <p:grpSpPr>
          <a:xfrm>
            <a:off x="3302827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E1DA04C-5304-342F-3174-3A1DFD2C24B7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E7DF0C87-614D-7071-9C81-AFE37D51A646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D76A079-B4A7-119B-DC0D-065BE7BBCFA7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0A6B0AE-0C26-4AB0-DFDE-1476EDEA959A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DCD05C5-6846-5F43-8918-796BEBEFC75F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08F9A5B-B844-6D17-B1B7-4395B76B91E2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309FDDCF-8115-A63A-3B8D-1E45393EC447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DFF011E6-8A0C-8FFA-495C-1D2228EC0809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AA7A2026-E2BF-9A86-59E9-04061DE5F6E3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304DB1DA-C7CE-F58A-CE92-F4B3F98AF29B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FECB1D2-AEFC-AB2A-1DAF-D7E76BAF46CE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786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7D87-B5E8-A6B7-7B6D-AF1A8599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080D-1032-D14E-E465-B4E44043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Response vs predictor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9BC25-4F83-A1BC-88DA-8AB0DE22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3E24B-E31A-84CC-AE41-AB7848FE35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CC16DF-1EB2-0BCA-8C8F-A21FA2E1A796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C2636F3-5E22-D356-FC36-84E8943311EF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0C4BD5C5-1959-4A8F-75D2-25C1F8844B1D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C9FAD52-F41B-FA31-F978-D9C92C38C553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10A2CFC-1A0C-D949-B711-0A3C3F5C5A57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3460450-F3B6-0A08-6427-93FD3F65D202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D8C994C-852F-C089-BBEE-032049D21FFF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423A990D-9992-08A6-DDDC-BA900CC93122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A4EE7FD6-3E0C-4899-F683-BA21468AC811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E5592DA7-999D-3822-B308-62FEF71A393F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CDCD35CC-FDCE-A1A0-CCEE-D9BC7FF53B23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C23608A-0B1F-7D83-9C37-99ED87C1EF87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328E36D5-B0BD-90ED-A056-7A007C94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96514" y="1994712"/>
            <a:ext cx="3696007" cy="813704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8AF470FA-750D-D43C-3E79-9C925E8EFB6C}"/>
              </a:ext>
            </a:extLst>
          </p:cNvPr>
          <p:cNvSpPr txBox="1">
            <a:spLocks/>
          </p:cNvSpPr>
          <p:nvPr/>
        </p:nvSpPr>
        <p:spPr>
          <a:xfrm>
            <a:off x="-135468" y="2160740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Patient history vs heart disease</a:t>
            </a:r>
          </a:p>
          <a:p>
            <a:pPr marL="0" indent="0" algn="ctr">
              <a:buNone/>
            </a:pPr>
            <a:r>
              <a:rPr lang="en-US" dirty="0"/>
              <a:t>Sales vs advertising budget</a:t>
            </a:r>
          </a:p>
          <a:p>
            <a:pPr marL="0" indent="0" algn="ctr">
              <a:buNone/>
            </a:pPr>
            <a:r>
              <a:rPr lang="en-US" dirty="0"/>
              <a:t>(Response vs Predictor)</a:t>
            </a:r>
          </a:p>
        </p:txBody>
      </p:sp>
    </p:spTree>
    <p:extLst>
      <p:ext uri="{BB962C8B-B14F-4D97-AF65-F5344CB8AC3E}">
        <p14:creationId xmlns:p14="http://schemas.microsoft.com/office/powerpoint/2010/main" val="2305309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5AAC-6B46-7673-6032-7036A738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FB2D-0B76-2572-DE1A-5FB0FC13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Response vs Predictor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AA2E-2E59-2FDD-5BA2-FF7F5D03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2FD42-CA3B-36C2-5789-BBE0335B0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F6FCE1-60D9-5E8B-7046-2DC1F4FA0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80" y="1286539"/>
            <a:ext cx="7670707" cy="2520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7F348A-4E83-6981-7149-510B90D65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310" y="4174558"/>
            <a:ext cx="5143648" cy="1977595"/>
          </a:xfrm>
          <a:prstGeom prst="rect">
            <a:avLst/>
          </a:prstGeom>
        </p:spPr>
      </p:pic>
      <p:sp>
        <p:nvSpPr>
          <p:cNvPr id="21" name="Oval Callout 20">
            <a:extLst>
              <a:ext uri="{FF2B5EF4-FFF2-40B4-BE49-F238E27FC236}">
                <a16:creationId xmlns:a16="http://schemas.microsoft.com/office/drawing/2014/main" id="{70121943-E28D-EC0C-F418-1AF62FFE4B55}"/>
              </a:ext>
            </a:extLst>
          </p:cNvPr>
          <p:cNvSpPr/>
          <p:nvPr/>
        </p:nvSpPr>
        <p:spPr>
          <a:xfrm>
            <a:off x="7488866" y="4174558"/>
            <a:ext cx="1814622" cy="1169581"/>
          </a:xfrm>
          <a:prstGeom prst="wedgeEllipseCallout">
            <a:avLst>
              <a:gd name="adj1" fmla="val -72083"/>
              <a:gd name="adj2" fmla="val 55228"/>
            </a:avLst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dirty="0">
                <a:solidFill>
                  <a:schemeClr val="tx1"/>
                </a:solidFill>
              </a:rPr>
              <a:t>Response variable is continuous</a:t>
            </a:r>
          </a:p>
        </p:txBody>
      </p:sp>
      <p:sp>
        <p:nvSpPr>
          <p:cNvPr id="22" name="Oval Callout 21">
            <a:extLst>
              <a:ext uri="{FF2B5EF4-FFF2-40B4-BE49-F238E27FC236}">
                <a16:creationId xmlns:a16="http://schemas.microsoft.com/office/drawing/2014/main" id="{65F32897-576C-4319-EEE6-CF0C248176FB}"/>
              </a:ext>
            </a:extLst>
          </p:cNvPr>
          <p:cNvSpPr/>
          <p:nvPr/>
        </p:nvSpPr>
        <p:spPr>
          <a:xfrm>
            <a:off x="8750596" y="1446730"/>
            <a:ext cx="1701210" cy="1169581"/>
          </a:xfrm>
          <a:prstGeom prst="wedgeEllipseCallout">
            <a:avLst>
              <a:gd name="adj1" fmla="val -72083"/>
              <a:gd name="adj2" fmla="val 55228"/>
            </a:avLst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dirty="0">
                <a:solidFill>
                  <a:schemeClr val="tx1"/>
                </a:solidFill>
              </a:rPr>
              <a:t>Response variable is yes/no</a:t>
            </a:r>
          </a:p>
        </p:txBody>
      </p:sp>
    </p:spTree>
    <p:extLst>
      <p:ext uri="{BB962C8B-B14F-4D97-AF65-F5344CB8AC3E}">
        <p14:creationId xmlns:p14="http://schemas.microsoft.com/office/powerpoint/2010/main" val="296102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A284-1B1C-3C3F-9ADB-5BA7DB650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6D91-6B00-1A95-E84D-8A813EE6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F1B1E-FDCA-53FC-7688-04A57260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6DC7E-03FA-D8A9-06FC-B5017A66CF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6">
                <a:extLst>
                  <a:ext uri="{FF2B5EF4-FFF2-40B4-BE49-F238E27FC236}">
                    <a16:creationId xmlns:a16="http://schemas.microsoft.com/office/drawing/2014/main" id="{6AC34090-923B-BE21-F08A-D06DE1E064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1372" y="4653246"/>
                <a:ext cx="7449255" cy="1295351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6459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/>
                  <a:t>Combine features when an expert knows the combination matters.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ea typeface="Roboto"/>
                    <a:cs typeface="Roboto"/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heart</m:t>
                    </m:r>
                    <m: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_</m:t>
                    </m:r>
                    <m:r>
                      <m:rPr>
                        <m:sty m:val="p"/>
                      </m:rP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rate</m:t>
                    </m:r>
                    <m: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_</m:t>
                    </m:r>
                    <m:r>
                      <m:rPr>
                        <m:sty m:val="p"/>
                      </m:rP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reserve</m:t>
                    </m:r>
                    <m: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=(220 – </m:t>
                    </m:r>
                    <m:r>
                      <m:rPr>
                        <m:sty m:val="p"/>
                      </m:rP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Age</m:t>
                    </m:r>
                    <m: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) –</m:t>
                    </m:r>
                    <m:r>
                      <m:rPr>
                        <m:sty m:val="p"/>
                      </m:rP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MaxHR</m:t>
                    </m:r>
                  </m:oMath>
                </a14:m>
                <a:endParaRPr lang="en-US" b="1" dirty="0">
                  <a:ea typeface="Roboto"/>
                  <a:cs typeface="Roboto"/>
                </a:endParaRP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6">
                <a:extLst>
                  <a:ext uri="{FF2B5EF4-FFF2-40B4-BE49-F238E27FC236}">
                    <a16:creationId xmlns:a16="http://schemas.microsoft.com/office/drawing/2014/main" id="{6AC34090-923B-BE21-F08A-D06DE1E06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372" y="4653246"/>
                <a:ext cx="7449255" cy="12953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A3AF017-E3E5-42C1-D6E5-2D79DEA7C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613" y="1325881"/>
            <a:ext cx="8784771" cy="318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73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D7F9-FAD9-334D-2D86-CFEE207B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A8AA-535D-31F2-024C-FE7CDC49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BE5B-C204-A3FC-64AA-75542DB0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CA8AA-62DA-496D-2EBA-48BA309191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42F8C-C751-46EF-5151-EA1393850FEE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3CC704B-3596-5D3C-E8C4-A874956878D3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575FE8D9-6860-D23A-6AA2-14D44E9017C4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0961E9-5951-094E-99FC-45B8E7CEC13C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FCF64AF-0B3B-88DC-70B8-AF940A77A1C6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6DB2609-67E8-A53B-DEBE-6C467266EC41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A7E8AFB-DF70-6F2C-75BF-C52F83D7E7AF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03D49B4B-937D-A2BD-2059-64E4C7850694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C7BA3C38-A348-4321-7A31-7A67E2253536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9315ACAE-5B22-A531-0307-C5A8D826D442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DBA58D61-03F0-BF5C-0F0E-6AFF7A7E99E1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0D83BDA-39D3-E04B-69AA-DD6E35A8EE9B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DC9E100E-3735-E3F2-038A-D8712FB474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07154" y="2963472"/>
            <a:ext cx="3377695" cy="1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94696ACC-BEE6-1746-A691-CCDBD416DD02}"/>
              </a:ext>
            </a:extLst>
          </p:cNvPr>
          <p:cNvSpPr txBox="1">
            <a:spLocks/>
          </p:cNvSpPr>
          <p:nvPr/>
        </p:nvSpPr>
        <p:spPr>
          <a:xfrm>
            <a:off x="374245" y="2315799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Regression, Classification, etc.</a:t>
            </a:r>
          </a:p>
        </p:txBody>
      </p:sp>
    </p:spTree>
    <p:extLst>
      <p:ext uri="{BB962C8B-B14F-4D97-AF65-F5344CB8AC3E}">
        <p14:creationId xmlns:p14="http://schemas.microsoft.com/office/powerpoint/2010/main" val="3828460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4E07-54EC-AB5C-8EB4-2999B272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8E599-F7AD-3F4F-6F42-3C5B85F3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A803-F5AB-0F11-964D-B0A7100E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030FA-1F4A-2BB6-2A27-BFA719D857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3852F87-39EF-37AD-C286-20645004E82F}"/>
              </a:ext>
            </a:extLst>
          </p:cNvPr>
          <p:cNvSpPr/>
          <p:nvPr/>
        </p:nvSpPr>
        <p:spPr>
          <a:xfrm>
            <a:off x="3921375" y="1618964"/>
            <a:ext cx="4349249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SUPERVISED MACHINE LEARNING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79B2975-EB0C-1295-E70A-92D1DE971A9F}"/>
              </a:ext>
            </a:extLst>
          </p:cNvPr>
          <p:cNvSpPr/>
          <p:nvPr/>
        </p:nvSpPr>
        <p:spPr>
          <a:xfrm rot="2979215">
            <a:off x="4509378" y="2258699"/>
            <a:ext cx="321844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796475-1B7E-3B81-2B6F-040523F953CB}"/>
              </a:ext>
            </a:extLst>
          </p:cNvPr>
          <p:cNvSpPr/>
          <p:nvPr/>
        </p:nvSpPr>
        <p:spPr>
          <a:xfrm>
            <a:off x="2492757" y="2915588"/>
            <a:ext cx="2857236" cy="865149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Response variable is categorical e.g. yes/no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8CA12B79-CB72-58FC-B70E-3FFDDFFF712D}"/>
              </a:ext>
            </a:extLst>
          </p:cNvPr>
          <p:cNvSpPr/>
          <p:nvPr/>
        </p:nvSpPr>
        <p:spPr>
          <a:xfrm>
            <a:off x="3722583" y="3858762"/>
            <a:ext cx="397584" cy="468684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20CF48-9898-1939-0194-7426229810A0}"/>
              </a:ext>
            </a:extLst>
          </p:cNvPr>
          <p:cNvSpPr/>
          <p:nvPr/>
        </p:nvSpPr>
        <p:spPr>
          <a:xfrm>
            <a:off x="2897768" y="4327446"/>
            <a:ext cx="2123873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CLASSIFICATION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F57CE78-7664-8183-7BCE-7425B386F227}"/>
              </a:ext>
            </a:extLst>
          </p:cNvPr>
          <p:cNvSpPr/>
          <p:nvPr/>
        </p:nvSpPr>
        <p:spPr>
          <a:xfrm>
            <a:off x="7148001" y="2915588"/>
            <a:ext cx="2857236" cy="865149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Response variable is continuous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C9FEBBA3-8E4A-8B05-6968-39CBEC0C3E56}"/>
              </a:ext>
            </a:extLst>
          </p:cNvPr>
          <p:cNvSpPr/>
          <p:nvPr/>
        </p:nvSpPr>
        <p:spPr>
          <a:xfrm rot="18637570">
            <a:off x="7572059" y="2257552"/>
            <a:ext cx="321844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74253EBE-A833-2B82-D59D-2ACAB2B564C9}"/>
              </a:ext>
            </a:extLst>
          </p:cNvPr>
          <p:cNvSpPr/>
          <p:nvPr/>
        </p:nvSpPr>
        <p:spPr>
          <a:xfrm>
            <a:off x="8457616" y="3858762"/>
            <a:ext cx="397584" cy="468684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45E3264-732B-CF13-8F03-95FF46C3CECE}"/>
              </a:ext>
            </a:extLst>
          </p:cNvPr>
          <p:cNvSpPr/>
          <p:nvPr/>
        </p:nvSpPr>
        <p:spPr>
          <a:xfrm>
            <a:off x="7632801" y="4327446"/>
            <a:ext cx="2047213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REGRESSION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27164E10-A70D-5495-276E-6C8BC35D7FB2}"/>
              </a:ext>
            </a:extLst>
          </p:cNvPr>
          <p:cNvSpPr txBox="1">
            <a:spLocks/>
          </p:cNvSpPr>
          <p:nvPr/>
        </p:nvSpPr>
        <p:spPr>
          <a:xfrm>
            <a:off x="2492757" y="5095807"/>
            <a:ext cx="2857237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KNN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…Many More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F60CBD19-1775-23C1-609C-EF8822657174}"/>
              </a:ext>
            </a:extLst>
          </p:cNvPr>
          <p:cNvSpPr txBox="1">
            <a:spLocks/>
          </p:cNvSpPr>
          <p:nvPr/>
        </p:nvSpPr>
        <p:spPr>
          <a:xfrm>
            <a:off x="7148001" y="5095806"/>
            <a:ext cx="2857237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Gradient Boosted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…Many More</a:t>
            </a:r>
          </a:p>
        </p:txBody>
      </p:sp>
    </p:spTree>
    <p:extLst>
      <p:ext uri="{BB962C8B-B14F-4D97-AF65-F5344CB8AC3E}">
        <p14:creationId xmlns:p14="http://schemas.microsoft.com/office/powerpoint/2010/main" val="20491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7676-692C-9414-1031-F7235EE1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55F3-C4EC-9202-F92B-276B72B8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42D3-590E-0676-971D-FF6731A7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ABB2F-783B-A6ED-636F-05128AF0C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DAF5808-04F2-14DF-0678-5296BAC634EA}"/>
              </a:ext>
            </a:extLst>
          </p:cNvPr>
          <p:cNvSpPr txBox="1">
            <a:spLocks/>
          </p:cNvSpPr>
          <p:nvPr/>
        </p:nvSpPr>
        <p:spPr>
          <a:xfrm>
            <a:off x="548640" y="2682289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5 groups…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Research assigned algorithm. What type of machine learning is it? Briefly describe the algorithm and any application found.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CB78D82-F5B9-207B-A959-9DC26A8DB3EC}"/>
              </a:ext>
            </a:extLst>
          </p:cNvPr>
          <p:cNvSpPr txBox="1">
            <a:spLocks/>
          </p:cNvSpPr>
          <p:nvPr/>
        </p:nvSpPr>
        <p:spPr>
          <a:xfrm>
            <a:off x="7010400" y="2781324"/>
            <a:ext cx="3201824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dirty="0"/>
              <a:t>Logistic Regression</a:t>
            </a:r>
          </a:p>
          <a:p>
            <a:pPr marL="342900" indent="-342900">
              <a:buAutoNum type="arabicPeriod"/>
            </a:pPr>
            <a:r>
              <a:rPr lang="en-US" dirty="0"/>
              <a:t>Linear Regression</a:t>
            </a:r>
          </a:p>
          <a:p>
            <a:pPr marL="342900" indent="-342900">
              <a:buAutoNum type="arabicPeriod"/>
            </a:pPr>
            <a:r>
              <a:rPr lang="en-US" dirty="0"/>
              <a:t>Decision Tree</a:t>
            </a:r>
          </a:p>
          <a:p>
            <a:pPr marL="342900" indent="-342900">
              <a:buAutoNum type="arabicPeriod"/>
            </a:pPr>
            <a:r>
              <a:rPr lang="en-US" dirty="0"/>
              <a:t>Random Forests</a:t>
            </a:r>
          </a:p>
          <a:p>
            <a:pPr marL="342900" indent="-342900">
              <a:buAutoNum type="arabicPeriod"/>
            </a:pPr>
            <a:r>
              <a:rPr lang="en-US" dirty="0"/>
              <a:t>K-Nearest Neighbor</a:t>
            </a:r>
          </a:p>
        </p:txBody>
      </p:sp>
    </p:spTree>
    <p:extLst>
      <p:ext uri="{BB962C8B-B14F-4D97-AF65-F5344CB8AC3E}">
        <p14:creationId xmlns:p14="http://schemas.microsoft.com/office/powerpoint/2010/main" val="2171464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D62F-A711-B03F-ED7E-C0AC9A7B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B0FA-F462-F1A6-71C9-F090D403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ACC6E-A0FC-19E7-7533-82503E7E8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2BAFE-79C4-437F-809B-D9A583CB29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2" name="Content Placeholder 6">
            <a:extLst>
              <a:ext uri="{FF2B5EF4-FFF2-40B4-BE49-F238E27FC236}">
                <a16:creationId xmlns:a16="http://schemas.microsoft.com/office/drawing/2014/main" id="{6DA8B741-3DA8-5ECC-B097-4F028B32CE92}"/>
              </a:ext>
            </a:extLst>
          </p:cNvPr>
          <p:cNvSpPr txBox="1">
            <a:spLocks/>
          </p:cNvSpPr>
          <p:nvPr/>
        </p:nvSpPr>
        <p:spPr>
          <a:xfrm>
            <a:off x="559107" y="4884443"/>
            <a:ext cx="104415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Represents the relationship between inputs and outputs as a straight line</a:t>
            </a:r>
          </a:p>
          <a:p>
            <a:pPr>
              <a:buFontTx/>
              <a:buChar char="-"/>
            </a:pPr>
            <a:r>
              <a:rPr lang="en-US" dirty="0"/>
              <a:t>The line is defined by two numbers – its steepness and position – called the model’s parameters</a:t>
            </a:r>
          </a:p>
          <a:p>
            <a:pPr>
              <a:buFontTx/>
              <a:buChar char="-"/>
            </a:pPr>
            <a:r>
              <a:rPr lang="en-US" dirty="0"/>
              <a:t>Uses the line to make predictions on new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70763-3DC4-1B2D-1DCE-33B1DB129626}"/>
              </a:ext>
            </a:extLst>
          </p:cNvPr>
          <p:cNvSpPr txBox="1"/>
          <p:nvPr/>
        </p:nvSpPr>
        <p:spPr>
          <a:xfrm>
            <a:off x="1428206" y="379693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66AD98-3BD6-6E2A-7849-099DF447F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910" y="1190267"/>
            <a:ext cx="5407969" cy="36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4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FF98-8140-865E-3628-AA278699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8183-FFAD-54CA-881C-B27DF068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D2EBD-156D-DF81-B2A2-2E4EF002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D8383-33C6-13BB-0A4D-F6746A94C3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32B5089-1201-E575-2DCA-01429A52A340}"/>
              </a:ext>
            </a:extLst>
          </p:cNvPr>
          <p:cNvSpPr txBox="1">
            <a:spLocks/>
          </p:cNvSpPr>
          <p:nvPr/>
        </p:nvSpPr>
        <p:spPr>
          <a:xfrm>
            <a:off x="559107" y="4884443"/>
            <a:ext cx="104415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Represents the relationship between inputs and categories as an S-shaped “sigmoid” curve</a:t>
            </a:r>
          </a:p>
          <a:p>
            <a:pPr>
              <a:buFontTx/>
              <a:buChar char="-"/>
            </a:pPr>
            <a:r>
              <a:rPr lang="en-US" dirty="0"/>
              <a:t>The curve is defined by two numbers – its steepness and position – called the model’s parameters</a:t>
            </a:r>
          </a:p>
          <a:p>
            <a:pPr>
              <a:buFontTx/>
              <a:buChar char="-"/>
            </a:pPr>
            <a:r>
              <a:rPr lang="en-US" dirty="0"/>
              <a:t>Uses the curve to estimate the chance new data belongs to each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CD507B-7C72-98EE-16FC-622EF44EB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689" y="1199528"/>
            <a:ext cx="5394411" cy="36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79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8BBD-7A0D-98C1-E711-06610E1C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E088-4760-8A09-E864-DFBFA780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BE088-1EC8-D9D5-C92D-441D1D32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D52F6-897D-EF71-823F-0B57AEE3B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6E8513-764D-F812-9245-B165D14689C6}"/>
              </a:ext>
            </a:extLst>
          </p:cNvPr>
          <p:cNvGrpSpPr/>
          <p:nvPr/>
        </p:nvGrpSpPr>
        <p:grpSpPr>
          <a:xfrm>
            <a:off x="858583" y="1226051"/>
            <a:ext cx="3611662" cy="3921274"/>
            <a:chOff x="6143972" y="1325881"/>
            <a:chExt cx="4554733" cy="504379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DF40F3F-83AF-0876-1E12-0BCEAFC62F74}"/>
                </a:ext>
              </a:extLst>
            </p:cNvPr>
            <p:cNvSpPr/>
            <p:nvPr/>
          </p:nvSpPr>
          <p:spPr>
            <a:xfrm>
              <a:off x="7818895" y="1325881"/>
              <a:ext cx="1922076" cy="648586"/>
            </a:xfrm>
            <a:prstGeom prst="roundRect">
              <a:avLst/>
            </a:prstGeom>
            <a:solidFill>
              <a:schemeClr val="accent2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Oldpeak &gt; 1.5?</a:t>
              </a:r>
            </a:p>
          </p:txBody>
        </p:sp>
        <p:sp>
          <p:nvSpPr>
            <p:cNvPr id="8" name="Down Arrow 7">
              <a:extLst>
                <a:ext uri="{FF2B5EF4-FFF2-40B4-BE49-F238E27FC236}">
                  <a16:creationId xmlns:a16="http://schemas.microsoft.com/office/drawing/2014/main" id="{E67D91DC-55DE-E8AA-9A95-314C0D2EE130}"/>
                </a:ext>
              </a:extLst>
            </p:cNvPr>
            <p:cNvSpPr/>
            <p:nvPr/>
          </p:nvSpPr>
          <p:spPr>
            <a:xfrm rot="2979215">
              <a:off x="8267671" y="1966415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B1DC074-9D51-F22F-E365-50E38D53BAB2}"/>
                </a:ext>
              </a:extLst>
            </p:cNvPr>
            <p:cNvSpPr/>
            <p:nvPr/>
          </p:nvSpPr>
          <p:spPr>
            <a:xfrm>
              <a:off x="9044495" y="3497357"/>
              <a:ext cx="1654210" cy="648587"/>
            </a:xfrm>
            <a:prstGeom prst="roundRect">
              <a:avLst/>
            </a:prstGeom>
            <a:solidFill>
              <a:srgbClr val="F1652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Heart Disease</a:t>
              </a:r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FC9F1A45-4611-B9D2-3FFF-3B0B6B38354C}"/>
                </a:ext>
              </a:extLst>
            </p:cNvPr>
            <p:cNvSpPr/>
            <p:nvPr/>
          </p:nvSpPr>
          <p:spPr>
            <a:xfrm rot="18637570">
              <a:off x="9100549" y="1965721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7BCB7296-69B2-05C2-6F9A-35BC9518CF08}"/>
                </a:ext>
              </a:extLst>
            </p:cNvPr>
            <p:cNvSpPr/>
            <p:nvPr/>
          </p:nvSpPr>
          <p:spPr>
            <a:xfrm>
              <a:off x="7519175" y="2562341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10950FF9-2DA0-5293-3F6C-B3E15578CEB3}"/>
                </a:ext>
              </a:extLst>
            </p:cNvPr>
            <p:cNvSpPr/>
            <p:nvPr/>
          </p:nvSpPr>
          <p:spPr>
            <a:xfrm>
              <a:off x="9483523" y="2562341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7" name="Down Arrow 16">
              <a:extLst>
                <a:ext uri="{FF2B5EF4-FFF2-40B4-BE49-F238E27FC236}">
                  <a16:creationId xmlns:a16="http://schemas.microsoft.com/office/drawing/2014/main" id="{6879E5B5-CF61-4227-EA76-F8C85670292C}"/>
                </a:ext>
              </a:extLst>
            </p:cNvPr>
            <p:cNvSpPr/>
            <p:nvPr/>
          </p:nvSpPr>
          <p:spPr>
            <a:xfrm>
              <a:off x="7746330" y="3073724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0771AF4-22E1-AF6A-F19B-8E81A8C229F2}"/>
                </a:ext>
              </a:extLst>
            </p:cNvPr>
            <p:cNvSpPr/>
            <p:nvPr/>
          </p:nvSpPr>
          <p:spPr>
            <a:xfrm>
              <a:off x="6946214" y="3497357"/>
              <a:ext cx="1922076" cy="648586"/>
            </a:xfrm>
            <a:prstGeom prst="roundRect">
              <a:avLst/>
            </a:prstGeom>
            <a:solidFill>
              <a:schemeClr val="accent2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Age &gt; 55?</a:t>
              </a:r>
            </a:p>
          </p:txBody>
        </p:sp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B891D577-048C-7ECF-FB93-0B19061AA34E}"/>
                </a:ext>
              </a:extLst>
            </p:cNvPr>
            <p:cNvSpPr/>
            <p:nvPr/>
          </p:nvSpPr>
          <p:spPr>
            <a:xfrm rot="2979215">
              <a:off x="7336364" y="4136119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D5F9287A-A4ED-BACB-BFF3-D69846470F3E}"/>
                </a:ext>
              </a:extLst>
            </p:cNvPr>
            <p:cNvSpPr/>
            <p:nvPr/>
          </p:nvSpPr>
          <p:spPr>
            <a:xfrm rot="18637570">
              <a:off x="8169242" y="4135425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E31B68E0-C7A8-8696-EE22-978B21F2BBBE}"/>
                </a:ext>
              </a:extLst>
            </p:cNvPr>
            <p:cNvSpPr/>
            <p:nvPr/>
          </p:nvSpPr>
          <p:spPr>
            <a:xfrm>
              <a:off x="9710678" y="3073724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24C1768-D136-F58D-6909-8C79422D6CBF}"/>
                </a:ext>
              </a:extLst>
            </p:cNvPr>
            <p:cNvSpPr/>
            <p:nvPr/>
          </p:nvSpPr>
          <p:spPr>
            <a:xfrm>
              <a:off x="6574291" y="4752550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FA5BAA8-3057-C047-10F7-2FFE66F780CB}"/>
                </a:ext>
              </a:extLst>
            </p:cNvPr>
            <p:cNvSpPr/>
            <p:nvPr/>
          </p:nvSpPr>
          <p:spPr>
            <a:xfrm>
              <a:off x="8538639" y="4752550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27" name="Down Arrow 26">
              <a:extLst>
                <a:ext uri="{FF2B5EF4-FFF2-40B4-BE49-F238E27FC236}">
                  <a16:creationId xmlns:a16="http://schemas.microsoft.com/office/drawing/2014/main" id="{652CC671-8052-ED3B-8F3B-0A7C8583C376}"/>
                </a:ext>
              </a:extLst>
            </p:cNvPr>
            <p:cNvSpPr/>
            <p:nvPr/>
          </p:nvSpPr>
          <p:spPr>
            <a:xfrm>
              <a:off x="6810155" y="5290062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C38CA5BF-74A0-81F8-D5EB-128532F492C9}"/>
                </a:ext>
              </a:extLst>
            </p:cNvPr>
            <p:cNvSpPr/>
            <p:nvPr/>
          </p:nvSpPr>
          <p:spPr>
            <a:xfrm>
              <a:off x="8774503" y="5290062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56170812-B8B5-A0FF-76D0-25D118FB5991}"/>
                </a:ext>
              </a:extLst>
            </p:cNvPr>
            <p:cNvSpPr/>
            <p:nvPr/>
          </p:nvSpPr>
          <p:spPr>
            <a:xfrm>
              <a:off x="6143972" y="5721093"/>
              <a:ext cx="1654210" cy="648587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No Heart Disease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E42FD86C-C531-0CDC-AC79-B532B8F7ECD2}"/>
                </a:ext>
              </a:extLst>
            </p:cNvPr>
            <p:cNvSpPr/>
            <p:nvPr/>
          </p:nvSpPr>
          <p:spPr>
            <a:xfrm>
              <a:off x="8108757" y="5721092"/>
              <a:ext cx="1654210" cy="648587"/>
            </a:xfrm>
            <a:prstGeom prst="roundRect">
              <a:avLst/>
            </a:prstGeom>
            <a:solidFill>
              <a:srgbClr val="F1652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Heart Disease</a:t>
              </a:r>
            </a:p>
          </p:txBody>
        </p:sp>
      </p:grp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DCB82DB-3E7C-17DA-14E3-CC75ADD73CCA}"/>
              </a:ext>
            </a:extLst>
          </p:cNvPr>
          <p:cNvSpPr txBox="1">
            <a:spLocks/>
          </p:cNvSpPr>
          <p:nvPr/>
        </p:nvSpPr>
        <p:spPr>
          <a:xfrm>
            <a:off x="548640" y="5360209"/>
            <a:ext cx="10441577" cy="920383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Makes predictions by asking a series of yes/no questions about the data</a:t>
            </a:r>
          </a:p>
          <a:p>
            <a:pPr>
              <a:buFontTx/>
              <a:buChar char="-"/>
            </a:pPr>
            <a:r>
              <a:rPr lang="en-US" dirty="0"/>
              <a:t>Partitions the example space with perpendicular decision boundaries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1CF3987-665D-1DCD-3C14-9014D3D21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998" y="1205645"/>
            <a:ext cx="5867769" cy="427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42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7A8C-51EB-390C-0844-FBDD9D31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C4A6-F90E-01CE-1375-B5B07A89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Loss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02FA1-77F7-788E-84D2-60AB88BC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9AD46-D72C-DFB5-E1A3-A57555062E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6DF630-5B9B-3922-DC26-F57B4AB5DFFE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799ECE6-5161-EC1C-3D71-83F1691ECB9D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60671FB1-8759-6EAC-B71B-4635DEA1D098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18F39B4-6FF2-B28E-F984-4059D56606E8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2BF9A91-F75D-93C4-B31E-A8664A90CA1B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F54D9F9-AC18-D175-F23C-B4C3ED98EC59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DB103DC-92D0-9DFB-35DA-169217DF816D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115871E4-8CF4-189C-A530-E9A01AEC4638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955CA6E5-40E3-5CB9-49E5-7B13E2E42682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7F8E3BE1-B0E2-B88F-2BD0-6460947AEB70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4502ACD8-EEAB-C893-C3F6-E144E77A12E2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0C29006-6564-B728-5EBB-82B2F6A548A1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5B6A7ED9-84C5-386C-A5EE-ED7BC58B7331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4407158" y="2963472"/>
            <a:ext cx="3377691" cy="1007856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A6463F5E-1FA0-C407-398A-E3B9840FE413}"/>
              </a:ext>
            </a:extLst>
          </p:cNvPr>
          <p:cNvSpPr txBox="1">
            <a:spLocks/>
          </p:cNvSpPr>
          <p:nvPr/>
        </p:nvSpPr>
        <p:spPr>
          <a:xfrm>
            <a:off x="960120" y="2315795"/>
            <a:ext cx="3045611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A single number that scores how wrong our predictions are</a:t>
            </a:r>
          </a:p>
        </p:txBody>
      </p:sp>
    </p:spTree>
    <p:extLst>
      <p:ext uri="{BB962C8B-B14F-4D97-AF65-F5344CB8AC3E}">
        <p14:creationId xmlns:p14="http://schemas.microsoft.com/office/powerpoint/2010/main" val="544399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F9204-8E50-BFE5-0BA8-B4A68211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98AC-D9BC-5E8B-53F2-5F6E9ACB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Loss for 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4C2C-9493-0B31-10DE-919E59C9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E14EC-26D9-A05F-5E8C-1AFCC098E0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7D85BE0-992B-0195-54B3-B6BE64E97D71}"/>
              </a:ext>
            </a:extLst>
          </p:cNvPr>
          <p:cNvGrpSpPr/>
          <p:nvPr/>
        </p:nvGrpSpPr>
        <p:grpSpPr>
          <a:xfrm>
            <a:off x="548640" y="1831749"/>
            <a:ext cx="5975728" cy="3194502"/>
            <a:chOff x="3945442" y="1505267"/>
            <a:chExt cx="6209406" cy="3163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Placeholder 14">
                  <a:extLst>
                    <a:ext uri="{FF2B5EF4-FFF2-40B4-BE49-F238E27FC236}">
                      <a16:creationId xmlns:a16="http://schemas.microsoft.com/office/drawing/2014/main" id="{E209B596-D228-8077-B335-01B8E60B7F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45442" y="1505267"/>
                  <a:ext cx="4416733" cy="1592839"/>
                </a:xfrm>
                <a:prstGeom prst="rect">
                  <a:avLst/>
                </a:prstGeom>
              </p:spPr>
              <p:txBody>
                <a:bodyPr vert="horz" lIns="0" tIns="0" rIns="0" bIns="0" spcCol="365760" rtlCol="0" anchor="ctr">
                  <a:noAutofit/>
                </a:bodyPr>
                <a:lstStyle>
                  <a:lvl1pPr marL="0" indent="0" algn="l" defTabSz="914400" rtl="0" eaLnBrk="1" latinLnBrk="0" hangingPunct="1">
                    <a:lnSpc>
                      <a:spcPct val="95000"/>
                    </a:lnSpc>
                    <a:spcBef>
                      <a:spcPts val="0"/>
                    </a:spcBef>
                    <a:buFontTx/>
                    <a:buNone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182880" indent="-182880" algn="l" defTabSz="914400" rtl="0" eaLnBrk="1" latinLnBrk="0" hangingPunct="1">
                    <a:lnSpc>
                      <a:spcPct val="95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▪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36576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54864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73152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91440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09728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128016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146304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600" b="1" dirty="0">
                      <a:latin typeface="Roboto"/>
                      <a:ea typeface="Roboto"/>
                      <a:cs typeface="Roboto"/>
                    </a:rPr>
                    <a:t>Mean Squared Error for Linear Regression:</a:t>
                  </a:r>
                </a:p>
                <a:p>
                  <a:pPr algn="ctr"/>
                  <a:endParaRPr lang="en-US" sz="1600" b="1" dirty="0">
                    <a:latin typeface="Roboto"/>
                    <a:ea typeface="Roboto"/>
                    <a:cs typeface="Roboto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𝑳</m:t>
                        </m:r>
                        <m:d>
                          <m:d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=</m:t>
                        </m:r>
                        <m:f>
                          <m:f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</m:ctrlPr>
                          </m:fPr>
                          <m:num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i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=1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n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y</m:t>
                                    </m:r>
                                    <m: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̂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1600" b="1" dirty="0">
                    <a:latin typeface="Roboto"/>
                    <a:ea typeface="Roboto"/>
                    <a:cs typeface="Roboto"/>
                  </a:endParaRPr>
                </a:p>
              </p:txBody>
            </p:sp>
          </mc:Choice>
          <mc:Fallback xmlns="">
            <p:sp>
              <p:nvSpPr>
                <p:cNvPr id="21" name="Text Placeholder 14">
                  <a:extLst>
                    <a:ext uri="{FF2B5EF4-FFF2-40B4-BE49-F238E27FC236}">
                      <a16:creationId xmlns:a16="http://schemas.microsoft.com/office/drawing/2014/main" id="{E209B596-D228-8077-B335-01B8E60B7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5442" y="1505267"/>
                  <a:ext cx="4416733" cy="1592839"/>
                </a:xfrm>
                <a:prstGeom prst="rect">
                  <a:avLst/>
                </a:prstGeom>
                <a:blipFill>
                  <a:blip r:embed="rId3"/>
                  <a:stretch>
                    <a:fillRect t="-9524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5975C742-CF4F-0D45-3D38-D217D7890FE0}"/>
                </a:ext>
              </a:extLst>
            </p:cNvPr>
            <p:cNvCxnSpPr>
              <a:cxnSpLocks/>
            </p:cNvCxnSpPr>
            <p:nvPr/>
          </p:nvCxnSpPr>
          <p:spPr>
            <a:xfrm>
              <a:off x="5450623" y="2778066"/>
              <a:ext cx="1645920" cy="1624908"/>
            </a:xfrm>
            <a:prstGeom prst="bentConnector3">
              <a:avLst>
                <a:gd name="adj1" fmla="val 2222"/>
              </a:avLst>
            </a:prstGeom>
            <a:ln w="63500" cap="flat">
              <a:solidFill>
                <a:srgbClr val="00B0F0"/>
              </a:solidFill>
              <a:miter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70ABB79C-4CDA-B6D2-36CA-52E70A919ED1}"/>
                </a:ext>
              </a:extLst>
            </p:cNvPr>
            <p:cNvCxnSpPr>
              <a:cxnSpLocks/>
            </p:cNvCxnSpPr>
            <p:nvPr/>
          </p:nvCxnSpPr>
          <p:spPr>
            <a:xfrm>
              <a:off x="6831368" y="2694828"/>
              <a:ext cx="548640" cy="914405"/>
            </a:xfrm>
            <a:prstGeom prst="bentConnector3">
              <a:avLst>
                <a:gd name="adj1" fmla="val 0"/>
              </a:avLst>
            </a:prstGeom>
            <a:ln w="63500" cap="flat">
              <a:solidFill>
                <a:srgbClr val="00B0F0"/>
              </a:solidFill>
              <a:miter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  <p:sp>
          <p:nvSpPr>
            <p:cNvPr id="49" name="Content Placeholder 6">
              <a:extLst>
                <a:ext uri="{FF2B5EF4-FFF2-40B4-BE49-F238E27FC236}">
                  <a16:creationId xmlns:a16="http://schemas.microsoft.com/office/drawing/2014/main" id="{62F98E6D-8ECF-674A-86EB-5B12E851A1FD}"/>
                </a:ext>
              </a:extLst>
            </p:cNvPr>
            <p:cNvSpPr txBox="1">
              <a:spLocks/>
            </p:cNvSpPr>
            <p:nvPr/>
          </p:nvSpPr>
          <p:spPr>
            <a:xfrm>
              <a:off x="7277633" y="4136789"/>
              <a:ext cx="2648181" cy="532369"/>
            </a:xfrm>
            <a:prstGeom prst="rect">
              <a:avLst/>
            </a:prstGeom>
          </p:spPr>
          <p:txBody>
            <a:bodyPr vert="horz" lIns="0" tIns="0" rIns="0" bIns="0" spcCol="36576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000"/>
                </a:spcBef>
                <a:buFont typeface="Arial" panose="020B0604020202020204" pitchFamily="34" charset="0"/>
                <a:buChar char="▪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57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86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315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630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459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Current model parameters</a:t>
              </a:r>
            </a:p>
          </p:txBody>
        </p:sp>
        <p:sp>
          <p:nvSpPr>
            <p:cNvPr id="50" name="Content Placeholder 6">
              <a:extLst>
                <a:ext uri="{FF2B5EF4-FFF2-40B4-BE49-F238E27FC236}">
                  <a16:creationId xmlns:a16="http://schemas.microsoft.com/office/drawing/2014/main" id="{B41C425E-B5A7-F1AB-36D4-3212A448F1A1}"/>
                </a:ext>
              </a:extLst>
            </p:cNvPr>
            <p:cNvSpPr txBox="1">
              <a:spLocks/>
            </p:cNvSpPr>
            <p:nvPr/>
          </p:nvSpPr>
          <p:spPr>
            <a:xfrm>
              <a:off x="7506667" y="3340642"/>
              <a:ext cx="2648181" cy="532369"/>
            </a:xfrm>
            <a:prstGeom prst="rect">
              <a:avLst/>
            </a:prstGeom>
          </p:spPr>
          <p:txBody>
            <a:bodyPr vert="horz" lIns="0" tIns="0" rIns="0" bIns="0" spcCol="36576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000"/>
                </a:spcBef>
                <a:buFont typeface="Arial" panose="020B0604020202020204" pitchFamily="34" charset="0"/>
                <a:buChar char="▪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57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86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315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630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459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How far off are the predictions, on average?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4D9378A-A53A-43BC-82B9-4834C6B9883B}"/>
              </a:ext>
            </a:extLst>
          </p:cNvPr>
          <p:cNvSpPr txBox="1"/>
          <p:nvPr/>
        </p:nvSpPr>
        <p:spPr>
          <a:xfrm>
            <a:off x="6347791" y="33130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F69B8-8D8D-EEAE-F463-DBA36CCDE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273" y="2011241"/>
            <a:ext cx="4900141" cy="334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01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2798-BFC4-0EC1-ED18-43F7E174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1087-89F5-32B5-9BBF-077FDB19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Loss for 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4C013-1E5B-E082-0E82-B4D93C27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57964-C5AC-4E63-61C7-48CE5866DA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629DF3-BC47-A589-BFA4-32316DC20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94" y="1502633"/>
            <a:ext cx="10556210" cy="385273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94CA251-1806-DEE2-9DC3-96BA85221EFD}"/>
              </a:ext>
            </a:extLst>
          </p:cNvPr>
          <p:cNvSpPr txBox="1">
            <a:spLocks/>
          </p:cNvSpPr>
          <p:nvPr/>
        </p:nvSpPr>
        <p:spPr>
          <a:xfrm>
            <a:off x="3523421" y="5355367"/>
            <a:ext cx="5145156" cy="1049142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Which set of parameters is best?</a:t>
            </a:r>
          </a:p>
        </p:txBody>
      </p:sp>
    </p:spTree>
    <p:extLst>
      <p:ext uri="{BB962C8B-B14F-4D97-AF65-F5344CB8AC3E}">
        <p14:creationId xmlns:p14="http://schemas.microsoft.com/office/powerpoint/2010/main" val="2914034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390C-AFE5-554B-3DBC-92FEB1C8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72A2-D717-4FC9-5616-0894EA89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D847-EED5-0B4A-DE42-135F03A8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B0A02-6688-1D94-253F-8394DED700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417359-6DF6-E01B-989F-3AAC886B3DEB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FFFC13D-52F4-1FCE-DE6C-8D58A2AD7914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7913554F-F70F-B744-AD6B-435C88D9A1E7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7D51C9F-F12A-8F0E-ABF0-28DD38397EBF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50CE442-5D3C-64F7-2345-2E83FEA48414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3E426AC-D662-4093-1083-E3181FA6A878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B84F1BF-4E4D-F35C-3A99-122B4642615C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42CB4E6C-C327-782A-5706-90BD41597B9A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B0CF45A1-AD53-7881-D091-770BA7325181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D715DB1B-C5B0-9640-F5EE-22E253AFE3BA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EDB8EA83-3B29-643E-EFED-007736487681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CC924B6-AFCD-31FA-EB52-60898FA70AC9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B4EDA617-11E6-7138-B6A9-5DA3AE12C48E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4646142" y="2965622"/>
            <a:ext cx="3138707" cy="2011126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DDE54EBA-D78B-2848-4B7E-5F91723D9A1C}"/>
              </a:ext>
            </a:extLst>
          </p:cNvPr>
          <p:cNvSpPr txBox="1">
            <a:spLocks/>
          </p:cNvSpPr>
          <p:nvPr/>
        </p:nvSpPr>
        <p:spPr>
          <a:xfrm>
            <a:off x="0" y="2330417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How does one </a:t>
            </a:r>
            <a:r>
              <a:rPr lang="en-US" i="1" dirty="0"/>
              <a:t>train</a:t>
            </a:r>
            <a:r>
              <a:rPr lang="en-US" dirty="0"/>
              <a:t> a model?</a:t>
            </a:r>
          </a:p>
          <a:p>
            <a:pPr marL="0" indent="0" algn="ctr">
              <a:buNone/>
            </a:pPr>
            <a:r>
              <a:rPr lang="en-US" dirty="0"/>
              <a:t>Change the parameters to minimize the loss function.</a:t>
            </a:r>
          </a:p>
        </p:txBody>
      </p:sp>
    </p:spTree>
    <p:extLst>
      <p:ext uri="{BB962C8B-B14F-4D97-AF65-F5344CB8AC3E}">
        <p14:creationId xmlns:p14="http://schemas.microsoft.com/office/powerpoint/2010/main" val="2277918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3EE7-4988-FC91-9E6E-055EAA16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98C1-78AD-8F03-A5CF-9C34B5B6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training – Brute Force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7F2F-BC0B-B7B4-1794-04585D69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099FF-5619-9CF7-0E6E-DBD2957C2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7F1C695A-AAEF-D5A6-FF33-E5E07CF5A325}"/>
              </a:ext>
            </a:extLst>
          </p:cNvPr>
          <p:cNvSpPr txBox="1">
            <a:spLocks/>
          </p:cNvSpPr>
          <p:nvPr/>
        </p:nvSpPr>
        <p:spPr>
          <a:xfrm>
            <a:off x="751840" y="1505957"/>
            <a:ext cx="5344160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 dirty="0">
              <a:latin typeface="Roboto"/>
              <a:ea typeface="Roboto"/>
              <a:cs typeface="Roboto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EF9953-CC54-FC4D-962B-CB5A41545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861" y="1476140"/>
            <a:ext cx="4473243" cy="4473243"/>
          </a:xfrm>
          <a:prstGeom prst="rect">
            <a:avLst/>
          </a:prstGeom>
        </p:spPr>
      </p:pic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56D0AFD0-FE09-2109-E976-BC46C5390A68}"/>
              </a:ext>
            </a:extLst>
          </p:cNvPr>
          <p:cNvSpPr txBox="1">
            <a:spLocks/>
          </p:cNvSpPr>
          <p:nvPr/>
        </p:nvSpPr>
        <p:spPr>
          <a:xfrm>
            <a:off x="548640" y="2202191"/>
            <a:ext cx="6453808" cy="245361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way to estimate the optimal parameters is to calculate the loss function for every possible model parameter, then select the parameters where the loss function is smallest.</a:t>
            </a:r>
          </a:p>
        </p:txBody>
      </p:sp>
    </p:spTree>
    <p:extLst>
      <p:ext uri="{BB962C8B-B14F-4D97-AF65-F5344CB8AC3E}">
        <p14:creationId xmlns:p14="http://schemas.microsoft.com/office/powerpoint/2010/main" val="3864648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735B-EC46-D5C1-A2A4-3CE37F5B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4BF5-2E55-179B-44CD-618F3607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training – Gradient descent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76B74-B114-0AD1-6897-2602B6EC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333B2-A480-E6A1-9287-9740F0E63A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F2C64B-C341-C3D2-2FF9-CF1F3C059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9" y="2064756"/>
            <a:ext cx="4912360" cy="3713744"/>
          </a:xfrm>
          <a:prstGeom prst="rect">
            <a:avLst/>
          </a:prstGeom>
        </p:spPr>
      </p:pic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812D544-D8A1-4C16-B66F-38BD0F80F3FC}"/>
              </a:ext>
            </a:extLst>
          </p:cNvPr>
          <p:cNvSpPr txBox="1">
            <a:spLocks/>
          </p:cNvSpPr>
          <p:nvPr/>
        </p:nvSpPr>
        <p:spPr>
          <a:xfrm>
            <a:off x="6228522" y="2491212"/>
            <a:ext cx="5526598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Brute Force</a:t>
            </a:r>
            <a:r>
              <a:rPr lang="en-US" sz="1700" dirty="0">
                <a:ea typeface="Roboto"/>
                <a:cs typeface="Roboto"/>
              </a:rPr>
              <a:t>: Try every combination of parameters</a:t>
            </a:r>
          </a:p>
          <a:p>
            <a:pPr lvl="2"/>
            <a:r>
              <a:rPr lang="en-US" dirty="0">
                <a:ea typeface="Roboto"/>
                <a:cs typeface="Roboto"/>
              </a:rPr>
              <a:t>Very computationally expensive</a:t>
            </a:r>
          </a:p>
          <a:p>
            <a:pPr lvl="2"/>
            <a:endParaRPr lang="en-US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Exact</a:t>
            </a:r>
            <a:r>
              <a:rPr lang="en-US" sz="1700" dirty="0">
                <a:ea typeface="Roboto"/>
                <a:cs typeface="Roboto"/>
              </a:rPr>
              <a:t>: Solve the loss function analytically</a:t>
            </a:r>
          </a:p>
          <a:p>
            <a:pPr lvl="2"/>
            <a:r>
              <a:rPr lang="en-US" dirty="0">
                <a:ea typeface="Roboto"/>
                <a:cs typeface="Roboto"/>
              </a:rPr>
              <a:t>Impossible to solve for many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Greedy Algorithm</a:t>
            </a:r>
            <a:r>
              <a:rPr lang="en-US" sz="1700" dirty="0">
                <a:ea typeface="Roboto"/>
                <a:cs typeface="Roboto"/>
              </a:rPr>
              <a:t>: Gradient Descent</a:t>
            </a:r>
          </a:p>
          <a:p>
            <a:pPr lvl="2"/>
            <a:r>
              <a:rPr lang="en-US" dirty="0">
                <a:ea typeface="Roboto"/>
                <a:cs typeface="Roboto"/>
              </a:rPr>
              <a:t>Not a guaranteed optimum, but works well in practice</a:t>
            </a:r>
          </a:p>
        </p:txBody>
      </p:sp>
    </p:spTree>
    <p:extLst>
      <p:ext uri="{BB962C8B-B14F-4D97-AF65-F5344CB8AC3E}">
        <p14:creationId xmlns:p14="http://schemas.microsoft.com/office/powerpoint/2010/main" val="1675313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7F3B2-3911-620B-43CB-97B49A8A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955F-2368-6BE2-5B3D-B56A0FED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Parameters vs hyperparameters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BC12-AB37-3E04-0D1F-439E2BE5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DE1FF-ECF5-C2E0-8701-B58B3A104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14">
                <a:extLst>
                  <a:ext uri="{FF2B5EF4-FFF2-40B4-BE49-F238E27FC236}">
                    <a16:creationId xmlns:a16="http://schemas.microsoft.com/office/drawing/2014/main" id="{93EE6A65-A82B-B1A8-5128-5D6F9607ED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6881" y="775055"/>
                <a:ext cx="5526598" cy="2860831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0" indent="0" algn="l" defTabSz="914400" rtl="0" eaLnBrk="1" latinLnBrk="0" hangingPunct="1">
                  <a:lnSpc>
                    <a:spcPct val="95000"/>
                  </a:lnSpc>
                  <a:spcBef>
                    <a:spcPts val="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700" b="1" dirty="0">
                    <a:ea typeface="Roboto"/>
                    <a:cs typeface="Roboto"/>
                  </a:rPr>
                  <a:t>Parameters: </a:t>
                </a:r>
                <a:r>
                  <a:rPr lang="en-US" sz="1700" dirty="0">
                    <a:ea typeface="Roboto"/>
                    <a:cs typeface="Roboto"/>
                  </a:rPr>
                  <a:t>Training finds these: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700" dirty="0">
                    <a:ea typeface="Roboto"/>
                    <a:cs typeface="Roboto"/>
                  </a:rPr>
                  <a:t>Linear regression: the weights</a:t>
                </a:r>
                <a:r>
                  <a:rPr lang="en-US" sz="1800" dirty="0">
                    <a:ea typeface="Roboto"/>
                    <a:cs typeface="Roboto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𝛽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0</m:t>
                        </m:r>
                      </m:sub>
                    </m:sSub>
                    <m:r>
                      <a:rPr lang="en-US" sz="1800" b="0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,</m:t>
                    </m:r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𝛽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>
                  <a:ea typeface="Roboto"/>
                  <a:cs typeface="Roboto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sz="1700" dirty="0">
                    <a:ea typeface="Roboto"/>
                    <a:cs typeface="Roboto"/>
                  </a:rPr>
                  <a:t>Decision tree: each split </a:t>
                </a:r>
              </a:p>
            </p:txBody>
          </p:sp>
        </mc:Choice>
        <mc:Fallback xmlns="">
          <p:sp>
            <p:nvSpPr>
              <p:cNvPr id="6" name="Text Placeholder 14">
                <a:extLst>
                  <a:ext uri="{FF2B5EF4-FFF2-40B4-BE49-F238E27FC236}">
                    <a16:creationId xmlns:a16="http://schemas.microsoft.com/office/drawing/2014/main" id="{93EE6A65-A82B-B1A8-5128-5D6F9607E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1" y="775055"/>
                <a:ext cx="5526598" cy="2860831"/>
              </a:xfrm>
              <a:prstGeom prst="rect">
                <a:avLst/>
              </a:prstGeom>
              <a:blipFill>
                <a:blip r:embed="rId2"/>
                <a:stretch>
                  <a:fillRect l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2B9C508-DE7A-C5C8-0BD0-75CBC4FBDE40}"/>
              </a:ext>
            </a:extLst>
          </p:cNvPr>
          <p:cNvSpPr txBox="1">
            <a:spLocks/>
          </p:cNvSpPr>
          <p:nvPr/>
        </p:nvSpPr>
        <p:spPr>
          <a:xfrm>
            <a:off x="436881" y="2418325"/>
            <a:ext cx="6520070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Hyperparameters: </a:t>
            </a:r>
            <a:r>
              <a:rPr lang="en-US" sz="1700" dirty="0">
                <a:ea typeface="Roboto"/>
                <a:cs typeface="Roboto"/>
              </a:rPr>
              <a:t>User sets these </a:t>
            </a:r>
            <a:r>
              <a:rPr lang="en-US" sz="1700" b="1" dirty="0">
                <a:ea typeface="Roboto"/>
                <a:cs typeface="Roboto"/>
              </a:rPr>
              <a:t>before</a:t>
            </a:r>
            <a:r>
              <a:rPr lang="en-US" sz="1700" dirty="0">
                <a:ea typeface="Roboto"/>
                <a:cs typeface="Roboto"/>
              </a:rPr>
              <a:t> training:</a:t>
            </a:r>
          </a:p>
          <a:p>
            <a:pPr marL="285750" indent="-285750">
              <a:buFontTx/>
              <a:buChar char="-"/>
            </a:pPr>
            <a:r>
              <a:rPr lang="en-US" sz="1700" dirty="0">
                <a:ea typeface="Roboto"/>
                <a:cs typeface="Roboto"/>
              </a:rPr>
              <a:t>Linear regression: regularization strength, learning rate</a:t>
            </a:r>
            <a:endParaRPr lang="en-US" sz="1800" dirty="0">
              <a:ea typeface="Roboto"/>
              <a:cs typeface="Roboto"/>
            </a:endParaRPr>
          </a:p>
          <a:p>
            <a:pPr marL="285750" indent="-285750">
              <a:buFontTx/>
              <a:buChar char="-"/>
            </a:pPr>
            <a:r>
              <a:rPr lang="en-US" sz="1700" dirty="0">
                <a:ea typeface="Roboto"/>
                <a:cs typeface="Roboto"/>
              </a:rPr>
              <a:t>Decision tree: maximum depth, minimum samples per leaf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6FE19A-C0A0-DA9B-3A0C-7BA9E4E0F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134" y="1382796"/>
            <a:ext cx="4506180" cy="4506180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96E6AD4-4D2F-EA96-44E6-1CDE6C4311C0}"/>
              </a:ext>
            </a:extLst>
          </p:cNvPr>
          <p:cNvSpPr txBox="1">
            <a:spLocks/>
          </p:cNvSpPr>
          <p:nvPr/>
        </p:nvSpPr>
        <p:spPr>
          <a:xfrm>
            <a:off x="1944646" y="5348274"/>
            <a:ext cx="8302708" cy="1281126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If training picks the best parameters, how do you select the best hyperparameters? </a:t>
            </a:r>
          </a:p>
        </p:txBody>
      </p:sp>
    </p:spTree>
    <p:extLst>
      <p:ext uri="{BB962C8B-B14F-4D97-AF65-F5344CB8AC3E}">
        <p14:creationId xmlns:p14="http://schemas.microsoft.com/office/powerpoint/2010/main" val="1213834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E0AB-090F-5319-EB05-B5E3B66D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1A62-AA7A-32BB-44CA-D8A2AD0B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E5F9-565B-8C43-1CFD-3D26C48E5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7AD1E-2A39-0262-FD7D-93C61767F2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00D06D-4D25-CD9E-2FB8-4E43BF3516E1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00AA4CC-B4DE-B14C-C30F-209059A67EE6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F0DF8A12-CC75-D1A4-6337-EB8F74370A62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1171A96-7647-106A-0ABE-37432BF43D48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23D770C-98FA-9560-E34E-34BCF2790622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BC8B719-B570-FE1D-1888-3612F6030D5A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96BF642-4AFD-B49B-0876-7E04FDF42ACA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E375285F-4978-91D3-DE72-D214BF54FD77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3A2258F6-3624-6644-586F-D3C826464782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9C78D049-5771-7812-144D-1E590E52F5F1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E64780CE-2FE6-0167-9240-DD61A5DA27F8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2C8E28F-5BA7-4F56-D725-D18EAB244BD2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DC58E68B-FC25-5373-FCA0-C4B8BFFD4A50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4407166" y="2963472"/>
            <a:ext cx="3385349" cy="3002108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5C29D7F5-C90E-888C-6E78-88D1E82A5AB7}"/>
              </a:ext>
            </a:extLst>
          </p:cNvPr>
          <p:cNvSpPr txBox="1">
            <a:spLocks/>
          </p:cNvSpPr>
          <p:nvPr/>
        </p:nvSpPr>
        <p:spPr>
          <a:xfrm>
            <a:off x="0" y="2330417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Select the best hyperparameters.</a:t>
            </a:r>
          </a:p>
          <a:p>
            <a:pPr marL="0" indent="0" algn="ctr">
              <a:buNone/>
            </a:pPr>
            <a:r>
              <a:rPr lang="en-US" dirty="0"/>
              <a:t>Select the best candidate model.</a:t>
            </a:r>
          </a:p>
          <a:p>
            <a:pPr marL="0" indent="0" algn="ctr">
              <a:buNone/>
            </a:pPr>
            <a:r>
              <a:rPr lang="en-US" dirty="0"/>
              <a:t>Estimate true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51456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232B-03C1-4177-C76E-9DFCB5BE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4F6F6-1445-BCE7-7ED7-330CC460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Train / Validation / test split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7C2F6-1708-02AD-81D1-149F08C8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6BB2B-B945-0015-CDF7-BDAAA23B77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BBA37DC-E71C-66B4-6C0D-16AFA26AAFA0}"/>
              </a:ext>
            </a:extLst>
          </p:cNvPr>
          <p:cNvSpPr txBox="1">
            <a:spLocks/>
          </p:cNvSpPr>
          <p:nvPr/>
        </p:nvSpPr>
        <p:spPr>
          <a:xfrm>
            <a:off x="547686" y="2068031"/>
            <a:ext cx="6136197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1700" b="1" dirty="0">
                <a:ea typeface="Roboto"/>
                <a:cs typeface="Roboto"/>
              </a:rPr>
              <a:t>Split Data: </a:t>
            </a:r>
            <a:r>
              <a:rPr lang="en-US" sz="1700" dirty="0">
                <a:ea typeface="Roboto"/>
                <a:cs typeface="Roboto"/>
              </a:rPr>
              <a:t>Divide dataset into training, validation, and test.</a:t>
            </a:r>
          </a:p>
          <a:p>
            <a:pPr lvl="2" indent="0">
              <a:buNone/>
            </a:pPr>
            <a:r>
              <a:rPr lang="en-US" dirty="0">
                <a:ea typeface="Roboto"/>
                <a:cs typeface="Roboto"/>
              </a:rPr>
              <a:t>Training Set – Used to fit the model parameters</a:t>
            </a:r>
          </a:p>
          <a:p>
            <a:pPr lvl="2" indent="0">
              <a:buNone/>
            </a:pPr>
            <a:r>
              <a:rPr lang="en-US" dirty="0">
                <a:ea typeface="Roboto"/>
                <a:cs typeface="Roboto"/>
              </a:rPr>
              <a:t>Validation Set – Used to choose the hyperparameters</a:t>
            </a:r>
          </a:p>
          <a:p>
            <a:pPr lvl="2" indent="0">
              <a:buNone/>
            </a:pPr>
            <a:r>
              <a:rPr lang="en-US" dirty="0">
                <a:ea typeface="Roboto"/>
                <a:cs typeface="Roboto"/>
              </a:rPr>
              <a:t>Test Set – Held out until the very end to provide an unbiased estimate of generalization performance.</a:t>
            </a:r>
          </a:p>
          <a:p>
            <a:pPr lvl="2" indent="0">
              <a:buNone/>
            </a:pPr>
            <a:endParaRPr lang="en-US" dirty="0">
              <a:ea typeface="Roboto"/>
              <a:cs typeface="Roboto"/>
            </a:endParaRPr>
          </a:p>
          <a:p>
            <a:pPr marL="342900" indent="-342900">
              <a:buAutoNum type="arabicPeriod"/>
            </a:pPr>
            <a:r>
              <a:rPr lang="en-US" sz="1700" b="1" dirty="0">
                <a:ea typeface="Roboto"/>
                <a:cs typeface="Roboto"/>
              </a:rPr>
              <a:t>Model Selection: </a:t>
            </a:r>
            <a:r>
              <a:rPr lang="en-US" sz="1700" dirty="0">
                <a:ea typeface="Roboto"/>
                <a:cs typeface="Roboto"/>
              </a:rPr>
              <a:t>Multiple candidate algorithms are compared based on performance metrics.</a:t>
            </a:r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5D5B64F-9D2B-94BD-5120-305AFF1FF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83" y="2041692"/>
            <a:ext cx="5150749" cy="277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41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9FFCD-48F9-8CCE-7F67-4DA7ACC9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C0F5-4457-8AF1-3EDB-FFB62298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Underfitting vs overfitting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BC477-49BC-C8CD-E8B5-12F27598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FD7FB-E2F1-DF23-2012-3C85415716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3" name="Google Shape;166;g34533193377_0_310">
            <a:extLst>
              <a:ext uri="{FF2B5EF4-FFF2-40B4-BE49-F238E27FC236}">
                <a16:creationId xmlns:a16="http://schemas.microsoft.com/office/drawing/2014/main" id="{DF69507A-9B45-6C97-6435-F16AF31D62E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4115" y="1436215"/>
            <a:ext cx="8923770" cy="3985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868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9DAD-5E1A-699B-079C-269D53FB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4670-132D-7828-764C-27F9BA5F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EA3C4-B8B3-75C2-8D2F-23720A2D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9422B-B787-7C8B-3673-3A9F3E8655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26766C3-2ABF-AC7C-510C-1E7F5CCD7374}"/>
              </a:ext>
            </a:extLst>
          </p:cNvPr>
          <p:cNvSpPr txBox="1">
            <a:spLocks/>
          </p:cNvSpPr>
          <p:nvPr/>
        </p:nvSpPr>
        <p:spPr>
          <a:xfrm>
            <a:off x="548640" y="1062967"/>
            <a:ext cx="10796175" cy="720114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Evaluate Model Performance</a:t>
            </a:r>
            <a:r>
              <a:rPr lang="en-US" sz="1700" dirty="0">
                <a:ea typeface="Roboto"/>
                <a:cs typeface="Roboto"/>
              </a:rPr>
              <a:t> on the test set</a:t>
            </a:r>
            <a:r>
              <a:rPr lang="en-US" sz="1700" b="1" dirty="0">
                <a:ea typeface="Roboto"/>
                <a:cs typeface="Roboto"/>
              </a:rPr>
              <a:t> </a:t>
            </a:r>
            <a:r>
              <a:rPr lang="en-US" sz="1700" dirty="0">
                <a:ea typeface="Roboto"/>
                <a:cs typeface="Roboto"/>
              </a:rPr>
              <a:t>to estimate true generalization error: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BDC225F-69F3-8122-BC86-DF94DB127EEA}"/>
              </a:ext>
            </a:extLst>
          </p:cNvPr>
          <p:cNvSpPr txBox="1">
            <a:spLocks/>
          </p:cNvSpPr>
          <p:nvPr/>
        </p:nvSpPr>
        <p:spPr>
          <a:xfrm>
            <a:off x="548640" y="2100263"/>
            <a:ext cx="5547360" cy="4346256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Classification Metrics: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b="1" dirty="0">
                <a:ea typeface="Roboto"/>
                <a:cs typeface="Roboto"/>
              </a:rPr>
              <a:t>Accuracy – </a:t>
            </a:r>
            <a:r>
              <a:rPr lang="en-US" sz="1700" dirty="0">
                <a:ea typeface="Roboto"/>
                <a:cs typeface="Roboto"/>
              </a:rPr>
              <a:t>Proportion of correct predictions out of all predictions.</a:t>
            </a:r>
          </a:p>
          <a:p>
            <a:r>
              <a:rPr lang="en-US" sz="1700" b="1" dirty="0">
                <a:ea typeface="Roboto"/>
                <a:cs typeface="Roboto"/>
              </a:rPr>
              <a:t>Precision </a:t>
            </a:r>
            <a:r>
              <a:rPr lang="en-US" sz="1700" dirty="0">
                <a:ea typeface="Roboto"/>
                <a:cs typeface="Roboto"/>
              </a:rPr>
              <a:t>– Proportion of positive predictions that were actually positive.</a:t>
            </a:r>
          </a:p>
          <a:p>
            <a:r>
              <a:rPr lang="en-US" sz="1700" b="1" dirty="0">
                <a:ea typeface="Roboto"/>
                <a:cs typeface="Roboto"/>
              </a:rPr>
              <a:t>Recall </a:t>
            </a:r>
            <a:r>
              <a:rPr lang="en-US" sz="1700" dirty="0">
                <a:ea typeface="Roboto"/>
                <a:cs typeface="Roboto"/>
              </a:rPr>
              <a:t>– Proportion of positives correctly identified.</a:t>
            </a:r>
          </a:p>
          <a:p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A3955D-ACD5-E4B7-4D59-A948002F7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57" y="3993542"/>
            <a:ext cx="3901681" cy="2252951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0A9ED8D-F265-A11F-6E65-6FB89C79974E}"/>
              </a:ext>
            </a:extLst>
          </p:cNvPr>
          <p:cNvSpPr txBox="1">
            <a:spLocks/>
          </p:cNvSpPr>
          <p:nvPr/>
        </p:nvSpPr>
        <p:spPr>
          <a:xfrm>
            <a:off x="6096000" y="2100263"/>
            <a:ext cx="5547360" cy="4346256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Regression Metrics: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b="1" dirty="0">
                <a:ea typeface="Roboto"/>
                <a:cs typeface="Roboto"/>
              </a:rPr>
              <a:t>MSE </a:t>
            </a:r>
            <a:r>
              <a:rPr lang="en-US" sz="1700" dirty="0">
                <a:ea typeface="Roboto"/>
                <a:cs typeface="Roboto"/>
              </a:rPr>
              <a:t>– Mean squared difference between predicted and actual values.</a:t>
            </a:r>
          </a:p>
          <a:p>
            <a:r>
              <a:rPr lang="en-US" sz="1700" b="1" dirty="0">
                <a:ea typeface="Roboto"/>
                <a:cs typeface="Roboto"/>
              </a:rPr>
              <a:t>R2 </a:t>
            </a:r>
            <a:r>
              <a:rPr lang="en-US" sz="1700" dirty="0">
                <a:ea typeface="Roboto"/>
                <a:cs typeface="Roboto"/>
              </a:rPr>
              <a:t>– Proportion of variance in the target explained by the model.</a:t>
            </a:r>
          </a:p>
          <a:p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6A37F9-21A4-F74D-2409-939804705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42" y="3716742"/>
            <a:ext cx="2860675" cy="282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931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B4A3-FCA3-2948-8CDF-0A89B26D0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72A-7F24-A10F-C699-45CB70C5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2575F-EFC6-488B-D88F-79F3F609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12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C9670-7FD7-B3CA-63A2-35A3B76C31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8BF6BAC-9835-F3FD-72D5-CEDE29D63B4F}"/>
              </a:ext>
            </a:extLst>
          </p:cNvPr>
          <p:cNvSpPr txBox="1">
            <a:spLocks/>
          </p:cNvSpPr>
          <p:nvPr/>
        </p:nvSpPr>
        <p:spPr>
          <a:xfrm>
            <a:off x="548640" y="1294697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fraud detection dataset contains 99% normal transactions and 1% fraudulent transactions.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You create a “dumb” model that predicts every single transaction is normal.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What is the accuracy of the model, and is this good?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78F09FE-AE1C-CF82-3CDB-2A878292ED85}"/>
              </a:ext>
            </a:extLst>
          </p:cNvPr>
          <p:cNvSpPr txBox="1">
            <a:spLocks/>
          </p:cNvSpPr>
          <p:nvPr/>
        </p:nvSpPr>
        <p:spPr>
          <a:xfrm>
            <a:off x="4404360" y="1294697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medical team creates a machine learning model to predict cancer diagnosis in patients.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It is critical that you catch every actual case of cancer. It is okay to flag healthy patients, but missing a sick patient is dangerous.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What metric should you prioritize?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FE6898A-F588-9167-F39A-9966CBB7F0CC}"/>
              </a:ext>
            </a:extLst>
          </p:cNvPr>
          <p:cNvSpPr txBox="1">
            <a:spLocks/>
          </p:cNvSpPr>
          <p:nvPr/>
        </p:nvSpPr>
        <p:spPr>
          <a:xfrm>
            <a:off x="8260080" y="1294697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video recommendation algorithm must only show safe videos to children.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It is okay to miss some safe videos, but showing unsafe content is unacceptable.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What metric should you prioritize?</a:t>
            </a:r>
          </a:p>
        </p:txBody>
      </p:sp>
    </p:spTree>
    <p:extLst>
      <p:ext uri="{BB962C8B-B14F-4D97-AF65-F5344CB8AC3E}">
        <p14:creationId xmlns:p14="http://schemas.microsoft.com/office/powerpoint/2010/main" val="179992584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5724</TotalTime>
  <Words>1254</Words>
  <Application>Microsoft Office PowerPoint</Application>
  <PresentationFormat>Widescreen</PresentationFormat>
  <Paragraphs>298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Arial Bold</vt:lpstr>
      <vt:lpstr>Cambria Math</vt:lpstr>
      <vt:lpstr>Roboto</vt:lpstr>
      <vt:lpstr>US Army 2023 AFC DEVCOM Logo</vt:lpstr>
      <vt:lpstr>Artificial Intelligence</vt:lpstr>
      <vt:lpstr>AI – current events</vt:lpstr>
      <vt:lpstr>AI – current events</vt:lpstr>
      <vt:lpstr>AI – Potential and biases</vt:lpstr>
      <vt:lpstr>Lesson objectives</vt:lpstr>
      <vt:lpstr>What is machine learning?</vt:lpstr>
      <vt:lpstr>flavors of Machine learning</vt:lpstr>
      <vt:lpstr>flavors of Machine learning</vt:lpstr>
      <vt:lpstr>Exercise</vt:lpstr>
      <vt:lpstr>supervised learning building blocks</vt:lpstr>
      <vt:lpstr>Response vs predictor variables</vt:lpstr>
      <vt:lpstr>Response vs Predictor variables</vt:lpstr>
      <vt:lpstr>Feature engineering</vt:lpstr>
      <vt:lpstr>Model selection</vt:lpstr>
      <vt:lpstr>Model selection</vt:lpstr>
      <vt:lpstr>Exercise</vt:lpstr>
      <vt:lpstr>Linear regression</vt:lpstr>
      <vt:lpstr>logistic regression</vt:lpstr>
      <vt:lpstr>Decision tree</vt:lpstr>
      <vt:lpstr>Loss function</vt:lpstr>
      <vt:lpstr>Loss for Linear Regression</vt:lpstr>
      <vt:lpstr>Loss for Linear Regression</vt:lpstr>
      <vt:lpstr>Model training</vt:lpstr>
      <vt:lpstr>Model training – Brute Force</vt:lpstr>
      <vt:lpstr>Model training – Gradient descent</vt:lpstr>
      <vt:lpstr>Parameters vs hyperparameters</vt:lpstr>
      <vt:lpstr>evaluation</vt:lpstr>
      <vt:lpstr>Train / Validation / test split</vt:lpstr>
      <vt:lpstr>Underfitting vs overfitting</vt:lpstr>
      <vt:lpstr>metrics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Robert Haenze</cp:lastModifiedBy>
  <cp:revision>54</cp:revision>
  <cp:lastPrinted>2026-05-22T21:01:52Z</cp:lastPrinted>
  <dcterms:created xsi:type="dcterms:W3CDTF">2024-10-01T14:45:26Z</dcterms:created>
  <dcterms:modified xsi:type="dcterms:W3CDTF">2026-08-12T17:09:08Z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