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
  </p:notesMasterIdLst>
  <p:sldIdLst>
    <p:sldId id="256" r:id="rId2"/>
    <p:sldId id="257" r:id="rId3"/>
    <p:sldId id="258" r:id="rId4"/>
  </p:sldIdLst>
  <p:sldSz cx="9144000" cy="5143500" type="screen16x9"/>
  <p:notesSz cx="6858000" cy="9144000"/>
  <p:embeddedFontLst>
    <p:embeddedFont>
      <p:font typeface="Proxima Nova" panose="020B0604020202020204" charset="0"/>
      <p:regular r:id="rId6"/>
      <p:bold r:id="rId7"/>
      <p:italic r:id="rId8"/>
      <p:boldItalic r:id="rId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576" autoAdjust="0"/>
  </p:normalViewPr>
  <p:slideViewPr>
    <p:cSldViewPr snapToGrid="0">
      <p:cViewPr varScale="1">
        <p:scale>
          <a:sx n="94" d="100"/>
          <a:sy n="94" d="100"/>
        </p:scale>
        <p:origin x="1138"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viewProps" Target="viewProps.xml"/><Relationship Id="rId5" Type="http://schemas.openxmlformats.org/officeDocument/2006/relationships/notesMaster" Target="notesMasters/notesMaster1.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737ac35431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737ac35431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737ac35431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737ac35431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Curl IP address </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2"/>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2" name="Google Shape;12;p2"/>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6" name="Google Shape;16;p3"/>
          <p:cNvSpPr txBox="1">
            <a:spLocks noGrp="1"/>
          </p:cNvSpPr>
          <p:nvPr>
            <p:ph type="title"/>
          </p:nvPr>
        </p:nvSpPr>
        <p:spPr>
          <a:xfrm>
            <a:off x="510450" y="2057400"/>
            <a:ext cx="8123100" cy="77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7" name="Google Shape;17;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2" name="Google Shape;22;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5" name="Google Shape;25;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Google Shape;30;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3" name="Google Shape;33;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7" name="Google Shape;3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 name="Google Shape;40;p9"/>
          <p:cNvCxnSpPr/>
          <p:nvPr/>
        </p:nvCxnSpPr>
        <p:spPr>
          <a:xfrm>
            <a:off x="5029675" y="4495500"/>
            <a:ext cx="468300" cy="0"/>
          </a:xfrm>
          <a:prstGeom prst="straightConnector1">
            <a:avLst/>
          </a:prstGeom>
          <a:noFill/>
          <a:ln w="19050" cap="flat" cmpd="sng">
            <a:solidFill>
              <a:schemeClr val="lt2"/>
            </a:solidFill>
            <a:prstDash val="solid"/>
            <a:round/>
            <a:headEnd type="none" w="sm" len="sm"/>
            <a:tailEnd type="none" w="sm" len="sm"/>
          </a:ln>
        </p:spPr>
      </p:cxnSp>
      <p:sp>
        <p:nvSpPr>
          <p:cNvPr id="41" name="Google Shape;41;p9"/>
          <p:cNvSpPr txBox="1">
            <a:spLocks noGrp="1"/>
          </p:cNvSpPr>
          <p:nvPr>
            <p:ph type="title"/>
          </p:nvPr>
        </p:nvSpPr>
        <p:spPr>
          <a:xfrm>
            <a:off x="265500" y="1205825"/>
            <a:ext cx="4045200" cy="1509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1700" y="42368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1"/>
          <p:cNvSpPr txBox="1">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071300"/>
            <a:ext cx="8520600" cy="901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armin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Cohort 6 Small Project</a:t>
            </a:r>
            <a:endParaRPr/>
          </a:p>
        </p:txBody>
      </p:sp>
      <p:sp>
        <p:nvSpPr>
          <p:cNvPr id="60" name="Google Shape;60;p13"/>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URGENT — Incoming Message</a:t>
            </a:r>
            <a:endParaRPr/>
          </a:p>
        </p:txBody>
      </p:sp>
      <p:sp>
        <p:nvSpPr>
          <p:cNvPr id="66" name="Google Shape;66;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40000" lnSpcReduction="10000"/>
          </a:bodyPr>
          <a:lstStyle/>
          <a:p>
            <a:pPr marL="0" lvl="0" indent="0" algn="l" rtl="0">
              <a:spcBef>
                <a:spcPts val="0"/>
              </a:spcBef>
              <a:spcAft>
                <a:spcPts val="0"/>
              </a:spcAft>
              <a:buNone/>
            </a:pPr>
            <a:r>
              <a:rPr lang="en" sz="4600"/>
              <a:t>🧭 Mission Briefing: Mars Colonist Systems — Mission Control Online</a:t>
            </a:r>
            <a:endParaRPr sz="4600"/>
          </a:p>
          <a:p>
            <a:pPr marL="0" lvl="0" indent="0" algn="l" rtl="0">
              <a:spcBef>
                <a:spcPts val="1200"/>
              </a:spcBef>
              <a:spcAft>
                <a:spcPts val="0"/>
              </a:spcAft>
              <a:buNone/>
            </a:pPr>
            <a:r>
              <a:rPr lang="en" sz="4600"/>
              <a:t>Transmission Received: 07:41 MST / Sol 147</a:t>
            </a:r>
            <a:endParaRPr sz="4600"/>
          </a:p>
          <a:p>
            <a:pPr marL="0" lvl="0" indent="0" algn="l" rtl="0">
              <a:spcBef>
                <a:spcPts val="1200"/>
              </a:spcBef>
              <a:spcAft>
                <a:spcPts val="0"/>
              </a:spcAft>
              <a:buNone/>
            </a:pPr>
            <a:r>
              <a:rPr lang="en" sz="4600"/>
              <a:t>Source: Central Mars Orbital Relay</a:t>
            </a:r>
            <a:endParaRPr sz="4600"/>
          </a:p>
          <a:p>
            <a:pPr marL="0" lvl="0" indent="0" algn="l" rtl="0">
              <a:spcBef>
                <a:spcPts val="1200"/>
              </a:spcBef>
              <a:spcAft>
                <a:spcPts val="0"/>
              </a:spcAft>
              <a:buNone/>
            </a:pPr>
            <a:r>
              <a:rPr lang="en" sz="4600"/>
              <a:t>To: Chief Engineer [TEAM: Nova Six]</a:t>
            </a:r>
            <a:endParaRPr sz="4600"/>
          </a:p>
          <a:p>
            <a:pPr marL="0" lvl="0" indent="0" algn="l" rtl="0">
              <a:spcBef>
                <a:spcPts val="1200"/>
              </a:spcBef>
              <a:spcAft>
                <a:spcPts val="0"/>
              </a:spcAft>
              <a:buNone/>
            </a:pPr>
            <a:r>
              <a:rPr lang="en" sz="4600"/>
              <a:t>Priority: ALPHA — System Restore Protocol</a:t>
            </a:r>
            <a:endParaRPr sz="4600"/>
          </a:p>
          <a:p>
            <a:pPr marL="0" lvl="0" indent="0" algn="l" rtl="0">
              <a:spcBef>
                <a:spcPts val="1200"/>
              </a:spcBef>
              <a:spcAft>
                <a:spcPts val="0"/>
              </a:spcAft>
              <a:buNone/>
            </a:pPr>
            <a:r>
              <a:rPr lang="en" sz="4600"/>
              <a:t>Commander Goulding – Mars Base One Operations Chief</a:t>
            </a:r>
            <a:endParaRPr sz="4600"/>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body" idx="1"/>
          </p:nvPr>
        </p:nvSpPr>
        <p:spPr>
          <a:xfrm>
            <a:off x="44275" y="-95925"/>
            <a:ext cx="8966100" cy="496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358"/>
              <a:buNone/>
            </a:pPr>
            <a:r>
              <a:rPr lang="en" sz="1147" b="1" dirty="0"/>
              <a:t>“</a:t>
            </a:r>
            <a:r>
              <a:rPr lang="en" sz="1277" b="1" dirty="0"/>
              <a:t>Chief Engineer — you're receiving this message because you ranked top in systems diagnostics during pre-deployment training. We need that expertise now. Three sols ago, an unexpected solar flare—classified X9.3—hit the upper atmosphere, causing a cascading failure in Base One’s remote operations stack. Our telemetry systems, environmental monitors, and autonomous rover schedulers all went dark.</a:t>
            </a:r>
            <a:endParaRPr sz="1277" b="1" dirty="0"/>
          </a:p>
          <a:p>
            <a:pPr marL="0" lvl="0" indent="0" algn="l" rtl="0">
              <a:spcBef>
                <a:spcPts val="1200"/>
              </a:spcBef>
              <a:spcAft>
                <a:spcPts val="0"/>
              </a:spcAft>
              <a:buSzPts val="358"/>
              <a:buNone/>
            </a:pPr>
            <a:r>
              <a:rPr lang="en" sz="1277" b="1" dirty="0"/>
              <a:t>We’ve managed to bring emergency power online, but mission control remains offline. We have less than 72 hours before the incoming resupply and colonist wave lands. If core systems aren’t restored, we can expect to lose all 1000 people on board.Your assignment is clear: gain remote access of Mission Control (log in to the VM), solve telemetry systems issues (Python Problem 1),  recalculate food resources (Python Problem 2), launch the emergency comms rocket (Python Problem 3), and share your solutions with  (pull request).  Lastly, you will need to create a broadcast beacon to Earth, to re-establish comms and signal that all is under control (create a website through your own VM).</a:t>
            </a:r>
            <a:endParaRPr sz="1277" b="1" dirty="0"/>
          </a:p>
          <a:p>
            <a:pPr marL="0" lvl="0" indent="0" algn="l" rtl="0">
              <a:spcBef>
                <a:spcPts val="1200"/>
              </a:spcBef>
              <a:spcAft>
                <a:spcPts val="0"/>
              </a:spcAft>
              <a:buSzPts val="358"/>
              <a:buNone/>
            </a:pPr>
            <a:r>
              <a:rPr lang="en" sz="1277" b="1" dirty="0"/>
              <a:t>To begin, you need to gain access to mission control.  Locally, you should be able to ssh into Mission Control at 172.174.209.144.  The username we were using before the solar flare hit was Cohort6.  I forget part of the password though.  The part I remember is Cohort6_AI2C_[PART MISSING]</a:t>
            </a:r>
            <a:endParaRPr sz="1277" b="1" dirty="0"/>
          </a:p>
          <a:p>
            <a:pPr marL="0" lvl="0" indent="0" algn="l" rtl="0">
              <a:spcBef>
                <a:spcPts val="1200"/>
              </a:spcBef>
              <a:spcAft>
                <a:spcPts val="0"/>
              </a:spcAft>
              <a:buSzPts val="358"/>
              <a:buNone/>
            </a:pPr>
            <a:r>
              <a:rPr lang="en" sz="1277" b="1" dirty="0"/>
              <a:t>To find the last part of the password, you must use your Python expertise to find the total number of medals the United States won in the Olympics in your all_olympic_medalists.csv file that you have stored locally.  To be clear,if you find that the United States won 100 medals, the password would be Cohort6_AI2C_100</a:t>
            </a:r>
            <a:endParaRPr sz="1277" b="1" dirty="0"/>
          </a:p>
          <a:p>
            <a:pPr marL="0" lvl="0" indent="0" algn="l" rtl="0">
              <a:spcBef>
                <a:spcPts val="1200"/>
              </a:spcBef>
              <a:spcAft>
                <a:spcPts val="0"/>
              </a:spcAft>
              <a:buSzPts val="358"/>
              <a:buNone/>
            </a:pPr>
            <a:r>
              <a:rPr lang="en" sz="1277" b="1" dirty="0"/>
              <a:t>Good luck.  There are lives at stake!"</a:t>
            </a:r>
            <a:endParaRPr sz="1277" b="1" dirty="0"/>
          </a:p>
          <a:p>
            <a:pPr marL="0" lvl="0" indent="0" algn="l" rtl="0">
              <a:spcBef>
                <a:spcPts val="1200"/>
              </a:spcBef>
              <a:spcAft>
                <a:spcPts val="0"/>
              </a:spcAft>
              <a:buSzPts val="358"/>
              <a:buNone/>
            </a:pPr>
            <a:r>
              <a:rPr lang="en" sz="1277" b="1" dirty="0"/>
              <a:t>-Commander Goulding</a:t>
            </a:r>
            <a:endParaRPr sz="1277" b="1" dirty="0"/>
          </a:p>
          <a:p>
            <a:pPr marL="0" lvl="0" indent="0" algn="l" rtl="0">
              <a:spcBef>
                <a:spcPts val="1200"/>
              </a:spcBef>
              <a:spcAft>
                <a:spcPts val="1200"/>
              </a:spcAft>
              <a:buSzPts val="358"/>
              <a:buNone/>
            </a:pPr>
            <a:endParaRPr sz="685" dirty="0"/>
          </a:p>
        </p:txBody>
      </p:sp>
    </p:spTree>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401</Words>
  <Application>Microsoft Office PowerPoint</Application>
  <PresentationFormat>On-screen Show (16:9)</PresentationFormat>
  <Paragraphs>15</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Proxima Nova</vt:lpstr>
      <vt:lpstr>Arial</vt:lpstr>
      <vt:lpstr>Spearmint</vt:lpstr>
      <vt:lpstr>Cohort 6 Small Project</vt:lpstr>
      <vt:lpstr>URGENT — Incoming Message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Robert Haenze</cp:lastModifiedBy>
  <cp:revision>1</cp:revision>
  <dcterms:modified xsi:type="dcterms:W3CDTF">2026-08-12T18:39:43Z</dcterms:modified>
</cp:coreProperties>
</file>