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486" r:id="rId3"/>
    <p:sldId id="1289" r:id="rId4"/>
    <p:sldId id="285" r:id="rId5"/>
    <p:sldId id="1270" r:id="rId6"/>
    <p:sldId id="287" r:id="rId7"/>
    <p:sldId id="1271" r:id="rId8"/>
    <p:sldId id="286" r:id="rId9"/>
    <p:sldId id="1272" r:id="rId10"/>
    <p:sldId id="1275" r:id="rId11"/>
    <p:sldId id="1276" r:id="rId12"/>
    <p:sldId id="1278" r:id="rId13"/>
    <p:sldId id="1279" r:id="rId14"/>
    <p:sldId id="1273" r:id="rId15"/>
    <p:sldId id="1287" r:id="rId16"/>
    <p:sldId id="1292" r:id="rId17"/>
    <p:sldId id="1291" r:id="rId18"/>
    <p:sldId id="1288" r:id="rId19"/>
    <p:sldId id="1286" r:id="rId20"/>
    <p:sldId id="1274" r:id="rId21"/>
    <p:sldId id="1280" r:id="rId22"/>
    <p:sldId id="1281" r:id="rId23"/>
    <p:sldId id="1284" r:id="rId24"/>
    <p:sldId id="1282" r:id="rId25"/>
    <p:sldId id="1283" r:id="rId26"/>
    <p:sldId id="1285"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701" autoAdjust="0"/>
  </p:normalViewPr>
  <p:slideViewPr>
    <p:cSldViewPr snapToGrid="0">
      <p:cViewPr varScale="1">
        <p:scale>
          <a:sx n="65" d="100"/>
          <a:sy n="65" d="100"/>
        </p:scale>
        <p:origin x="13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77C63-A4C9-7DA1-59CC-332A92710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DAA95-81CB-FCCD-A0FD-03388B78A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CBDEE-43BF-4C70-1B4A-1D1DA6E659C4}"/>
              </a:ext>
            </a:extLst>
          </p:cNvPr>
          <p:cNvSpPr>
            <a:spLocks noGrp="1"/>
          </p:cNvSpPr>
          <p:nvPr>
            <p:ph type="body" idx="1"/>
          </p:nvPr>
        </p:nvSpPr>
        <p:spPr/>
        <p:txBody>
          <a:bodyPr/>
          <a:lstStyle/>
          <a:p>
            <a:r>
              <a:rPr lang="en-US" dirty="0"/>
              <a:t>https://www.rfc-editor.org/rfc/rfc1945</a:t>
            </a:r>
          </a:p>
        </p:txBody>
      </p:sp>
      <p:sp>
        <p:nvSpPr>
          <p:cNvPr id="4" name="Slide Number Placeholder 3">
            <a:extLst>
              <a:ext uri="{FF2B5EF4-FFF2-40B4-BE49-F238E27FC236}">
                <a16:creationId xmlns:a16="http://schemas.microsoft.com/office/drawing/2014/main" id="{ACE423FF-7CDA-5E46-7BC5-A77ADACA455B}"/>
              </a:ext>
            </a:extLst>
          </p:cNvPr>
          <p:cNvSpPr>
            <a:spLocks noGrp="1"/>
          </p:cNvSpPr>
          <p:nvPr>
            <p:ph type="sldNum" sz="quarter" idx="5"/>
          </p:nvPr>
        </p:nvSpPr>
        <p:spPr/>
        <p:txBody>
          <a:bodyPr/>
          <a:lstStyle/>
          <a:p>
            <a:fld id="{BE457D5F-ED05-449E-97D0-205DAB987247}" type="slidenum">
              <a:rPr lang="en-US" smtClean="0"/>
              <a:t>3</a:t>
            </a:fld>
            <a:endParaRPr lang="en-US"/>
          </a:p>
        </p:txBody>
      </p:sp>
    </p:spTree>
    <p:extLst>
      <p:ext uri="{BB962C8B-B14F-4D97-AF65-F5344CB8AC3E}">
        <p14:creationId xmlns:p14="http://schemas.microsoft.com/office/powerpoint/2010/main" val="2550835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5</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a:p>
            <a:endParaRPr lang="en-US" dirty="0"/>
          </a:p>
          <a:p>
            <a:r>
              <a:rPr lang="en-US" dirty="0"/>
              <a:t>200 everything is good to go </a:t>
            </a:r>
          </a:p>
          <a:p>
            <a:endParaRPr lang="en-US" dirty="0"/>
          </a:p>
          <a:p>
            <a:r>
              <a:rPr lang="en-US" dirty="0"/>
              <a:t>300 go away, this isn’t here</a:t>
            </a:r>
          </a:p>
          <a:p>
            <a:endParaRPr lang="en-US" dirty="0"/>
          </a:p>
          <a:p>
            <a:r>
              <a:rPr lang="en-US" dirty="0"/>
              <a:t>400 you probably made an error</a:t>
            </a:r>
          </a:p>
          <a:p>
            <a:endParaRPr lang="en-US" dirty="0"/>
          </a:p>
          <a:p>
            <a:r>
              <a:rPr lang="en-US" dirty="0"/>
              <a:t>500 the server messed up </a:t>
            </a:r>
          </a:p>
        </p:txBody>
      </p:sp>
      <p:sp>
        <p:nvSpPr>
          <p:cNvPr id="4" name="Slide Number Placeholder 3"/>
          <p:cNvSpPr>
            <a:spLocks noGrp="1"/>
          </p:cNvSpPr>
          <p:nvPr>
            <p:ph type="sldNum" sz="quarter" idx="5"/>
          </p:nvPr>
        </p:nvSpPr>
        <p:spPr/>
        <p:txBody>
          <a:bodyPr/>
          <a:lstStyle/>
          <a:p>
            <a:fld id="{BE457D5F-ED05-449E-97D0-205DAB987247}" type="slidenum">
              <a:rPr lang="en-US" smtClean="0"/>
              <a:t>7</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a:p>
            <a:endParaRPr lang="en-US" dirty="0"/>
          </a:p>
          <a:p>
            <a:endParaRPr lang="en-US" dirty="0"/>
          </a:p>
          <a:p>
            <a:endParaRPr lang="en-US" dirty="0"/>
          </a:p>
          <a:p>
            <a:r>
              <a:rPr lang="en-US" dirty="0"/>
              <a:t>“You are just sending and receiving text” Maj Shafer</a:t>
            </a:r>
          </a:p>
        </p:txBody>
      </p:sp>
      <p:sp>
        <p:nvSpPr>
          <p:cNvPr id="4" name="Slide Number Placeholder 3"/>
          <p:cNvSpPr>
            <a:spLocks noGrp="1"/>
          </p:cNvSpPr>
          <p:nvPr>
            <p:ph type="sldNum" sz="quarter" idx="5"/>
          </p:nvPr>
        </p:nvSpPr>
        <p:spPr/>
        <p:txBody>
          <a:bodyPr/>
          <a:lstStyle/>
          <a:p>
            <a:fld id="{BE457D5F-ED05-449E-97D0-205DAB987247}" type="slidenum">
              <a:rPr lang="en-US" smtClean="0"/>
              <a:t>8</a:t>
            </a:fld>
            <a:endParaRPr lang="en-US"/>
          </a:p>
        </p:txBody>
      </p:sp>
    </p:spTree>
    <p:extLst>
      <p:ext uri="{BB962C8B-B14F-4D97-AF65-F5344CB8AC3E}">
        <p14:creationId xmlns:p14="http://schemas.microsoft.com/office/powerpoint/2010/main" val="3942348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https://base64.dev/articles/what-is-base64</a:t>
            </a:r>
          </a:p>
          <a:p>
            <a:endParaRPr lang="en-US" dirty="0"/>
          </a:p>
          <a:p>
            <a:endParaRPr lang="en-US" dirty="0"/>
          </a:p>
          <a:p>
            <a:r>
              <a:rPr lang="en-US" dirty="0"/>
              <a:t>What you will see online.</a:t>
            </a:r>
          </a:p>
          <a:p>
            <a:endParaRPr lang="en-US" dirty="0"/>
          </a:p>
          <a:p>
            <a:r>
              <a:rPr lang="en-US" dirty="0"/>
              <a:t>Convert everything to bites</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920093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base64.b64encode</a:t>
            </a:r>
          </a:p>
          <a:p>
            <a:r>
              <a:rPr lang="en-US" dirty="0"/>
              <a:t>base64.b64decode</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843298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02DE-DFC8-D451-2546-4F218A2A0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0FDF5-D189-423F-0586-8EDEC365E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7CF05-2E6F-D07E-AEDC-74BAC8A8C9F8}"/>
              </a:ext>
            </a:extLst>
          </p:cNvPr>
          <p:cNvSpPr>
            <a:spLocks noGrp="1"/>
          </p:cNvSpPr>
          <p:nvPr>
            <p:ph type="body" idx="1"/>
          </p:nvPr>
        </p:nvSpPr>
        <p:spPr/>
        <p:txBody>
          <a:bodyPr/>
          <a:lstStyle/>
          <a:p>
            <a:r>
              <a:rPr lang="en-US" dirty="0"/>
              <a:t>How do two applications talk to each other effectively </a:t>
            </a:r>
          </a:p>
          <a:p>
            <a:endParaRPr lang="en-US" dirty="0"/>
          </a:p>
          <a:p>
            <a:endParaRPr lang="en-US" dirty="0"/>
          </a:p>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9D9E26E9-E2D3-BF05-C6B9-D2B8990F6D7D}"/>
              </a:ext>
            </a:extLst>
          </p:cNvPr>
          <p:cNvSpPr>
            <a:spLocks noGrp="1"/>
          </p:cNvSpPr>
          <p:nvPr>
            <p:ph type="sldNum" sz="quarter" idx="5"/>
          </p:nvPr>
        </p:nvSpPr>
        <p:spPr/>
        <p:txBody>
          <a:bodyPr/>
          <a:lstStyle/>
          <a:p>
            <a:fld id="{BE457D5F-ED05-449E-97D0-205DAB987247}" type="slidenum">
              <a:rPr lang="en-US" smtClean="0"/>
              <a:t>15</a:t>
            </a:fld>
            <a:endParaRPr lang="en-US"/>
          </a:p>
        </p:txBody>
      </p:sp>
    </p:spTree>
    <p:extLst>
      <p:ext uri="{BB962C8B-B14F-4D97-AF65-F5344CB8AC3E}">
        <p14:creationId xmlns:p14="http://schemas.microsoft.com/office/powerpoint/2010/main" val="3150115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A957-493B-D9CB-B33A-C0283A511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AF6A-9FA6-98B0-0196-DD909BBC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8F741-0C43-0FA6-80D7-C91035EC956B}"/>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823EE639-A545-DD0A-0A9C-DAC57C611113}"/>
              </a:ext>
            </a:extLst>
          </p:cNvPr>
          <p:cNvSpPr>
            <a:spLocks noGrp="1"/>
          </p:cNvSpPr>
          <p:nvPr>
            <p:ph type="sldNum" sz="quarter" idx="5"/>
          </p:nvPr>
        </p:nvSpPr>
        <p:spPr/>
        <p:txBody>
          <a:bodyPr/>
          <a:lstStyle/>
          <a:p>
            <a:fld id="{BE457D5F-ED05-449E-97D0-205DAB987247}" type="slidenum">
              <a:rPr lang="en-US" smtClean="0"/>
              <a:t>16</a:t>
            </a:fld>
            <a:endParaRPr lang="en-US"/>
          </a:p>
        </p:txBody>
      </p:sp>
    </p:spTree>
    <p:extLst>
      <p:ext uri="{BB962C8B-B14F-4D97-AF65-F5344CB8AC3E}">
        <p14:creationId xmlns:p14="http://schemas.microsoft.com/office/powerpoint/2010/main" val="3045761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F528-9826-BCC1-BDA2-5C59B46E1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F6B39-0CF7-38D2-AA55-08BAEA0B3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70C2-CDE2-0841-E91E-CF5B5112B0D7}"/>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24ED080A-40DB-A76C-ABF6-2054C9229666}"/>
              </a:ext>
            </a:extLst>
          </p:cNvPr>
          <p:cNvSpPr>
            <a:spLocks noGrp="1"/>
          </p:cNvSpPr>
          <p:nvPr>
            <p:ph type="sldNum" sz="quarter" idx="5"/>
          </p:nvPr>
        </p:nvSpPr>
        <p:spPr/>
        <p:txBody>
          <a:bodyPr/>
          <a:lstStyle/>
          <a:p>
            <a:fld id="{BE457D5F-ED05-449E-97D0-205DAB987247}" type="slidenum">
              <a:rPr lang="en-US" smtClean="0"/>
              <a:t>17</a:t>
            </a:fld>
            <a:endParaRPr lang="en-US"/>
          </a:p>
        </p:txBody>
      </p:sp>
    </p:spTree>
    <p:extLst>
      <p:ext uri="{BB962C8B-B14F-4D97-AF65-F5344CB8AC3E}">
        <p14:creationId xmlns:p14="http://schemas.microsoft.com/office/powerpoint/2010/main" val="1009161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example:</a:t>
            </a:r>
            <a:br>
              <a:rPr lang="en-US" dirty="0"/>
            </a:br>
            <a:br>
              <a:rPr lang="en-US" dirty="0"/>
            </a:br>
            <a:r>
              <a:rPr lang="en-US" b="1" dirty="0"/>
              <a:t>Endpoint: </a:t>
            </a:r>
          </a:p>
          <a:p>
            <a:endParaRPr lang="en-US" dirty="0"/>
          </a:p>
          <a:p>
            <a:r>
              <a:rPr lang="en-US" dirty="0"/>
              <a:t>Repos/{owner}/{repo}/compare/{basehead}</a:t>
            </a:r>
          </a:p>
          <a:p>
            <a:endParaRPr lang="en-US" dirty="0"/>
          </a:p>
          <a:p>
            <a:r>
              <a:rPr lang="en-US" b="1" dirty="0"/>
              <a:t>Required Parameters:</a:t>
            </a:r>
            <a:br>
              <a:rPr lang="en-US" dirty="0"/>
            </a:br>
            <a:endParaRPr lang="en-US" dirty="0"/>
          </a:p>
          <a:p>
            <a:r>
              <a:rPr lang="en-US" sz="1200" b="0" i="0" kern="1200" dirty="0">
                <a:solidFill>
                  <a:schemeClr val="tx1"/>
                </a:solidFill>
                <a:effectLst/>
                <a:latin typeface="+mn-lt"/>
                <a:ea typeface="+mn-ea"/>
                <a:cs typeface="+mn-cs"/>
              </a:rPr>
              <a:t>Path parameters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owner</a:t>
            </a:r>
            <a:r>
              <a:rPr lang="en-US" sz="1200" b="0" i="0" kern="1200" dirty="0">
                <a:solidFill>
                  <a:schemeClr val="tx1"/>
                </a:solidFill>
                <a:effectLst/>
                <a:latin typeface="+mn-lt"/>
                <a:ea typeface="+mn-ea"/>
                <a:cs typeface="+mn-cs"/>
              </a:rPr>
              <a:t> string Required</a:t>
            </a:r>
          </a:p>
          <a:p>
            <a:pPr fontAlgn="t"/>
            <a:r>
              <a:rPr lang="en-US" sz="1200" b="0" i="0" kern="1200" dirty="0">
                <a:solidFill>
                  <a:schemeClr val="tx1"/>
                </a:solidFill>
                <a:effectLst/>
                <a:latin typeface="+mn-lt"/>
                <a:ea typeface="+mn-ea"/>
                <a:cs typeface="+mn-cs"/>
              </a:rPr>
              <a:t>The account owner of the repository. The name is not case sensitive.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repo</a:t>
            </a:r>
            <a:r>
              <a:rPr lang="en-US" sz="1200" b="0" i="0" kern="1200" dirty="0">
                <a:solidFill>
                  <a:schemeClr val="tx1"/>
                </a:solidFill>
                <a:effectLst/>
                <a:latin typeface="+mn-lt"/>
                <a:ea typeface="+mn-ea"/>
                <a:cs typeface="+mn-cs"/>
              </a:rPr>
              <a:t> string Required</a:t>
            </a:r>
          </a:p>
          <a:p>
            <a:pPr fontAlgn="t"/>
            <a:r>
              <a:rPr lang="en-US" sz="1200" b="0" i="0" kern="1200" dirty="0">
                <a:solidFill>
                  <a:schemeClr val="tx1"/>
                </a:solidFill>
                <a:effectLst/>
                <a:latin typeface="+mn-lt"/>
                <a:ea typeface="+mn-ea"/>
                <a:cs typeface="+mn-cs"/>
              </a:rPr>
              <a:t>The name of the repository without the .git extension. The name is not case sensitive.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basehead</a:t>
            </a:r>
            <a:r>
              <a:rPr lang="en-US" sz="1200" b="0" i="0" kern="1200" dirty="0">
                <a:solidFill>
                  <a:schemeClr val="tx1"/>
                </a:solidFill>
                <a:effectLst/>
                <a:latin typeface="+mn-lt"/>
                <a:ea typeface="+mn-ea"/>
                <a:cs typeface="+mn-cs"/>
              </a:rPr>
              <a:t> string Required</a:t>
            </a:r>
          </a:p>
          <a:p>
            <a:pPr fontAlgn="t"/>
            <a:r>
              <a:rPr lang="en-US" sz="1200" b="0" i="0" kern="1200" dirty="0">
                <a:solidFill>
                  <a:schemeClr val="tx1"/>
                </a:solidFill>
                <a:effectLst/>
                <a:latin typeface="+mn-lt"/>
                <a:ea typeface="+mn-ea"/>
                <a:cs typeface="+mn-cs"/>
              </a:rPr>
              <a:t>The base branch and head branch to compare. This parameter expects the format BASE...HEAD. Both must be branch names in repo. To compare with a branch that exists in a different repository in the same network as repo, the basehead parameter expects the format USERNAME:BASE...USERNAME:HEAD.</a:t>
            </a:r>
          </a:p>
          <a:p>
            <a:endParaRPr lang="en-US" dirty="0"/>
          </a:p>
          <a:p>
            <a:endParaRPr lang="en-US" dirty="0"/>
          </a:p>
          <a:p>
            <a:endParaRPr lang="en-US" dirty="0"/>
          </a:p>
          <a:p>
            <a:r>
              <a:rPr lang="en-US" b="1" dirty="0"/>
              <a:t>Optional Parameters:</a:t>
            </a:r>
          </a:p>
          <a:p>
            <a:endParaRPr lang="en-US" b="1" dirty="0"/>
          </a:p>
          <a:p>
            <a:r>
              <a:rPr lang="en-US" b="0" dirty="0"/>
              <a:t>Page</a:t>
            </a:r>
          </a:p>
          <a:p>
            <a:r>
              <a:rPr lang="en-US" b="0" dirty="0"/>
              <a:t>Per page</a:t>
            </a:r>
            <a:endParaRPr lang="en-US" dirty="0"/>
          </a:p>
          <a:p>
            <a:endParaRPr lang="en-US" dirty="0"/>
          </a:p>
          <a:p>
            <a:endParaRPr lang="en-US" dirty="0"/>
          </a:p>
          <a:p>
            <a:r>
              <a:rPr lang="en-US" b="1" dirty="0"/>
              <a:t>Multiple Responses:</a:t>
            </a:r>
            <a:br>
              <a:rPr lang="en-US" dirty="0"/>
            </a:br>
            <a:endParaRPr lang="en-US" dirty="0"/>
          </a:p>
          <a:p>
            <a:r>
              <a:rPr lang="en-US" sz="1200" b="0" i="0" kern="1200" dirty="0">
                <a:solidFill>
                  <a:schemeClr val="tx1"/>
                </a:solidFill>
                <a:effectLst/>
                <a:latin typeface="+mn-lt"/>
                <a:ea typeface="+mn-ea"/>
                <a:cs typeface="+mn-cs"/>
              </a:rPr>
              <a:t>To process a response with a large number of commits, use a query parameter (</a:t>
            </a:r>
            <a:r>
              <a:rPr lang="en-US" sz="1200" b="0" i="0" kern="1200" dirty="0" err="1">
                <a:solidFill>
                  <a:schemeClr val="tx1"/>
                </a:solidFill>
                <a:effectLst/>
                <a:latin typeface="+mn-lt"/>
                <a:ea typeface="+mn-ea"/>
                <a:cs typeface="+mn-cs"/>
              </a:rPr>
              <a:t>per_page</a:t>
            </a:r>
            <a:r>
              <a:rPr lang="en-US" sz="1200" b="0" i="0" kern="1200" dirty="0">
                <a:solidFill>
                  <a:schemeClr val="tx1"/>
                </a:solidFill>
                <a:effectLst/>
                <a:latin typeface="+mn-lt"/>
                <a:ea typeface="+mn-ea"/>
                <a:cs typeface="+mn-cs"/>
              </a:rPr>
              <a:t> or page) to paginate the results.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using pagination:</a:t>
            </a:r>
          </a:p>
          <a:p>
            <a:pPr lvl="0"/>
            <a:r>
              <a:rPr lang="en-US" sz="1200" b="0" i="0" kern="1200" dirty="0">
                <a:solidFill>
                  <a:schemeClr val="tx1"/>
                </a:solidFill>
                <a:effectLst/>
                <a:latin typeface="+mn-lt"/>
                <a:ea typeface="+mn-ea"/>
                <a:cs typeface="+mn-cs"/>
              </a:rPr>
              <a:t>The list of changed files is only shown on the first page of results, and it includes up to 300 changed files for the entire comparison.</a:t>
            </a:r>
          </a:p>
          <a:p>
            <a:pPr lvl="0"/>
            <a:r>
              <a:rPr lang="en-US" sz="1200" b="0" i="0" kern="1200" dirty="0">
                <a:solidFill>
                  <a:schemeClr val="tx1"/>
                </a:solidFill>
                <a:effectLst/>
                <a:latin typeface="+mn-lt"/>
                <a:ea typeface="+mn-ea"/>
                <a:cs typeface="+mn-cs"/>
              </a:rPr>
              <a:t>The results are returned in chronological order, but the last commit in the returned list may not be the most recent one in the entire set if there are more pages of results.</a:t>
            </a: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19</a:t>
            </a:fld>
            <a:endParaRPr lang="en-US"/>
          </a:p>
        </p:txBody>
      </p:sp>
    </p:spTree>
    <p:extLst>
      <p:ext uri="{BB962C8B-B14F-4D97-AF65-F5344CB8AC3E}">
        <p14:creationId xmlns:p14="http://schemas.microsoft.com/office/powerpoint/2010/main" val="2607826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Sending password repeatedly</a:t>
            </a:r>
          </a:p>
          <a:p>
            <a:pPr marL="171450" indent="-171450">
              <a:buFontTx/>
              <a:buChar char="-"/>
            </a:pPr>
            <a:r>
              <a:rPr lang="en-US" dirty="0"/>
              <a:t>Cannot auth 3rd parties</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Sent to the system ‘</a:t>
            </a:r>
            <a:r>
              <a:rPr lang="en-US" dirty="0" err="1"/>
              <a:t>username:password</a:t>
            </a:r>
            <a:r>
              <a:rPr lang="en-US" dirty="0"/>
              <a:t> (basic 64 encoded)’</a:t>
            </a:r>
          </a:p>
        </p:txBody>
      </p:sp>
      <p:sp>
        <p:nvSpPr>
          <p:cNvPr id="4" name="Slide Number Placeholder 3"/>
          <p:cNvSpPr>
            <a:spLocks noGrp="1"/>
          </p:cNvSpPr>
          <p:nvPr>
            <p:ph type="sldNum" sz="quarter" idx="5"/>
          </p:nvPr>
        </p:nvSpPr>
        <p:spPr/>
        <p:txBody>
          <a:bodyPr/>
          <a:lstStyle/>
          <a:p>
            <a:fld id="{BE457D5F-ED05-449E-97D0-205DAB987247}" type="slidenum">
              <a:rPr lang="en-US" smtClean="0"/>
              <a:t>21</a:t>
            </a:fld>
            <a:endParaRPr lang="en-US"/>
          </a:p>
        </p:txBody>
      </p:sp>
    </p:spTree>
    <p:extLst>
      <p:ext uri="{BB962C8B-B14F-4D97-AF65-F5344CB8AC3E}">
        <p14:creationId xmlns:p14="http://schemas.microsoft.com/office/powerpoint/2010/main" val="1265215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Hard to rotate keys</a:t>
            </a:r>
          </a:p>
          <a:p>
            <a:pPr marL="171450" indent="-171450">
              <a:buFontTx/>
              <a:buChar char="-"/>
            </a:pPr>
            <a:r>
              <a:rPr lang="en-US" dirty="0"/>
              <a:t>Generally not user-specific</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22</a:t>
            </a:fld>
            <a:endParaRPr lang="en-US"/>
          </a:p>
        </p:txBody>
      </p:sp>
    </p:spTree>
    <p:extLst>
      <p:ext uri="{BB962C8B-B14F-4D97-AF65-F5344CB8AC3E}">
        <p14:creationId xmlns:p14="http://schemas.microsoft.com/office/powerpoint/2010/main" val="1253076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Stateful</a:t>
            </a:r>
          </a:p>
          <a:p>
            <a:pPr marL="171450" indent="-171450">
              <a:buFontTx/>
              <a:buChar char="-"/>
            </a:pPr>
            <a:r>
              <a:rPr lang="en-US" dirty="0"/>
              <a:t>Cannot auth 3rd parties</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23</a:t>
            </a:fld>
            <a:endParaRPr lang="en-US"/>
          </a:p>
        </p:txBody>
      </p:sp>
    </p:spTree>
    <p:extLst>
      <p:ext uri="{BB962C8B-B14F-4D97-AF65-F5344CB8AC3E}">
        <p14:creationId xmlns:p14="http://schemas.microsoft.com/office/powerpoint/2010/main" val="3830640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Limited scope / time</a:t>
            </a:r>
          </a:p>
          <a:p>
            <a:pPr marL="171450" indent="-171450">
              <a:buFontTx/>
              <a:buChar char="-"/>
            </a:pPr>
            <a:r>
              <a:rPr lang="en-US" dirty="0"/>
              <a:t>User-specific</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Complexity</a:t>
            </a:r>
          </a:p>
          <a:p>
            <a:endParaRPr lang="en-US" dirty="0"/>
          </a:p>
          <a:p>
            <a:endParaRPr lang="en-US" dirty="0"/>
          </a:p>
          <a:p>
            <a:r>
              <a:rPr lang="en-US" dirty="0"/>
              <a:t>https://www.c-sharpcorner.com/article/a-net-developers-complete-guide-to-choose-right-authentication-from-basic-aut/</a:t>
            </a:r>
          </a:p>
        </p:txBody>
      </p:sp>
      <p:sp>
        <p:nvSpPr>
          <p:cNvPr id="4" name="Slide Number Placeholder 3"/>
          <p:cNvSpPr>
            <a:spLocks noGrp="1"/>
          </p:cNvSpPr>
          <p:nvPr>
            <p:ph type="sldNum" sz="quarter" idx="5"/>
          </p:nvPr>
        </p:nvSpPr>
        <p:spPr/>
        <p:txBody>
          <a:bodyPr/>
          <a:lstStyle/>
          <a:p>
            <a:fld id="{BE457D5F-ED05-449E-97D0-205DAB987247}" type="slidenum">
              <a:rPr lang="en-US" smtClean="0"/>
              <a:t>24</a:t>
            </a:fld>
            <a:endParaRPr lang="en-US"/>
          </a:p>
        </p:txBody>
      </p:sp>
    </p:spTree>
    <p:extLst>
      <p:ext uri="{BB962C8B-B14F-4D97-AF65-F5344CB8AC3E}">
        <p14:creationId xmlns:p14="http://schemas.microsoft.com/office/powerpoint/2010/main" val="1610383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https://medium.com/@reddyyashu20/beginners-guide-to-fastapi-openai-chatgpt-api-integration-50a0c3b8571e</a:t>
            </a:r>
          </a:p>
        </p:txBody>
      </p:sp>
      <p:sp>
        <p:nvSpPr>
          <p:cNvPr id="4" name="Slide Number Placeholder 3"/>
          <p:cNvSpPr>
            <a:spLocks noGrp="1"/>
          </p:cNvSpPr>
          <p:nvPr>
            <p:ph type="sldNum" sz="quarter" idx="5"/>
          </p:nvPr>
        </p:nvSpPr>
        <p:spPr/>
        <p:txBody>
          <a:bodyPr/>
          <a:lstStyle/>
          <a:p>
            <a:fld id="{BE457D5F-ED05-449E-97D0-205DAB987247}" type="slidenum">
              <a:rPr lang="en-US" smtClean="0"/>
              <a:t>25</a:t>
            </a:fld>
            <a:endParaRPr lang="en-US"/>
          </a:p>
        </p:txBody>
      </p:sp>
    </p:spTree>
    <p:extLst>
      <p:ext uri="{BB962C8B-B14F-4D97-AF65-F5344CB8AC3E}">
        <p14:creationId xmlns:p14="http://schemas.microsoft.com/office/powerpoint/2010/main" val="4233136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3 August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3 August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3 August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3 August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3 August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3 August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3 August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3 August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3 August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3 August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3 August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3 August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3 August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3 August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3 August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3 August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3 August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3 August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3 August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3 August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3 August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3 August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3 August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3 August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3 August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3 August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3 August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3 August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3 August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3 August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docs.python-requests.org/en/latest/user/quickstart/#make-a-request"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hyperlink" Target="https://developer.paypal.com/api/rest/"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api.github.com/repos/%7bowner%7d/%7brepo%7d/commits"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dirty="0"/>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dirty="0"/>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dirty="0"/>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dirty="0"/>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dirty="0"/>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508000" y="1318800"/>
            <a:ext cx="11176000" cy="4955141"/>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508000" y="4345259"/>
            <a:ext cx="5852160" cy="2064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19185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B369-AE4D-CA21-B4DF-EE99F4ACB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7334B-DBC0-D986-2C7B-E768BF7FF8D6}"/>
              </a:ext>
            </a:extLst>
          </p:cNvPr>
          <p:cNvSpPr>
            <a:spLocks noGrp="1"/>
          </p:cNvSpPr>
          <p:nvPr>
            <p:ph type="title"/>
          </p:nvPr>
        </p:nvSpPr>
        <p:spPr/>
        <p:txBody>
          <a:bodyPr/>
          <a:lstStyle/>
          <a:p>
            <a:r>
              <a:rPr lang="en-US" dirty="0"/>
              <a:t>Lesson Objectives</a:t>
            </a:r>
          </a:p>
        </p:txBody>
      </p:sp>
      <p:sp>
        <p:nvSpPr>
          <p:cNvPr id="4" name="Content Placeholder 3">
            <a:extLst>
              <a:ext uri="{FF2B5EF4-FFF2-40B4-BE49-F238E27FC236}">
                <a16:creationId xmlns:a16="http://schemas.microsoft.com/office/drawing/2014/main" id="{C5FCC889-09CB-91DA-8886-1B474E084665}"/>
              </a:ext>
            </a:extLst>
          </p:cNvPr>
          <p:cNvSpPr>
            <a:spLocks noGrp="1"/>
          </p:cNvSpPr>
          <p:nvPr>
            <p:ph idx="1"/>
          </p:nvPr>
        </p:nvSpPr>
        <p:spPr/>
        <p:txBody>
          <a:bodyPr>
            <a:normAutofit/>
          </a:bodyPr>
          <a:lstStyle/>
          <a:p>
            <a:r>
              <a:rPr lang="en-US" dirty="0"/>
              <a:t>Implement HTTP request handling</a:t>
            </a:r>
          </a:p>
          <a:p>
            <a:r>
              <a:rPr lang="en-US" dirty="0"/>
              <a:t>Understand and implement API calls</a:t>
            </a:r>
          </a:p>
          <a:p>
            <a:r>
              <a:rPr lang="en-US" dirty="0"/>
              <a:t>Understand HTTP authentication schemes</a:t>
            </a:r>
          </a:p>
          <a:p>
            <a:endParaRPr lang="en-US" dirty="0"/>
          </a:p>
        </p:txBody>
      </p:sp>
    </p:spTree>
    <p:extLst>
      <p:ext uri="{BB962C8B-B14F-4D97-AF65-F5344CB8AC3E}">
        <p14:creationId xmlns:p14="http://schemas.microsoft.com/office/powerpoint/2010/main" val="88937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p:txBody>
          <a:bodyPr/>
          <a:lstStyle/>
          <a:p>
            <a:r>
              <a:rPr lang="en-US" dirty="0" err="1"/>
              <a:t>HyperText</a:t>
            </a:r>
            <a:r>
              <a:rPr lang="en-US" dirty="0"/>
              <a:t> Transfer Protocol</a:t>
            </a:r>
            <a:br>
              <a:rPr lang="en-US" dirty="0"/>
            </a:br>
            <a:r>
              <a:rPr lang="en-US" dirty="0"/>
              <a:t>(HTTP)</a:t>
            </a:r>
          </a:p>
        </p:txBody>
      </p:sp>
      <p:pic>
        <p:nvPicPr>
          <p:cNvPr id="3" name="Picture 2" descr="What is an HTTP server? · Hyperskill">
            <a:extLst>
              <a:ext uri="{FF2B5EF4-FFF2-40B4-BE49-F238E27FC236}">
                <a16:creationId xmlns:a16="http://schemas.microsoft.com/office/drawing/2014/main" id="{F61D64F0-8179-E8F0-2DA3-EA073A0A4362}"/>
              </a:ext>
            </a:extLst>
          </p:cNvPr>
          <p:cNvPicPr>
            <a:picLocks noChangeAspect="1"/>
          </p:cNvPicPr>
          <p:nvPr/>
        </p:nvPicPr>
        <p:blipFill>
          <a:blip r:embed="rId3"/>
          <a:stretch>
            <a:fillRect/>
          </a:stretch>
        </p:blipFill>
        <p:spPr>
          <a:xfrm>
            <a:off x="3667317" y="1706525"/>
            <a:ext cx="8524683" cy="5151475"/>
          </a:xfrm>
          <a:prstGeom prst="rect">
            <a:avLst/>
          </a:prstGeom>
        </p:spPr>
      </p:pic>
      <p:sp>
        <p:nvSpPr>
          <p:cNvPr id="4" name="Content Placeholder 3">
            <a:extLst>
              <a:ext uri="{FF2B5EF4-FFF2-40B4-BE49-F238E27FC236}">
                <a16:creationId xmlns:a16="http://schemas.microsoft.com/office/drawing/2014/main" id="{86702865-14F7-75BA-971C-7F030292EED0}"/>
              </a:ext>
            </a:extLst>
          </p:cNvPr>
          <p:cNvSpPr>
            <a:spLocks noGrp="1"/>
          </p:cNvSpPr>
          <p:nvPr>
            <p:ph idx="1"/>
          </p:nvPr>
        </p:nvSpPr>
        <p:spPr/>
        <p:txBody>
          <a:bodyPr>
            <a:normAutofit/>
          </a:bodyPr>
          <a:lstStyle/>
          <a:p>
            <a:r>
              <a:rPr lang="en-US" dirty="0"/>
              <a:t>Specified in RFC 1945 (May 1996!)</a:t>
            </a:r>
          </a:p>
          <a:p>
            <a:r>
              <a:rPr lang="en-US" dirty="0"/>
              <a:t>Consists of clients, servers, requests, </a:t>
            </a:r>
            <a:br>
              <a:rPr lang="en-US" dirty="0"/>
            </a:br>
            <a:r>
              <a:rPr lang="en-US" dirty="0"/>
              <a:t>and responses</a:t>
            </a:r>
          </a:p>
          <a:p>
            <a:r>
              <a:rPr lang="en-US" dirty="0"/>
              <a:t>"The language of the web"</a:t>
            </a:r>
          </a:p>
          <a:p>
            <a:r>
              <a:rPr lang="en-US" dirty="0"/>
              <a:t>Improvements and modifications over time</a:t>
            </a:r>
          </a:p>
        </p:txBody>
      </p:sp>
    </p:spTree>
    <p:extLst>
      <p:ext uri="{BB962C8B-B14F-4D97-AF65-F5344CB8AC3E}">
        <p14:creationId xmlns:p14="http://schemas.microsoft.com/office/powerpoint/2010/main" val="370855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5</a:t>
            </a:fld>
            <a:endParaRPr lang="en-US"/>
          </a:p>
        </p:txBody>
      </p:sp>
    </p:spTree>
    <p:extLst>
      <p:ext uri="{BB962C8B-B14F-4D97-AF65-F5344CB8AC3E}">
        <p14:creationId xmlns:p14="http://schemas.microsoft.com/office/powerpoint/2010/main" val="3532679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Core 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3" y="1364354"/>
            <a:ext cx="4924108" cy="1929463"/>
          </a:xfrm>
        </p:spPr>
        <p:txBody>
          <a:bodyPr>
            <a:normAutofit/>
          </a:bodyPr>
          <a:lstStyle/>
          <a:p>
            <a:r>
              <a:rPr lang="en-US" sz="2000" dirty="0"/>
              <a:t>GET – request data from server</a:t>
            </a:r>
          </a:p>
          <a:p>
            <a:r>
              <a:rPr lang="en-US" sz="2000" dirty="0"/>
              <a:t>POST – submit data to the server</a:t>
            </a:r>
          </a:p>
          <a:p>
            <a:r>
              <a:rPr lang="en-US" sz="2000" dirty="0"/>
              <a:t>PUT – replace data in the server</a:t>
            </a:r>
          </a:p>
          <a:p>
            <a:r>
              <a:rPr lang="en-US" sz="2000" dirty="0"/>
              <a:t>DELETE – remove specified resource from the server</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07777"/>
          </a:xfrm>
          <a:prstGeom prst="rect">
            <a:avLst/>
          </a:prstGeom>
          <a:noFill/>
        </p:spPr>
        <p:txBody>
          <a:bodyPr wrap="square" rtlCol="0">
            <a:spAutoFit/>
          </a:bodyPr>
          <a:lstStyle/>
          <a:p>
            <a:r>
              <a:rPr lang="en-US" sz="1400" dirty="0"/>
              <a:t>https://developer.mozilla.org/en-US/docs/Web/HTTP/Reference/Status</a:t>
            </a:r>
          </a:p>
        </p:txBody>
      </p:sp>
      <p:sp>
        <p:nvSpPr>
          <p:cNvPr id="7" name="Left Brace 6">
            <a:extLst>
              <a:ext uri="{FF2B5EF4-FFF2-40B4-BE49-F238E27FC236}">
                <a16:creationId xmlns:a16="http://schemas.microsoft.com/office/drawing/2014/main" id="{6F6A88D1-044D-E108-038F-DCE81C6223DD}"/>
              </a:ext>
            </a:extLst>
          </p:cNvPr>
          <p:cNvSpPr/>
          <p:nvPr/>
        </p:nvSpPr>
        <p:spPr>
          <a:xfrm>
            <a:off x="6898640" y="1690688"/>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9" name="TextBox 8">
            <a:extLst>
              <a:ext uri="{FF2B5EF4-FFF2-40B4-BE49-F238E27FC236}">
                <a16:creationId xmlns:a16="http://schemas.microsoft.com/office/drawing/2014/main" id="{FC569EF5-3CEC-48F8-711E-51147D4D948E}"/>
              </a:ext>
            </a:extLst>
          </p:cNvPr>
          <p:cNvSpPr txBox="1"/>
          <p:nvPr/>
        </p:nvSpPr>
        <p:spPr>
          <a:xfrm>
            <a:off x="5760720" y="1890475"/>
            <a:ext cx="1137920" cy="453854"/>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Successful Connection</a:t>
            </a:r>
          </a:p>
        </p:txBody>
      </p:sp>
      <p:sp>
        <p:nvSpPr>
          <p:cNvPr id="11" name="Left Brace 10">
            <a:extLst>
              <a:ext uri="{FF2B5EF4-FFF2-40B4-BE49-F238E27FC236}">
                <a16:creationId xmlns:a16="http://schemas.microsoft.com/office/drawing/2014/main" id="{DF1837EB-AFF1-5E10-4265-BF722E24285C}"/>
              </a:ext>
            </a:extLst>
          </p:cNvPr>
          <p:cNvSpPr/>
          <p:nvPr/>
        </p:nvSpPr>
        <p:spPr>
          <a:xfrm>
            <a:off x="6898640" y="2666791"/>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3" name="TextBox 12">
            <a:extLst>
              <a:ext uri="{FF2B5EF4-FFF2-40B4-BE49-F238E27FC236}">
                <a16:creationId xmlns:a16="http://schemas.microsoft.com/office/drawing/2014/main" id="{4AA697AD-DEF5-F727-A8B3-F393C7A2E9A6}"/>
              </a:ext>
            </a:extLst>
          </p:cNvPr>
          <p:cNvSpPr txBox="1"/>
          <p:nvPr/>
        </p:nvSpPr>
        <p:spPr>
          <a:xfrm>
            <a:off x="5760720" y="2962256"/>
            <a:ext cx="1137920" cy="331561"/>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Redirection</a:t>
            </a:r>
          </a:p>
        </p:txBody>
      </p:sp>
      <p:sp>
        <p:nvSpPr>
          <p:cNvPr id="15" name="Left Brace 14">
            <a:extLst>
              <a:ext uri="{FF2B5EF4-FFF2-40B4-BE49-F238E27FC236}">
                <a16:creationId xmlns:a16="http://schemas.microsoft.com/office/drawing/2014/main" id="{CEAF2E8F-E8EA-7900-8B56-244EF6912C32}"/>
              </a:ext>
            </a:extLst>
          </p:cNvPr>
          <p:cNvSpPr/>
          <p:nvPr/>
        </p:nvSpPr>
        <p:spPr>
          <a:xfrm>
            <a:off x="6898640" y="3642894"/>
            <a:ext cx="350519" cy="1232134"/>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7" name="TextBox 16">
            <a:extLst>
              <a:ext uri="{FF2B5EF4-FFF2-40B4-BE49-F238E27FC236}">
                <a16:creationId xmlns:a16="http://schemas.microsoft.com/office/drawing/2014/main" id="{6C047838-A363-B1B3-2CCF-1DFD2B397954}"/>
              </a:ext>
            </a:extLst>
          </p:cNvPr>
          <p:cNvSpPr txBox="1"/>
          <p:nvPr/>
        </p:nvSpPr>
        <p:spPr>
          <a:xfrm>
            <a:off x="5760720" y="4035323"/>
            <a:ext cx="1137920" cy="454355"/>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Client Error (you)</a:t>
            </a:r>
          </a:p>
        </p:txBody>
      </p:sp>
      <p:sp>
        <p:nvSpPr>
          <p:cNvPr id="19" name="Left Brace 18">
            <a:extLst>
              <a:ext uri="{FF2B5EF4-FFF2-40B4-BE49-F238E27FC236}">
                <a16:creationId xmlns:a16="http://schemas.microsoft.com/office/drawing/2014/main" id="{55AEF595-E991-4552-AEAB-8C0CBBE035ED}"/>
              </a:ext>
            </a:extLst>
          </p:cNvPr>
          <p:cNvSpPr/>
          <p:nvPr/>
        </p:nvSpPr>
        <p:spPr>
          <a:xfrm>
            <a:off x="6898640" y="4951992"/>
            <a:ext cx="350519" cy="1327207"/>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21" name="TextBox 20">
            <a:extLst>
              <a:ext uri="{FF2B5EF4-FFF2-40B4-BE49-F238E27FC236}">
                <a16:creationId xmlns:a16="http://schemas.microsoft.com/office/drawing/2014/main" id="{307C35D5-A292-82B5-7861-3DB91660466F}"/>
              </a:ext>
            </a:extLst>
          </p:cNvPr>
          <p:cNvSpPr txBox="1"/>
          <p:nvPr/>
        </p:nvSpPr>
        <p:spPr>
          <a:xfrm>
            <a:off x="5760720" y="5371404"/>
            <a:ext cx="1137920" cy="489413"/>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Server Error (them)</a:t>
            </a:r>
          </a:p>
        </p:txBody>
      </p:sp>
      <p:sp>
        <p:nvSpPr>
          <p:cNvPr id="23" name="TextBox 22">
            <a:extLst>
              <a:ext uri="{FF2B5EF4-FFF2-40B4-BE49-F238E27FC236}">
                <a16:creationId xmlns:a16="http://schemas.microsoft.com/office/drawing/2014/main" id="{28E79591-B4A8-9C7D-A3FE-8AB9C0E13D6F}"/>
              </a:ext>
            </a:extLst>
          </p:cNvPr>
          <p:cNvSpPr txBox="1"/>
          <p:nvPr/>
        </p:nvSpPr>
        <p:spPr>
          <a:xfrm>
            <a:off x="836614" y="3874774"/>
            <a:ext cx="4782134" cy="1938992"/>
          </a:xfrm>
          <a:prstGeom prst="rect">
            <a:avLst/>
          </a:prstGeom>
          <a:noFill/>
        </p:spPr>
        <p:txBody>
          <a:bodyPr wrap="square">
            <a:spAutoFit/>
          </a:bodyPr>
          <a:lstStyle/>
          <a:p>
            <a:pPr marL="342900" indent="-342900">
              <a:buFont typeface="Arial" panose="020B0604020202020204" pitchFamily="34" charset="0"/>
              <a:buChar char="•"/>
            </a:pPr>
            <a:r>
              <a:rPr lang="en-US" sz="2000" dirty="0"/>
              <a:t>HEAD – only returns with the headers, no content</a:t>
            </a:r>
          </a:p>
          <a:p>
            <a:pPr marL="342900" indent="-342900">
              <a:buFont typeface="Arial" panose="020B0604020202020204" pitchFamily="34" charset="0"/>
              <a:buChar char="•"/>
            </a:pPr>
            <a:r>
              <a:rPr lang="en-US" sz="2000" dirty="0"/>
              <a:t>TRACE – send back exactly what the server received (good for diagnostics)</a:t>
            </a:r>
          </a:p>
          <a:p>
            <a:pPr marL="342900" indent="-342900">
              <a:buFont typeface="Arial" panose="020B0604020202020204" pitchFamily="34" charset="0"/>
              <a:buChar char="•"/>
            </a:pPr>
            <a:r>
              <a:rPr lang="en-US" sz="2000" dirty="0"/>
              <a:t>Extension methods – custom or protocol-specific verb </a:t>
            </a:r>
          </a:p>
        </p:txBody>
      </p:sp>
      <p:sp>
        <p:nvSpPr>
          <p:cNvPr id="26" name="Text Placeholder 2">
            <a:extLst>
              <a:ext uri="{FF2B5EF4-FFF2-40B4-BE49-F238E27FC236}">
                <a16:creationId xmlns:a16="http://schemas.microsoft.com/office/drawing/2014/main" id="{070E7B97-3271-6F24-0949-745D0EBBDC3C}"/>
              </a:ext>
            </a:extLst>
          </p:cNvPr>
          <p:cNvSpPr txBox="1">
            <a:spLocks/>
          </p:cNvSpPr>
          <p:nvPr/>
        </p:nvSpPr>
        <p:spPr>
          <a:xfrm>
            <a:off x="839787" y="2970588"/>
            <a:ext cx="5157787" cy="823912"/>
          </a:xfrm>
          <a:prstGeom prst="rect">
            <a:avLst/>
          </a:prstGeom>
        </p:spPr>
        <p:txBody>
          <a:bodyPr vert="horz" lIns="0" tIns="0" rIns="0" bIns="0" spcCol="365760" rtlCol="0" anchor="b">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(Some) Other Request Methods</a:t>
            </a:r>
          </a:p>
        </p:txBody>
      </p:sp>
    </p:spTree>
    <p:extLst>
      <p:ext uri="{BB962C8B-B14F-4D97-AF65-F5344CB8AC3E}">
        <p14:creationId xmlns:p14="http://schemas.microsoft.com/office/powerpoint/2010/main" val="154307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325881"/>
            <a:ext cx="10027920" cy="4846320"/>
          </a:xfrm>
        </p:spPr>
        <p:txBody>
          <a:bodyPr>
            <a:normAutofit/>
          </a:bodyPr>
          <a:lstStyle/>
          <a:p>
            <a:r>
              <a:rPr lang="en-US" b="1" dirty="0"/>
              <a:t>telnet:</a:t>
            </a:r>
            <a:r>
              <a:rPr lang="en-US" dirty="0"/>
              <a:t> A text-based terminal tool.</a:t>
            </a:r>
          </a:p>
          <a:p>
            <a:r>
              <a:rPr lang="en-US" b="1" dirty="0" err="1"/>
              <a:t>wget</a:t>
            </a:r>
            <a:r>
              <a:rPr lang="en-US" b="1" dirty="0"/>
              <a:t>:</a:t>
            </a:r>
            <a:r>
              <a:rPr lang="en-US" dirty="0"/>
              <a:t> A command-line utility optimized for downloading files.</a:t>
            </a:r>
          </a:p>
          <a:p>
            <a:r>
              <a:rPr lang="en-US" b="1" dirty="0"/>
              <a:t>curl:</a:t>
            </a:r>
            <a:r>
              <a:rPr lang="en-US" dirty="0"/>
              <a:t> The industry-standard command-line tool.</a:t>
            </a:r>
          </a:p>
          <a:p>
            <a:r>
              <a:rPr lang="en-US" b="1" dirty="0"/>
              <a:t>postman:</a:t>
            </a:r>
            <a:r>
              <a:rPr lang="en-US" dirty="0"/>
              <a:t> A user-friendly, graphical application.</a:t>
            </a:r>
          </a:p>
          <a:p>
            <a:r>
              <a:rPr lang="en-US" b="1" dirty="0"/>
              <a:t>requests:</a:t>
            </a:r>
            <a:r>
              <a:rPr lang="en-US" dirty="0"/>
              <a:t> A popular, elegant Python library.</a:t>
            </a:r>
          </a:p>
          <a:p>
            <a:r>
              <a:rPr lang="en-US" b="1" dirty="0"/>
              <a:t>Wireshark:</a:t>
            </a:r>
            <a:r>
              <a:rPr lang="en-US" dirty="0"/>
              <a:t> A powerful network packet analyzer.</a:t>
            </a:r>
          </a:p>
          <a:p>
            <a:r>
              <a:rPr lang="en-US" b="1" dirty="0"/>
              <a:t>Browser (dev tools too!):</a:t>
            </a:r>
            <a:r>
              <a:rPr lang="en-US" dirty="0"/>
              <a:t> built-in Developer Tools (Network Tab).</a:t>
            </a:r>
          </a:p>
          <a:p>
            <a:endParaRPr lang="en-US" dirty="0"/>
          </a:p>
          <a:p>
            <a:pPr marL="0" indent="0">
              <a:buNone/>
            </a:pPr>
            <a:r>
              <a:rPr lang="en-US" sz="4000" b="1" dirty="0"/>
              <a:t>Demo</a:t>
            </a:r>
            <a:endParaRPr lang="en-US" b="1" dirty="0"/>
          </a:p>
        </p:txBody>
      </p:sp>
    </p:spTree>
    <p:extLst>
      <p:ext uri="{BB962C8B-B14F-4D97-AF65-F5344CB8AC3E}">
        <p14:creationId xmlns:p14="http://schemas.microsoft.com/office/powerpoint/2010/main" val="2012762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 </a:t>
            </a:r>
          </a:p>
          <a:p>
            <a:r>
              <a:rPr lang="en-US" dirty="0">
                <a:hlinkClick r:id="rId2"/>
              </a:rPr>
              <a:t>https://docs.python-requests.org/en/latest/user/quickstart/#make-a-request</a:t>
            </a:r>
            <a:endParaRPr lang="en-US" dirty="0"/>
          </a:p>
          <a:p>
            <a:endParaRPr lang="en-US" dirty="0"/>
          </a:p>
          <a:p>
            <a:r>
              <a:rPr lang="en-US" dirty="0"/>
              <a:t>Demo</a:t>
            </a:r>
          </a:p>
        </p:txBody>
      </p:sp>
    </p:spTree>
    <p:extLst>
      <p:ext uri="{BB962C8B-B14F-4D97-AF65-F5344CB8AC3E}">
        <p14:creationId xmlns:p14="http://schemas.microsoft.com/office/powerpoint/2010/main" val="1157162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9E38-6DAD-E4D7-9B8A-2000494494F0}"/>
              </a:ext>
            </a:extLst>
          </p:cNvPr>
          <p:cNvSpPr>
            <a:spLocks noGrp="1"/>
          </p:cNvSpPr>
          <p:nvPr>
            <p:ph type="title"/>
          </p:nvPr>
        </p:nvSpPr>
        <p:spPr/>
        <p:txBody>
          <a:bodyPr/>
          <a:lstStyle/>
          <a:p>
            <a:r>
              <a:rPr lang="en-US" dirty="0"/>
              <a:t>More Than Text</a:t>
            </a:r>
          </a:p>
        </p:txBody>
      </p:sp>
      <p:sp>
        <p:nvSpPr>
          <p:cNvPr id="3" name="Content Placeholder 2">
            <a:extLst>
              <a:ext uri="{FF2B5EF4-FFF2-40B4-BE49-F238E27FC236}">
                <a16:creationId xmlns:a16="http://schemas.microsoft.com/office/drawing/2014/main" id="{9A27DC0E-A2EB-AAA5-26E5-80B2C604BDF2}"/>
              </a:ext>
            </a:extLst>
          </p:cNvPr>
          <p:cNvSpPr>
            <a:spLocks noGrp="1"/>
          </p:cNvSpPr>
          <p:nvPr>
            <p:ph idx="1"/>
          </p:nvPr>
        </p:nvSpPr>
        <p:spPr/>
        <p:txBody>
          <a:bodyPr/>
          <a:lstStyle/>
          <a:p>
            <a:r>
              <a:rPr lang="en-US" dirty="0"/>
              <a:t>Have you ever seen an image online?</a:t>
            </a:r>
          </a:p>
          <a:p>
            <a:r>
              <a:rPr lang="en-US" dirty="0"/>
              <a:t>Have you ever seen a video?</a:t>
            </a:r>
          </a:p>
          <a:p>
            <a:r>
              <a:rPr lang="en-US" dirty="0"/>
              <a:t>Other formats??</a:t>
            </a:r>
          </a:p>
          <a:p>
            <a:endParaRPr lang="en-US" dirty="0"/>
          </a:p>
        </p:txBody>
      </p:sp>
      <p:sp>
        <p:nvSpPr>
          <p:cNvPr id="4" name="Date Placeholder 3">
            <a:extLst>
              <a:ext uri="{FF2B5EF4-FFF2-40B4-BE49-F238E27FC236}">
                <a16:creationId xmlns:a16="http://schemas.microsoft.com/office/drawing/2014/main" id="{BA21DF7F-179D-93A4-A34C-19AFA15CC350}"/>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B3F49F5A-5999-7FEE-3F3E-C8FE162C0607}"/>
              </a:ext>
            </a:extLst>
          </p:cNvPr>
          <p:cNvSpPr>
            <a:spLocks noGrp="1"/>
          </p:cNvSpPr>
          <p:nvPr>
            <p:ph type="sldNum" sz="quarter" idx="11"/>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2622715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320-3E63-D43F-8353-454E919E51F8}"/>
              </a:ext>
            </a:extLst>
          </p:cNvPr>
          <p:cNvSpPr>
            <a:spLocks noGrp="1"/>
          </p:cNvSpPr>
          <p:nvPr>
            <p:ph type="title"/>
          </p:nvPr>
        </p:nvSpPr>
        <p:spPr/>
        <p:txBody>
          <a:bodyPr/>
          <a:lstStyle/>
          <a:p>
            <a:r>
              <a:rPr lang="en-US" dirty="0"/>
              <a:t>Encoding Text</a:t>
            </a:r>
          </a:p>
        </p:txBody>
      </p:sp>
      <p:sp>
        <p:nvSpPr>
          <p:cNvPr id="3" name="Content Placeholder 2">
            <a:extLst>
              <a:ext uri="{FF2B5EF4-FFF2-40B4-BE49-F238E27FC236}">
                <a16:creationId xmlns:a16="http://schemas.microsoft.com/office/drawing/2014/main" id="{AA901D3A-6F2F-A254-2420-040EC3411AEA}"/>
              </a:ext>
            </a:extLst>
          </p:cNvPr>
          <p:cNvSpPr>
            <a:spLocks noGrp="1"/>
          </p:cNvSpPr>
          <p:nvPr>
            <p:ph idx="1"/>
          </p:nvPr>
        </p:nvSpPr>
        <p:spPr/>
        <p:txBody>
          <a:bodyPr/>
          <a:lstStyle/>
          <a:p>
            <a:r>
              <a:rPr lang="en-US" dirty="0"/>
              <a:t>Remember all data is binary</a:t>
            </a:r>
          </a:p>
          <a:p>
            <a:r>
              <a:rPr lang="en-US" dirty="0"/>
              <a:t>Computer must represent data consistently</a:t>
            </a:r>
          </a:p>
          <a:p>
            <a:r>
              <a:rPr lang="en-US" dirty="0"/>
              <a:t>An encoding specifies the data representation</a:t>
            </a:r>
          </a:p>
          <a:p>
            <a:endParaRPr lang="en-US" dirty="0"/>
          </a:p>
          <a:p>
            <a:endParaRPr lang="en-US" dirty="0"/>
          </a:p>
        </p:txBody>
      </p:sp>
      <p:sp>
        <p:nvSpPr>
          <p:cNvPr id="4" name="Date Placeholder 3">
            <a:extLst>
              <a:ext uri="{FF2B5EF4-FFF2-40B4-BE49-F238E27FC236}">
                <a16:creationId xmlns:a16="http://schemas.microsoft.com/office/drawing/2014/main" id="{25A4AFED-28E0-462A-17C6-7EB8DBEC3ED1}"/>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C026297-B7AE-DE85-62A2-3FA449FB2059}"/>
              </a:ext>
            </a:extLst>
          </p:cNvPr>
          <p:cNvSpPr>
            <a:spLocks noGrp="1"/>
          </p:cNvSpPr>
          <p:nvPr>
            <p:ph type="sldNum" sz="quarter" idx="11"/>
          </p:nvPr>
        </p:nvSpPr>
        <p:spPr/>
        <p:txBody>
          <a:bodyPr/>
          <a:lstStyle/>
          <a:p>
            <a:fld id="{64E5BE4B-2FBF-4174-9E62-85FAD1CB43A6}" type="slidenum">
              <a:rPr lang="en-US" smtClean="0"/>
              <a:pPr/>
              <a:t>11</a:t>
            </a:fld>
            <a:endParaRPr lang="en-US"/>
          </a:p>
        </p:txBody>
      </p:sp>
      <p:graphicFrame>
        <p:nvGraphicFramePr>
          <p:cNvPr id="8" name="Table 7">
            <a:extLst>
              <a:ext uri="{FF2B5EF4-FFF2-40B4-BE49-F238E27FC236}">
                <a16:creationId xmlns:a16="http://schemas.microsoft.com/office/drawing/2014/main" id="{9B09FF67-D76C-EDEB-DEB6-C8DC018CC54B}"/>
              </a:ext>
            </a:extLst>
          </p:cNvPr>
          <p:cNvGraphicFramePr>
            <a:graphicFrameLocks noGrp="1"/>
          </p:cNvGraphicFramePr>
          <p:nvPr>
            <p:extLst>
              <p:ext uri="{D42A27DB-BD31-4B8C-83A1-F6EECF244321}">
                <p14:modId xmlns:p14="http://schemas.microsoft.com/office/powerpoint/2010/main" val="3374590313"/>
              </p:ext>
            </p:extLst>
          </p:nvPr>
        </p:nvGraphicFramePr>
        <p:xfrm>
          <a:off x="259508" y="3547989"/>
          <a:ext cx="11093448" cy="2270760"/>
        </p:xfrm>
        <a:graphic>
          <a:graphicData uri="http://schemas.openxmlformats.org/drawingml/2006/table">
            <a:tbl>
              <a:tblPr bandRow="1">
                <a:tableStyleId>{9D7B26C5-4107-4FEC-AEDC-1716B250A1EF}</a:tableStyleId>
              </a:tblPr>
              <a:tblGrid>
                <a:gridCol w="1663076">
                  <a:extLst>
                    <a:ext uri="{9D8B030D-6E8A-4147-A177-3AD203B41FA5}">
                      <a16:colId xmlns:a16="http://schemas.microsoft.com/office/drawing/2014/main" val="2605838210"/>
                    </a:ext>
                  </a:extLst>
                </a:gridCol>
                <a:gridCol w="3883648">
                  <a:extLst>
                    <a:ext uri="{9D8B030D-6E8A-4147-A177-3AD203B41FA5}">
                      <a16:colId xmlns:a16="http://schemas.microsoft.com/office/drawing/2014/main" val="1110831575"/>
                    </a:ext>
                  </a:extLst>
                </a:gridCol>
                <a:gridCol w="2773362">
                  <a:extLst>
                    <a:ext uri="{9D8B030D-6E8A-4147-A177-3AD203B41FA5}">
                      <a16:colId xmlns:a16="http://schemas.microsoft.com/office/drawing/2014/main" val="1054237498"/>
                    </a:ext>
                  </a:extLst>
                </a:gridCol>
                <a:gridCol w="2773362">
                  <a:extLst>
                    <a:ext uri="{9D8B030D-6E8A-4147-A177-3AD203B41FA5}">
                      <a16:colId xmlns:a16="http://schemas.microsoft.com/office/drawing/2014/main" val="2552619271"/>
                    </a:ext>
                  </a:extLst>
                </a:gridCol>
              </a:tblGrid>
              <a:tr h="350520">
                <a:tc>
                  <a:txBody>
                    <a:bodyPr/>
                    <a:lstStyle/>
                    <a:p>
                      <a:pPr algn="ctr">
                        <a:buNone/>
                      </a:pPr>
                      <a:r>
                        <a:rPr lang="en-US" sz="1700" b="1" dirty="0">
                          <a:effectLst/>
                        </a:rPr>
                        <a:t>Character</a:t>
                      </a:r>
                    </a:p>
                  </a:txBody>
                  <a:tcPr anchor="ctr"/>
                </a:tc>
                <a:tc>
                  <a:txBody>
                    <a:bodyPr/>
                    <a:lstStyle/>
                    <a:p>
                      <a:pPr algn="l">
                        <a:buNone/>
                      </a:pPr>
                      <a:r>
                        <a:rPr lang="en-US" sz="1700" b="1" dirty="0">
                          <a:effectLst/>
                        </a:rPr>
                        <a:t>UTF-8 (Binary)</a:t>
                      </a:r>
                    </a:p>
                  </a:txBody>
                  <a:tcPr anchor="ctr"/>
                </a:tc>
                <a:tc>
                  <a:txBody>
                    <a:bodyPr/>
                    <a:lstStyle/>
                    <a:p>
                      <a:pPr algn="l">
                        <a:buNone/>
                      </a:pPr>
                      <a:r>
                        <a:rPr lang="en-US" sz="1700" b="1" dirty="0">
                          <a:effectLst/>
                        </a:rPr>
                        <a:t>Windows-1252 (Binary)</a:t>
                      </a:r>
                    </a:p>
                  </a:txBody>
                  <a:tcPr anchor="ctr"/>
                </a:tc>
                <a:tc>
                  <a:txBody>
                    <a:bodyPr/>
                    <a:lstStyle/>
                    <a:p>
                      <a:pPr algn="l">
                        <a:buNone/>
                      </a:pPr>
                      <a:r>
                        <a:rPr lang="en-US" sz="1700" b="1" dirty="0">
                          <a:effectLst/>
                        </a:rPr>
                        <a:t>UTF-16LE (Binary)</a:t>
                      </a:r>
                    </a:p>
                  </a:txBody>
                  <a:tcPr anchor="ctr"/>
                </a:tc>
                <a:extLst>
                  <a:ext uri="{0D108BD9-81ED-4DB2-BD59-A6C34878D82A}">
                    <a16:rowId xmlns:a16="http://schemas.microsoft.com/office/drawing/2014/main" val="2801382232"/>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A</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01000001 00000000</a:t>
                      </a:r>
                    </a:p>
                  </a:txBody>
                  <a:tcPr anchor="ctr"/>
                </a:tc>
                <a:extLst>
                  <a:ext uri="{0D108BD9-81ED-4DB2-BD59-A6C34878D82A}">
                    <a16:rowId xmlns:a16="http://schemas.microsoft.com/office/drawing/2014/main" val="2255597038"/>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é</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11000011 10101001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00101001 00000110</a:t>
                      </a:r>
                    </a:p>
                  </a:txBody>
                  <a:tcPr anchor="ctr"/>
                </a:tc>
                <a:extLst>
                  <a:ext uri="{0D108BD9-81ED-4DB2-BD59-A6C34878D82A}">
                    <a16:rowId xmlns:a16="http://schemas.microsoft.com/office/drawing/2014/main" val="696482109"/>
                  </a:ext>
                </a:extLst>
              </a:tr>
              <a:tr h="609600">
                <a:tc>
                  <a:txBody>
                    <a:bodyPr/>
                    <a:lstStyle/>
                    <a:p>
                      <a:pPr algn="ctr">
                        <a:buNone/>
                      </a:pPr>
                      <a:r>
                        <a:rPr lang="en-US" sz="170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11100010 10000010 10101100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10000000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00001010 00100000</a:t>
                      </a:r>
                    </a:p>
                  </a:txBody>
                  <a:tcPr anchor="ctr"/>
                </a:tc>
                <a:extLst>
                  <a:ext uri="{0D108BD9-81ED-4DB2-BD59-A6C34878D82A}">
                    <a16:rowId xmlns:a16="http://schemas.microsoft.com/office/drawing/2014/main" val="222122572"/>
                  </a:ext>
                </a:extLst>
              </a:tr>
              <a:tr h="609600">
                <a:tc>
                  <a:txBody>
                    <a:bodyPr/>
                    <a:lstStyle/>
                    <a:p>
                      <a:pPr algn="ctr">
                        <a:buNone/>
                      </a:pPr>
                      <a:r>
                        <a:rPr lang="en-US" sz="1700" dirty="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11100010 10000000 10011100</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10010100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01000000 01001111</a:t>
                      </a:r>
                    </a:p>
                  </a:txBody>
                  <a:tcPr anchor="ctr"/>
                </a:tc>
                <a:extLst>
                  <a:ext uri="{0D108BD9-81ED-4DB2-BD59-A6C34878D82A}">
                    <a16:rowId xmlns:a16="http://schemas.microsoft.com/office/drawing/2014/main" val="2434604165"/>
                  </a:ext>
                </a:extLst>
              </a:tr>
            </a:tbl>
          </a:graphicData>
        </a:graphic>
      </p:graphicFrame>
    </p:spTree>
    <p:extLst>
      <p:ext uri="{BB962C8B-B14F-4D97-AF65-F5344CB8AC3E}">
        <p14:creationId xmlns:p14="http://schemas.microsoft.com/office/powerpoint/2010/main" val="413071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8CA-D795-8DD2-5A17-357D299D6CE4}"/>
              </a:ext>
            </a:extLst>
          </p:cNvPr>
          <p:cNvSpPr>
            <a:spLocks noGrp="1"/>
          </p:cNvSpPr>
          <p:nvPr>
            <p:ph type="title"/>
          </p:nvPr>
        </p:nvSpPr>
        <p:spPr/>
        <p:txBody>
          <a:bodyPr/>
          <a:lstStyle/>
          <a:p>
            <a:r>
              <a:rPr lang="en-US" dirty="0"/>
              <a:t>Base64 Encoding</a:t>
            </a:r>
          </a:p>
        </p:txBody>
      </p:sp>
      <p:sp>
        <p:nvSpPr>
          <p:cNvPr id="3" name="Content Placeholder 2">
            <a:extLst>
              <a:ext uri="{FF2B5EF4-FFF2-40B4-BE49-F238E27FC236}">
                <a16:creationId xmlns:a16="http://schemas.microsoft.com/office/drawing/2014/main" id="{4EFF6918-E014-7E4F-ADD7-66181B6A7BBC}"/>
              </a:ext>
            </a:extLst>
          </p:cNvPr>
          <p:cNvSpPr>
            <a:spLocks noGrp="1"/>
          </p:cNvSpPr>
          <p:nvPr>
            <p:ph idx="1"/>
          </p:nvPr>
        </p:nvSpPr>
        <p:spPr>
          <a:xfrm>
            <a:off x="548641" y="1600199"/>
            <a:ext cx="5679440" cy="4572000"/>
          </a:xfrm>
        </p:spPr>
        <p:txBody>
          <a:bodyPr/>
          <a:lstStyle/>
          <a:p>
            <a:r>
              <a:rPr lang="en-US" dirty="0"/>
              <a:t>Common HTTP encoding type</a:t>
            </a:r>
          </a:p>
          <a:p>
            <a:r>
              <a:rPr lang="en-US" dirty="0"/>
              <a:t>Converts every 6 bits into a character (2^6 options…)</a:t>
            </a:r>
          </a:p>
          <a:p>
            <a:pPr lvl="1"/>
            <a:r>
              <a:rPr lang="en-US" dirty="0"/>
              <a:t>A-Z</a:t>
            </a:r>
          </a:p>
          <a:p>
            <a:pPr lvl="1"/>
            <a:r>
              <a:rPr lang="en-US" dirty="0"/>
              <a:t>a-z</a:t>
            </a:r>
          </a:p>
          <a:p>
            <a:pPr lvl="1"/>
            <a:r>
              <a:rPr lang="en-US" dirty="0"/>
              <a:t>0-9</a:t>
            </a:r>
          </a:p>
          <a:p>
            <a:pPr lvl="1"/>
            <a:r>
              <a:rPr lang="en-US" dirty="0"/>
              <a:t>/+</a:t>
            </a:r>
          </a:p>
          <a:p>
            <a:r>
              <a:rPr lang="en-US" dirty="0"/>
              <a:t>Every 3 bytes </a:t>
            </a:r>
            <a:r>
              <a:rPr lang="en-US" dirty="0">
                <a:sym typeface="Wingdings" panose="05000000000000000000" pitchFamily="2" charset="2"/>
              </a:rPr>
              <a:t> 4 characters</a:t>
            </a:r>
            <a:endParaRPr lang="en-US" dirty="0"/>
          </a:p>
        </p:txBody>
      </p:sp>
      <p:sp>
        <p:nvSpPr>
          <p:cNvPr id="4" name="Date Placeholder 3">
            <a:extLst>
              <a:ext uri="{FF2B5EF4-FFF2-40B4-BE49-F238E27FC236}">
                <a16:creationId xmlns:a16="http://schemas.microsoft.com/office/drawing/2014/main" id="{5739DEC8-5A35-75D5-9638-F56804F12339}"/>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CE6EEC28-5E34-E95E-9F52-6396E99760B3}"/>
              </a:ext>
            </a:extLst>
          </p:cNvPr>
          <p:cNvSpPr>
            <a:spLocks noGrp="1"/>
          </p:cNvSpPr>
          <p:nvPr>
            <p:ph type="sldNum" sz="quarter" idx="11"/>
          </p:nvPr>
        </p:nvSpPr>
        <p:spPr/>
        <p:txBody>
          <a:bodyPr/>
          <a:lstStyle/>
          <a:p>
            <a:fld id="{64E5BE4B-2FBF-4174-9E62-85FAD1CB43A6}" type="slidenum">
              <a:rPr lang="en-US" smtClean="0"/>
              <a:pPr/>
              <a:t>12</a:t>
            </a:fld>
            <a:endParaRPr lang="en-US"/>
          </a:p>
        </p:txBody>
      </p:sp>
      <p:pic>
        <p:nvPicPr>
          <p:cNvPr id="7" name="Picture 6">
            <a:extLst>
              <a:ext uri="{FF2B5EF4-FFF2-40B4-BE49-F238E27FC236}">
                <a16:creationId xmlns:a16="http://schemas.microsoft.com/office/drawing/2014/main" id="{AEF19680-EFD5-86E3-BA8C-255B19E7592C}"/>
              </a:ext>
            </a:extLst>
          </p:cNvPr>
          <p:cNvPicPr>
            <a:picLocks noChangeAspect="1"/>
          </p:cNvPicPr>
          <p:nvPr/>
        </p:nvPicPr>
        <p:blipFill>
          <a:blip r:embed="rId3"/>
          <a:stretch>
            <a:fillRect/>
          </a:stretch>
        </p:blipFill>
        <p:spPr>
          <a:xfrm>
            <a:off x="6827520" y="1142997"/>
            <a:ext cx="5130994" cy="5571727"/>
          </a:xfrm>
          <a:prstGeom prst="rect">
            <a:avLst/>
          </a:prstGeom>
        </p:spPr>
      </p:pic>
    </p:spTree>
    <p:extLst>
      <p:ext uri="{BB962C8B-B14F-4D97-AF65-F5344CB8AC3E}">
        <p14:creationId xmlns:p14="http://schemas.microsoft.com/office/powerpoint/2010/main" val="316655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FF68-343E-F5F9-5A0C-85A025592E37}"/>
              </a:ext>
            </a:extLst>
          </p:cNvPr>
          <p:cNvSpPr>
            <a:spLocks noGrp="1"/>
          </p:cNvSpPr>
          <p:nvPr>
            <p:ph type="title"/>
          </p:nvPr>
        </p:nvSpPr>
        <p:spPr/>
        <p:txBody>
          <a:bodyPr/>
          <a:lstStyle/>
          <a:p>
            <a:r>
              <a:rPr lang="en-US" dirty="0"/>
              <a:t>Python Base64</a:t>
            </a:r>
          </a:p>
        </p:txBody>
      </p:sp>
      <p:sp>
        <p:nvSpPr>
          <p:cNvPr id="3" name="Content Placeholder 2">
            <a:extLst>
              <a:ext uri="{FF2B5EF4-FFF2-40B4-BE49-F238E27FC236}">
                <a16:creationId xmlns:a16="http://schemas.microsoft.com/office/drawing/2014/main" id="{3F545E95-C6A3-0E44-4BBF-21D1BEBD1591}"/>
              </a:ext>
            </a:extLst>
          </p:cNvPr>
          <p:cNvSpPr>
            <a:spLocks noGrp="1"/>
          </p:cNvSpPr>
          <p:nvPr>
            <p:ph idx="1"/>
          </p:nvPr>
        </p:nvSpPr>
        <p:spPr/>
        <p:txBody>
          <a:bodyPr/>
          <a:lstStyle/>
          <a:p>
            <a:r>
              <a:rPr lang="en-US" dirty="0"/>
              <a:t>Demo converting an image and some text</a:t>
            </a:r>
          </a:p>
        </p:txBody>
      </p:sp>
      <p:sp>
        <p:nvSpPr>
          <p:cNvPr id="4" name="Date Placeholder 3">
            <a:extLst>
              <a:ext uri="{FF2B5EF4-FFF2-40B4-BE49-F238E27FC236}">
                <a16:creationId xmlns:a16="http://schemas.microsoft.com/office/drawing/2014/main" id="{E72DAAB4-2CBE-DFF4-64DD-920615A57A26}"/>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7C0D0253-A895-1EE1-2013-EFC76909B4BD}"/>
              </a:ext>
            </a:extLst>
          </p:cNvPr>
          <p:cNvSpPr>
            <a:spLocks noGrp="1"/>
          </p:cNvSpPr>
          <p:nvPr>
            <p:ph type="sldNum" sz="quarter" idx="11"/>
          </p:nvPr>
        </p:nvSpPr>
        <p:spPr/>
        <p:txBody>
          <a:bodyPr/>
          <a:lstStyle/>
          <a:p>
            <a:fld id="{64E5BE4B-2FBF-4174-9E62-85FAD1CB43A6}" type="slidenum">
              <a:rPr lang="en-US" smtClean="0"/>
              <a:pPr/>
              <a:t>13</a:t>
            </a:fld>
            <a:endParaRPr lang="en-US"/>
          </a:p>
        </p:txBody>
      </p:sp>
    </p:spTree>
    <p:extLst>
      <p:ext uri="{BB962C8B-B14F-4D97-AF65-F5344CB8AC3E}">
        <p14:creationId xmlns:p14="http://schemas.microsoft.com/office/powerpoint/2010/main" val="2626205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06434-F997-27C3-919F-CE7837F349C1}"/>
              </a:ext>
            </a:extLst>
          </p:cNvPr>
          <p:cNvSpPr>
            <a:spLocks noGrp="1"/>
          </p:cNvSpPr>
          <p:nvPr>
            <p:ph type="title"/>
          </p:nvPr>
        </p:nvSpPr>
        <p:spPr/>
        <p:txBody>
          <a:bodyPr/>
          <a:lstStyle/>
          <a:p>
            <a:r>
              <a:rPr lang="en-US" dirty="0"/>
              <a:t>Hands-On #1</a:t>
            </a:r>
          </a:p>
        </p:txBody>
      </p:sp>
      <p:sp>
        <p:nvSpPr>
          <p:cNvPr id="7" name="Text Placeholder 6">
            <a:extLst>
              <a:ext uri="{FF2B5EF4-FFF2-40B4-BE49-F238E27FC236}">
                <a16:creationId xmlns:a16="http://schemas.microsoft.com/office/drawing/2014/main" id="{BAC52DAE-CBD8-631B-0394-8D79FD504D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09924F4-6F02-D811-576D-4B2CB7D71CDF}"/>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CA5BB809-B6F6-9BC1-E54D-7C07B20D75D3}"/>
              </a:ext>
            </a:extLst>
          </p:cNvPr>
          <p:cNvSpPr>
            <a:spLocks noGrp="1"/>
          </p:cNvSpPr>
          <p:nvPr>
            <p:ph type="sldNum" sz="quarter" idx="12"/>
          </p:nvPr>
        </p:nvSpPr>
        <p:spPr/>
        <p:txBody>
          <a:bodyPr/>
          <a:lstStyle/>
          <a:p>
            <a:fld id="{64E5BE4B-2FBF-4174-9E62-85FAD1CB43A6}" type="slidenum">
              <a:rPr lang="en-US" smtClean="0"/>
              <a:pPr/>
              <a:t>14</a:t>
            </a:fld>
            <a:endParaRPr lang="en-US"/>
          </a:p>
        </p:txBody>
      </p:sp>
    </p:spTree>
    <p:extLst>
      <p:ext uri="{BB962C8B-B14F-4D97-AF65-F5344CB8AC3E}">
        <p14:creationId xmlns:p14="http://schemas.microsoft.com/office/powerpoint/2010/main" val="3674312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0031-D8A1-AFDB-9E76-43EE5E2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9A7FE-0FD6-1D55-7B5D-64F57EAE18A9}"/>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87B272D5-96CB-30F8-8E36-82AAEEAD08B1}"/>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An API is a set of rules and protocols </a:t>
            </a:r>
            <a:r>
              <a:rPr lang="en-US"/>
              <a:t>allowing communication.</a:t>
            </a:r>
            <a:endParaRPr lang="en-US" dirty="0"/>
          </a:p>
          <a:p>
            <a:endParaRPr lang="en-US" b="0" dirty="0"/>
          </a:p>
          <a:p>
            <a:r>
              <a:rPr lang="en-US" b="0" dirty="0"/>
              <a:t>Analogy:</a:t>
            </a:r>
          </a:p>
          <a:p>
            <a:pPr marL="342900" indent="-342900">
              <a:buFont typeface="Arial" panose="020B0604020202020204" pitchFamily="34" charset="0"/>
              <a:buChar char="•"/>
            </a:pPr>
            <a:r>
              <a:rPr lang="en-US" b="0" dirty="0"/>
              <a:t>You (</a:t>
            </a:r>
            <a:r>
              <a:rPr lang="en-US" dirty="0"/>
              <a:t>client</a:t>
            </a:r>
            <a:r>
              <a:rPr lang="en-US" b="0" dirty="0"/>
              <a:t>) are at a restaurant</a:t>
            </a:r>
          </a:p>
          <a:p>
            <a:pPr marL="342900" indent="-342900">
              <a:buFont typeface="Arial" panose="020B0604020202020204" pitchFamily="34" charset="0"/>
              <a:buChar char="•"/>
            </a:pPr>
            <a:r>
              <a:rPr lang="en-US" b="0" dirty="0"/>
              <a:t>The kitchen (</a:t>
            </a:r>
            <a:r>
              <a:rPr lang="en-US" dirty="0"/>
              <a:t>server/database</a:t>
            </a:r>
            <a:r>
              <a:rPr lang="en-US" b="0" dirty="0"/>
              <a:t>) preps the food</a:t>
            </a:r>
          </a:p>
          <a:p>
            <a:pPr marL="342900" indent="-342900">
              <a:buFont typeface="Arial" panose="020B0604020202020204" pitchFamily="34" charset="0"/>
              <a:buChar char="•"/>
            </a:pPr>
            <a:r>
              <a:rPr lang="en-US" b="0" dirty="0"/>
              <a:t>The waiter (</a:t>
            </a:r>
            <a:r>
              <a:rPr lang="en-US" dirty="0"/>
              <a:t>API</a:t>
            </a:r>
            <a:r>
              <a:rPr lang="en-US" b="0" dirty="0"/>
              <a:t>) takes your order, delivers it to the kitchen, and brings the food back to you.</a:t>
            </a:r>
          </a:p>
        </p:txBody>
      </p:sp>
    </p:spTree>
    <p:extLst>
      <p:ext uri="{BB962C8B-B14F-4D97-AF65-F5344CB8AC3E}">
        <p14:creationId xmlns:p14="http://schemas.microsoft.com/office/powerpoint/2010/main" val="291465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A8AC-8D90-4A86-685A-349D7203D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961A9-959A-F96E-EDFA-59FA637CE1B2}"/>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989B67D4-18D0-578D-6801-6B69F7A6551A}"/>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buFont typeface="Arial" panose="020B0604020202020204" pitchFamily="34" charset="0"/>
              <a:buChar char="•"/>
            </a:pPr>
            <a:r>
              <a:rPr lang="en-US" dirty="0"/>
              <a:t>Efficiency</a:t>
            </a:r>
            <a:r>
              <a:rPr lang="en-US" b="0" dirty="0"/>
              <a:t>: Don’t reinvent the wheel.</a:t>
            </a:r>
          </a:p>
          <a:p>
            <a:pPr marL="342900" indent="-342900">
              <a:buFont typeface="Arial" panose="020B0604020202020204" pitchFamily="34" charset="0"/>
              <a:buChar char="•"/>
            </a:pPr>
            <a:r>
              <a:rPr lang="en-US" dirty="0"/>
              <a:t>Automation</a:t>
            </a:r>
            <a:r>
              <a:rPr lang="en-US" b="0" dirty="0"/>
              <a:t>: Eliminate manual data entry.</a:t>
            </a:r>
          </a:p>
          <a:p>
            <a:pPr marL="342900" indent="-342900">
              <a:buFont typeface="Arial" panose="020B0604020202020204" pitchFamily="34" charset="0"/>
              <a:buChar char="•"/>
            </a:pPr>
            <a:r>
              <a:rPr lang="en-US" dirty="0"/>
              <a:t>Security</a:t>
            </a:r>
            <a:r>
              <a:rPr lang="en-US" b="0" dirty="0"/>
              <a:t>: APIs only share the specific data requested.</a:t>
            </a:r>
          </a:p>
          <a:p>
            <a:pPr marL="342900" indent="-342900">
              <a:buFont typeface="Arial" panose="020B0604020202020204" pitchFamily="34" charset="0"/>
              <a:buChar char="•"/>
            </a:pPr>
            <a:r>
              <a:rPr lang="en-US" dirty="0"/>
              <a:t>Scalability</a:t>
            </a:r>
            <a:r>
              <a:rPr lang="en-US" b="0" dirty="0"/>
              <a:t>: Easy to connect new features, platforms, and services.</a:t>
            </a:r>
          </a:p>
        </p:txBody>
      </p:sp>
    </p:spTree>
    <p:extLst>
      <p:ext uri="{BB962C8B-B14F-4D97-AF65-F5344CB8AC3E}">
        <p14:creationId xmlns:p14="http://schemas.microsoft.com/office/powerpoint/2010/main" val="4087570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546C-9845-93FB-6A72-A22BCC33C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324EB-3EEB-6089-2596-7CB363CDCB01}"/>
              </a:ext>
            </a:extLst>
          </p:cNvPr>
          <p:cNvSpPr>
            <a:spLocks noGrp="1"/>
          </p:cNvSpPr>
          <p:nvPr>
            <p:ph type="title"/>
          </p:nvPr>
        </p:nvSpPr>
        <p:spPr>
          <a:xfrm>
            <a:off x="839788" y="365125"/>
            <a:ext cx="10515600" cy="1325563"/>
          </a:xfrm>
        </p:spPr>
        <p:txBody>
          <a:bodyPr/>
          <a:lstStyle/>
          <a:p>
            <a:r>
              <a:rPr lang="en-US" dirty="0"/>
              <a:t>API Terms</a:t>
            </a:r>
          </a:p>
        </p:txBody>
      </p:sp>
      <p:sp>
        <p:nvSpPr>
          <p:cNvPr id="5" name="Text Placeholder 4">
            <a:extLst>
              <a:ext uri="{FF2B5EF4-FFF2-40B4-BE49-F238E27FC236}">
                <a16:creationId xmlns:a16="http://schemas.microsoft.com/office/drawing/2014/main" id="{1F9E7410-8077-8A80-1D55-E3170972E84E}"/>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C6D2A7DC-D741-B968-D0E7-49E25B398C31}"/>
              </a:ext>
            </a:extLst>
          </p:cNvPr>
          <p:cNvSpPr>
            <a:spLocks noGrp="1"/>
          </p:cNvSpPr>
          <p:nvPr>
            <p:ph sz="half" idx="2"/>
          </p:nvPr>
        </p:nvSpPr>
        <p:spPr>
          <a:xfrm>
            <a:off x="839788" y="2505075"/>
            <a:ext cx="10512424" cy="3684588"/>
          </a:xfrm>
        </p:spPr>
        <p:txBody>
          <a:bodyPr>
            <a:normAutofit/>
          </a:bodyPr>
          <a:lstStyle/>
          <a:p>
            <a:pPr marL="0" indent="0">
              <a:buNone/>
            </a:pPr>
            <a:r>
              <a:rPr lang="en-US" dirty="0">
                <a:latin typeface="Courier New" panose="02070309020205020404" pitchFamily="49" charset="0"/>
                <a:cs typeface="Courier New" panose="02070309020205020404" pitchFamily="49" charset="0"/>
              </a:rPr>
              <a:t>GET /users/{user}/</a:t>
            </a:r>
            <a:r>
              <a:rPr lang="en-US" dirty="0" err="1">
                <a:latin typeface="Courier New" panose="02070309020205020404" pitchFamily="49" charset="0"/>
                <a:cs typeface="Courier New" panose="02070309020205020404" pitchFamily="49" charset="0"/>
              </a:rPr>
              <a:t>playlists?sort</a:t>
            </a:r>
            <a:r>
              <a:rPr lang="en-US" dirty="0">
                <a:latin typeface="Courier New" panose="02070309020205020404" pitchFamily="49" charset="0"/>
                <a:cs typeface="Courier New" panose="02070309020205020404" pitchFamily="49" charset="0"/>
              </a:rPr>
              <a:t>={direction} HTTP/1.1\r\n</a:t>
            </a:r>
          </a:p>
          <a:p>
            <a:pPr marL="0" indent="0">
              <a:buNone/>
            </a:pPr>
            <a:r>
              <a:rPr lang="en-US" dirty="0">
                <a:latin typeface="Courier New" panose="02070309020205020404" pitchFamily="49" charset="0"/>
                <a:cs typeface="Courier New" panose="02070309020205020404" pitchFamily="49" charset="0"/>
              </a:rPr>
              <a:t>Host: example.com\r\n</a:t>
            </a:r>
          </a:p>
          <a:p>
            <a:pPr marL="0" indent="0">
              <a:buNone/>
            </a:pPr>
            <a:r>
              <a:rPr lang="en-US" dirty="0">
                <a:latin typeface="Courier New" panose="02070309020205020404" pitchFamily="49" charset="0"/>
                <a:cs typeface="Courier New" panose="02070309020205020404" pitchFamily="49" charset="0"/>
              </a:rPr>
              <a:t>Authentication: "Bearer 1234deadb33f"</a:t>
            </a:r>
          </a:p>
          <a:p>
            <a:pPr marL="0" indent="0">
              <a:buNone/>
            </a:pPr>
            <a:r>
              <a:rPr lang="en-US" dirty="0">
                <a:latin typeface="Courier New" panose="02070309020205020404" pitchFamily="49" charset="0"/>
                <a:cs typeface="Courier New" panose="02070309020205020404" pitchFamily="49" charset="0"/>
              </a:rPr>
              <a:t>Accept: */*\r\n</a:t>
            </a:r>
          </a:p>
          <a:p>
            <a:pPr marL="0" indent="0">
              <a:buNone/>
            </a:pPr>
            <a:r>
              <a:rPr lang="en-US" dirty="0">
                <a:latin typeface="Courier New" panose="02070309020205020404" pitchFamily="49" charset="0"/>
                <a:cs typeface="Courier New" panose="02070309020205020404" pitchFamily="49" charset="0"/>
              </a:rPr>
              <a:t>\r\n</a:t>
            </a:r>
          </a:p>
          <a:p>
            <a:pPr marL="0" indent="0">
              <a:buNone/>
            </a:pPr>
            <a:r>
              <a:rPr lang="en-US" dirty="0">
                <a:latin typeface="Courier New" panose="02070309020205020404" pitchFamily="49" charset="0"/>
                <a:cs typeface="Courier New" panose="02070309020205020404" pitchFamily="49" charset="0"/>
              </a:rPr>
              <a:t>{"genre": "rock"}\r\n</a:t>
            </a:r>
          </a:p>
        </p:txBody>
      </p:sp>
      <p:sp>
        <p:nvSpPr>
          <p:cNvPr id="9" name="Rectangle 8">
            <a:extLst>
              <a:ext uri="{FF2B5EF4-FFF2-40B4-BE49-F238E27FC236}">
                <a16:creationId xmlns:a16="http://schemas.microsoft.com/office/drawing/2014/main" id="{04E78EA0-AA15-0752-17CA-3A1B3DABD959}"/>
              </a:ext>
            </a:extLst>
          </p:cNvPr>
          <p:cNvSpPr/>
          <p:nvPr/>
        </p:nvSpPr>
        <p:spPr>
          <a:xfrm>
            <a:off x="1579853" y="2463419"/>
            <a:ext cx="416985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50E4215-CC83-8F02-88FE-59C885E8D216}"/>
              </a:ext>
            </a:extLst>
          </p:cNvPr>
          <p:cNvSpPr txBox="1"/>
          <p:nvPr/>
        </p:nvSpPr>
        <p:spPr>
          <a:xfrm>
            <a:off x="5997575" y="266440"/>
            <a:ext cx="3734382" cy="1384995"/>
          </a:xfrm>
          <a:prstGeom prst="rect">
            <a:avLst/>
          </a:prstGeom>
          <a:noFill/>
        </p:spPr>
        <p:txBody>
          <a:bodyPr wrap="square" rtlCol="0">
            <a:spAutoFit/>
          </a:bodyPr>
          <a:lstStyle/>
          <a:p>
            <a:r>
              <a:rPr lang="en-US" sz="2800" dirty="0">
                <a:solidFill>
                  <a:schemeClr val="accent2"/>
                </a:solidFill>
              </a:rPr>
              <a:t>Path</a:t>
            </a:r>
          </a:p>
          <a:p>
            <a:r>
              <a:rPr lang="en-US" sz="2800" dirty="0">
                <a:solidFill>
                  <a:schemeClr val="accent4"/>
                </a:solidFill>
              </a:rPr>
              <a:t>Query String</a:t>
            </a:r>
          </a:p>
          <a:p>
            <a:r>
              <a:rPr lang="en-US" sz="2800" dirty="0">
                <a:solidFill>
                  <a:schemeClr val="accent6"/>
                </a:solidFill>
              </a:rPr>
              <a:t>Body</a:t>
            </a:r>
          </a:p>
        </p:txBody>
      </p:sp>
      <p:sp>
        <p:nvSpPr>
          <p:cNvPr id="12" name="Rectangle 11">
            <a:extLst>
              <a:ext uri="{FF2B5EF4-FFF2-40B4-BE49-F238E27FC236}">
                <a16:creationId xmlns:a16="http://schemas.microsoft.com/office/drawing/2014/main" id="{0C78B5A9-E084-5B63-52D0-56E339CF3E08}"/>
              </a:ext>
            </a:extLst>
          </p:cNvPr>
          <p:cNvSpPr/>
          <p:nvPr/>
        </p:nvSpPr>
        <p:spPr>
          <a:xfrm>
            <a:off x="5946336" y="2463420"/>
            <a:ext cx="2920426" cy="451786"/>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483AE-D765-0E14-0D18-C18E8523BF90}"/>
              </a:ext>
            </a:extLst>
          </p:cNvPr>
          <p:cNvSpPr/>
          <p:nvPr/>
        </p:nvSpPr>
        <p:spPr>
          <a:xfrm>
            <a:off x="799843" y="4812520"/>
            <a:ext cx="3149790"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380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6578-1CC0-B5DF-151B-592305F58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60273-FE3B-1138-04F9-B3122CECEC99}"/>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201CFD5C-421C-65DD-83BA-CA41D7ED8DA8}"/>
              </a:ext>
            </a:extLst>
          </p:cNvPr>
          <p:cNvSpPr>
            <a:spLocks noGrp="1"/>
          </p:cNvSpPr>
          <p:nvPr>
            <p:ph idx="1"/>
          </p:nvPr>
        </p:nvSpPr>
        <p:spPr/>
        <p:txBody>
          <a:bodyPr/>
          <a:lstStyle/>
          <a:p>
            <a:r>
              <a:rPr lang="en-US" sz="3600" dirty="0">
                <a:hlinkClick r:id="rId2"/>
              </a:rPr>
              <a:t>PayPal</a:t>
            </a:r>
            <a:r>
              <a:rPr lang="en-US" sz="3600" dirty="0"/>
              <a:t> </a:t>
            </a:r>
          </a:p>
        </p:txBody>
      </p:sp>
      <p:sp>
        <p:nvSpPr>
          <p:cNvPr id="4" name="Date Placeholder 3">
            <a:extLst>
              <a:ext uri="{FF2B5EF4-FFF2-40B4-BE49-F238E27FC236}">
                <a16:creationId xmlns:a16="http://schemas.microsoft.com/office/drawing/2014/main" id="{F28F99AA-E72F-EC8E-8676-7CDBDE97CBD8}"/>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A9E51041-96C6-2AEF-A8DF-D0613E8714B7}"/>
              </a:ext>
            </a:extLst>
          </p:cNvPr>
          <p:cNvSpPr>
            <a:spLocks noGrp="1"/>
          </p:cNvSpPr>
          <p:nvPr>
            <p:ph type="sldNum" sz="quarter" idx="11"/>
          </p:nvPr>
        </p:nvSpPr>
        <p:spPr/>
        <p:txBody>
          <a:bodyPr/>
          <a:lstStyle/>
          <a:p>
            <a:fld id="{64E5BE4B-2FBF-4174-9E62-85FAD1CB43A6}" type="slidenum">
              <a:rPr lang="en-US" smtClean="0"/>
              <a:pPr/>
              <a:t>18</a:t>
            </a:fld>
            <a:endParaRPr lang="en-US"/>
          </a:p>
        </p:txBody>
      </p:sp>
    </p:spTree>
    <p:extLst>
      <p:ext uri="{BB962C8B-B14F-4D97-AF65-F5344CB8AC3E}">
        <p14:creationId xmlns:p14="http://schemas.microsoft.com/office/powerpoint/2010/main" val="204598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909E-0777-2269-30A3-E18FCC6D72AD}"/>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0621767E-A648-7020-1001-2A53FE820F74}"/>
              </a:ext>
            </a:extLst>
          </p:cNvPr>
          <p:cNvSpPr>
            <a:spLocks noGrp="1"/>
          </p:cNvSpPr>
          <p:nvPr>
            <p:ph idx="1"/>
          </p:nvPr>
        </p:nvSpPr>
        <p:spPr/>
        <p:txBody>
          <a:bodyPr/>
          <a:lstStyle/>
          <a:p>
            <a:r>
              <a:rPr lang="en-US" dirty="0"/>
              <a:t>In groups:</a:t>
            </a:r>
          </a:p>
          <a:p>
            <a:pPr lvl="1"/>
            <a:r>
              <a:rPr lang="en-US" dirty="0"/>
              <a:t>Compare two commits in GitHub</a:t>
            </a:r>
          </a:p>
          <a:p>
            <a:pPr lvl="1"/>
            <a:r>
              <a:rPr lang="en-US" dirty="0"/>
              <a:t>Plan a route using Google Maps</a:t>
            </a:r>
          </a:p>
          <a:p>
            <a:pPr lvl="1"/>
            <a:r>
              <a:rPr lang="en-US" dirty="0"/>
              <a:t>See my abandoned carts in Shopify</a:t>
            </a:r>
          </a:p>
          <a:p>
            <a:pPr lvl="1"/>
            <a:r>
              <a:rPr lang="en-US" dirty="0"/>
              <a:t>Create a new Spotify playlist</a:t>
            </a:r>
          </a:p>
          <a:p>
            <a:endParaRPr lang="en-US" dirty="0"/>
          </a:p>
          <a:p>
            <a:r>
              <a:rPr lang="en-US" dirty="0"/>
              <a:t>Per task, identify the following:</a:t>
            </a:r>
          </a:p>
          <a:p>
            <a:pPr lvl="1"/>
            <a:r>
              <a:rPr lang="en-US" dirty="0"/>
              <a:t>Endpoint, e.g. </a:t>
            </a:r>
            <a:r>
              <a:rPr lang="en-US" dirty="0">
                <a:hlinkClick r:id="rId3"/>
              </a:rPr>
              <a:t>https://api.github.com/repos/{owner}/{repo}/commits</a:t>
            </a:r>
            <a:endParaRPr lang="en-US" dirty="0"/>
          </a:p>
          <a:p>
            <a:pPr lvl="1"/>
            <a:r>
              <a:rPr lang="en-US" dirty="0"/>
              <a:t>Required parameters (path, body, or query string?)</a:t>
            </a:r>
          </a:p>
          <a:p>
            <a:pPr lvl="1"/>
            <a:r>
              <a:rPr lang="en-US" dirty="0"/>
              <a:t>Optional parameters (path, body, or query string?)</a:t>
            </a:r>
          </a:p>
          <a:p>
            <a:pPr lvl="1"/>
            <a:r>
              <a:rPr lang="en-US" dirty="0"/>
              <a:t>How do they handle multiple responses (e.g. 1000 commits)?</a:t>
            </a:r>
          </a:p>
          <a:p>
            <a:pPr lvl="1"/>
            <a:endParaRPr lang="en-US" dirty="0"/>
          </a:p>
        </p:txBody>
      </p:sp>
      <p:sp>
        <p:nvSpPr>
          <p:cNvPr id="4" name="Date Placeholder 3">
            <a:extLst>
              <a:ext uri="{FF2B5EF4-FFF2-40B4-BE49-F238E27FC236}">
                <a16:creationId xmlns:a16="http://schemas.microsoft.com/office/drawing/2014/main" id="{1F009396-804B-8C57-3DD3-80E2F254CC02}"/>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F35BF542-8CEA-C17D-1DC5-D67DFFAD4C67}"/>
              </a:ext>
            </a:extLst>
          </p:cNvPr>
          <p:cNvSpPr>
            <a:spLocks noGrp="1"/>
          </p:cNvSpPr>
          <p:nvPr>
            <p:ph type="sldNum" sz="quarter" idx="11"/>
          </p:nvPr>
        </p:nvSpPr>
        <p:spPr/>
        <p:txBody>
          <a:bodyPr/>
          <a:lstStyle/>
          <a:p>
            <a:fld id="{64E5BE4B-2FBF-4174-9E62-85FAD1CB43A6}" type="slidenum">
              <a:rPr lang="en-US" smtClean="0"/>
              <a:pPr/>
              <a:t>19</a:t>
            </a:fld>
            <a:endParaRPr lang="en-US"/>
          </a:p>
        </p:txBody>
      </p:sp>
    </p:spTree>
    <p:extLst>
      <p:ext uri="{BB962C8B-B14F-4D97-AF65-F5344CB8AC3E}">
        <p14:creationId xmlns:p14="http://schemas.microsoft.com/office/powerpoint/2010/main" val="246403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3039-C858-2C3F-18AB-3CC2B675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3A3F6-B67E-54C5-6D85-E9992D53577A}"/>
              </a:ext>
            </a:extLst>
          </p:cNvPr>
          <p:cNvSpPr>
            <a:spLocks noGrp="1"/>
          </p:cNvSpPr>
          <p:nvPr>
            <p:ph type="title"/>
          </p:nvPr>
        </p:nvSpPr>
        <p:spPr>
          <a:xfrm>
            <a:off x="548640" y="411481"/>
            <a:ext cx="8231293" cy="914400"/>
          </a:xfrm>
        </p:spPr>
        <p:txBody>
          <a:bodyPr/>
          <a:lstStyle/>
          <a:p>
            <a:r>
              <a:rPr lang="en-US" dirty="0"/>
              <a:t>Authentication</a:t>
            </a:r>
          </a:p>
        </p:txBody>
      </p:sp>
      <p:sp>
        <p:nvSpPr>
          <p:cNvPr id="3" name="Content Placeholder 2">
            <a:extLst>
              <a:ext uri="{FF2B5EF4-FFF2-40B4-BE49-F238E27FC236}">
                <a16:creationId xmlns:a16="http://schemas.microsoft.com/office/drawing/2014/main" id="{98819479-A671-7093-4EDE-E094D956DBB4}"/>
              </a:ext>
            </a:extLst>
          </p:cNvPr>
          <p:cNvSpPr>
            <a:spLocks noGrp="1"/>
          </p:cNvSpPr>
          <p:nvPr>
            <p:ph idx="1"/>
          </p:nvPr>
        </p:nvSpPr>
        <p:spPr>
          <a:xfrm>
            <a:off x="548640" y="1600199"/>
            <a:ext cx="11024925" cy="4572000"/>
          </a:xfrm>
        </p:spPr>
        <p:txBody>
          <a:bodyPr/>
          <a:lstStyle/>
          <a:p>
            <a:r>
              <a:rPr lang="en-US" dirty="0"/>
              <a:t>Authorization vs Authentication?</a:t>
            </a:r>
          </a:p>
          <a:p>
            <a:r>
              <a:rPr lang="en-US" dirty="0"/>
              <a:t>How does a stateless protocol handle authentication?</a:t>
            </a:r>
          </a:p>
        </p:txBody>
      </p:sp>
    </p:spTree>
    <p:extLst>
      <p:ext uri="{BB962C8B-B14F-4D97-AF65-F5344CB8AC3E}">
        <p14:creationId xmlns:p14="http://schemas.microsoft.com/office/powerpoint/2010/main" val="41459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91C8-6A58-E40E-FED1-94B89E967D7A}"/>
              </a:ext>
            </a:extLst>
          </p:cNvPr>
          <p:cNvSpPr>
            <a:spLocks noGrp="1"/>
          </p:cNvSpPr>
          <p:nvPr>
            <p:ph type="title"/>
          </p:nvPr>
        </p:nvSpPr>
        <p:spPr/>
        <p:txBody>
          <a:bodyPr/>
          <a:lstStyle/>
          <a:p>
            <a:r>
              <a:rPr lang="en-US" dirty="0"/>
              <a:t>Basic Authentication</a:t>
            </a:r>
          </a:p>
        </p:txBody>
      </p:sp>
      <p:sp>
        <p:nvSpPr>
          <p:cNvPr id="4" name="Date Placeholder 3">
            <a:extLst>
              <a:ext uri="{FF2B5EF4-FFF2-40B4-BE49-F238E27FC236}">
                <a16:creationId xmlns:a16="http://schemas.microsoft.com/office/drawing/2014/main" id="{1AF0D519-2DAF-50D0-D67D-A7339A2417E3}"/>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1E82177-F9BA-551A-7FD4-EE526677556D}"/>
              </a:ext>
            </a:extLst>
          </p:cNvPr>
          <p:cNvSpPr>
            <a:spLocks noGrp="1"/>
          </p:cNvSpPr>
          <p:nvPr>
            <p:ph type="sldNum" sz="quarter" idx="11"/>
          </p:nvPr>
        </p:nvSpPr>
        <p:spPr/>
        <p:txBody>
          <a:bodyPr/>
          <a:lstStyle/>
          <a:p>
            <a:fld id="{64E5BE4B-2FBF-4174-9E62-85FAD1CB43A6}" type="slidenum">
              <a:rPr lang="en-US" smtClean="0"/>
              <a:pPr/>
              <a:t>21</a:t>
            </a:fld>
            <a:endParaRPr lang="en-US"/>
          </a:p>
        </p:txBody>
      </p:sp>
      <p:pic>
        <p:nvPicPr>
          <p:cNvPr id="9" name="Content Placeholder 8" descr="Basic Authentication in ASP.NET Web API | Microsoft Learn">
            <a:extLst>
              <a:ext uri="{FF2B5EF4-FFF2-40B4-BE49-F238E27FC236}">
                <a16:creationId xmlns:a16="http://schemas.microsoft.com/office/drawing/2014/main" id="{60AF7BFE-693A-B09F-DAAF-A592C0D5C41E}"/>
              </a:ext>
            </a:extLst>
          </p:cNvPr>
          <p:cNvPicPr>
            <a:picLocks noGrp="1" noChangeAspect="1"/>
          </p:cNvPicPr>
          <p:nvPr>
            <p:ph idx="1"/>
          </p:nvPr>
        </p:nvPicPr>
        <p:blipFill>
          <a:blip r:embed="rId3"/>
          <a:stretch>
            <a:fillRect/>
          </a:stretch>
        </p:blipFill>
        <p:spPr>
          <a:xfrm>
            <a:off x="2491874" y="1267797"/>
            <a:ext cx="7208252" cy="3117493"/>
          </a:xfrm>
          <a:prstGeom prst="rect">
            <a:avLst/>
          </a:prstGeom>
        </p:spPr>
      </p:pic>
      <p:sp>
        <p:nvSpPr>
          <p:cNvPr id="10" name="TextBox 9">
            <a:extLst>
              <a:ext uri="{FF2B5EF4-FFF2-40B4-BE49-F238E27FC236}">
                <a16:creationId xmlns:a16="http://schemas.microsoft.com/office/drawing/2014/main" id="{276CF770-DEF0-59F3-36A0-2AA911530487}"/>
              </a:ext>
            </a:extLst>
          </p:cNvPr>
          <p:cNvSpPr txBox="1"/>
          <p:nvPr/>
        </p:nvSpPr>
        <p:spPr>
          <a:xfrm>
            <a:off x="1666028"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err="1">
                <a:latin typeface="Courier New" panose="02070309020205020404" pitchFamily="49" charset="0"/>
                <a:cs typeface="Courier New" panose="02070309020205020404" pitchFamily="49" charset="0"/>
              </a:rPr>
              <a:t>username:password</a:t>
            </a:r>
            <a:endParaRPr lang="en-US" sz="1700" dirty="0">
              <a:latin typeface="Courier New" panose="02070309020205020404" pitchFamily="49" charset="0"/>
              <a:cs typeface="Courier New" panose="02070309020205020404" pitchFamily="49" charset="0"/>
            </a:endParaRPr>
          </a:p>
        </p:txBody>
      </p:sp>
      <p:cxnSp>
        <p:nvCxnSpPr>
          <p:cNvPr id="12" name="Straight Arrow Connector 11">
            <a:extLst>
              <a:ext uri="{FF2B5EF4-FFF2-40B4-BE49-F238E27FC236}">
                <a16:creationId xmlns:a16="http://schemas.microsoft.com/office/drawing/2014/main" id="{4C1A1A80-326A-D2C9-5E42-B9E51223CFEA}"/>
              </a:ext>
            </a:extLst>
          </p:cNvPr>
          <p:cNvCxnSpPr/>
          <p:nvPr/>
        </p:nvCxnSpPr>
        <p:spPr>
          <a:xfrm>
            <a:off x="4064532" y="5337990"/>
            <a:ext cx="612792" cy="0"/>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
        <p:nvSpPr>
          <p:cNvPr id="13" name="TextBox 12">
            <a:extLst>
              <a:ext uri="{FF2B5EF4-FFF2-40B4-BE49-F238E27FC236}">
                <a16:creationId xmlns:a16="http://schemas.microsoft.com/office/drawing/2014/main" id="{6A3171B8-B539-34F4-75C7-BC0670B088D4}"/>
              </a:ext>
            </a:extLst>
          </p:cNvPr>
          <p:cNvSpPr txBox="1"/>
          <p:nvPr/>
        </p:nvSpPr>
        <p:spPr>
          <a:xfrm>
            <a:off x="4772275"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a:latin typeface="Courier New" panose="02070309020205020404" pitchFamily="49" charset="0"/>
                <a:cs typeface="Courier New" panose="02070309020205020404" pitchFamily="49" charset="0"/>
              </a:rPr>
              <a:t>Base64 encoded</a:t>
            </a:r>
          </a:p>
        </p:txBody>
      </p:sp>
      <p:cxnSp>
        <p:nvCxnSpPr>
          <p:cNvPr id="14" name="Straight Arrow Connector 13">
            <a:extLst>
              <a:ext uri="{FF2B5EF4-FFF2-40B4-BE49-F238E27FC236}">
                <a16:creationId xmlns:a16="http://schemas.microsoft.com/office/drawing/2014/main" id="{8A183196-FCA7-75BC-CBE3-0253E633D2D3}"/>
              </a:ext>
            </a:extLst>
          </p:cNvPr>
          <p:cNvCxnSpPr>
            <a:cxnSpLocks/>
          </p:cNvCxnSpPr>
          <p:nvPr/>
        </p:nvCxnSpPr>
        <p:spPr>
          <a:xfrm flipV="1">
            <a:off x="6754273" y="3992720"/>
            <a:ext cx="153995" cy="1339685"/>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0474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1446-ADB3-2F38-B72B-4030E81056C2}"/>
              </a:ext>
            </a:extLst>
          </p:cNvPr>
          <p:cNvSpPr>
            <a:spLocks noGrp="1"/>
          </p:cNvSpPr>
          <p:nvPr>
            <p:ph type="title"/>
          </p:nvPr>
        </p:nvSpPr>
        <p:spPr/>
        <p:txBody>
          <a:bodyPr/>
          <a:lstStyle/>
          <a:p>
            <a:r>
              <a:rPr lang="en-US" dirty="0"/>
              <a:t>Key/Token Authentication</a:t>
            </a:r>
          </a:p>
        </p:txBody>
      </p:sp>
      <p:pic>
        <p:nvPicPr>
          <p:cNvPr id="6" name="Content Placeholder 5" descr="https://storage.googleapis.com/gweb-cloudblog-publish/images/2_REST_API_authentication.max-600x600.jpg">
            <a:extLst>
              <a:ext uri="{FF2B5EF4-FFF2-40B4-BE49-F238E27FC236}">
                <a16:creationId xmlns:a16="http://schemas.microsoft.com/office/drawing/2014/main" id="{F7E46912-BD70-B243-81D7-FBBB4A84C52A}"/>
              </a:ext>
            </a:extLst>
          </p:cNvPr>
          <p:cNvPicPr>
            <a:picLocks noGrp="1" noChangeAspect="1"/>
          </p:cNvPicPr>
          <p:nvPr>
            <p:ph idx="1"/>
          </p:nvPr>
        </p:nvPicPr>
        <p:blipFill>
          <a:blip r:embed="rId3"/>
          <a:srcRect t="17639"/>
          <a:stretch>
            <a:fillRect/>
          </a:stretch>
        </p:blipFill>
        <p:spPr>
          <a:xfrm>
            <a:off x="1789355" y="1505475"/>
            <a:ext cx="8910239" cy="4354235"/>
          </a:xfrm>
          <a:prstGeom prst="rect">
            <a:avLst/>
          </a:prstGeom>
        </p:spPr>
      </p:pic>
      <p:sp>
        <p:nvSpPr>
          <p:cNvPr id="4" name="Date Placeholder 3">
            <a:extLst>
              <a:ext uri="{FF2B5EF4-FFF2-40B4-BE49-F238E27FC236}">
                <a16:creationId xmlns:a16="http://schemas.microsoft.com/office/drawing/2014/main" id="{BDE9BF91-2812-2A4F-A013-2930309161C1}"/>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1DA38EAD-0C32-AB1B-3764-BBA95303CBC4}"/>
              </a:ext>
            </a:extLst>
          </p:cNvPr>
          <p:cNvSpPr>
            <a:spLocks noGrp="1"/>
          </p:cNvSpPr>
          <p:nvPr>
            <p:ph type="sldNum" sz="quarter" idx="11"/>
          </p:nvPr>
        </p:nvSpPr>
        <p:spPr/>
        <p:txBody>
          <a:bodyPr/>
          <a:lstStyle/>
          <a:p>
            <a:fld id="{64E5BE4B-2FBF-4174-9E62-85FAD1CB43A6}" type="slidenum">
              <a:rPr lang="en-US" smtClean="0"/>
              <a:pPr/>
              <a:t>22</a:t>
            </a:fld>
            <a:endParaRPr lang="en-US"/>
          </a:p>
        </p:txBody>
      </p:sp>
    </p:spTree>
    <p:extLst>
      <p:ext uri="{BB962C8B-B14F-4D97-AF65-F5344CB8AC3E}">
        <p14:creationId xmlns:p14="http://schemas.microsoft.com/office/powerpoint/2010/main" val="3062422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99FD1-804C-6A0E-D8D3-593A8FFE3A2D}"/>
              </a:ext>
            </a:extLst>
          </p:cNvPr>
          <p:cNvSpPr>
            <a:spLocks noGrp="1"/>
          </p:cNvSpPr>
          <p:nvPr>
            <p:ph type="title"/>
          </p:nvPr>
        </p:nvSpPr>
        <p:spPr/>
        <p:txBody>
          <a:bodyPr/>
          <a:lstStyle/>
          <a:p>
            <a:r>
              <a:rPr lang="en-US" dirty="0"/>
              <a:t>Session Cookies</a:t>
            </a:r>
          </a:p>
        </p:txBody>
      </p:sp>
      <p:pic>
        <p:nvPicPr>
          <p:cNvPr id="6" name="Content Placeholder 5" descr="Mastering Modern Authentication: Cookies, Sessions, JWT, and PASETO">
            <a:extLst>
              <a:ext uri="{FF2B5EF4-FFF2-40B4-BE49-F238E27FC236}">
                <a16:creationId xmlns:a16="http://schemas.microsoft.com/office/drawing/2014/main" id="{D1F12538-1EA7-C8BA-73C7-008D873697AC}"/>
              </a:ext>
            </a:extLst>
          </p:cNvPr>
          <p:cNvPicPr>
            <a:picLocks noGrp="1" noChangeAspect="1"/>
          </p:cNvPicPr>
          <p:nvPr>
            <p:ph idx="1"/>
          </p:nvPr>
        </p:nvPicPr>
        <p:blipFill>
          <a:blip r:embed="rId3"/>
          <a:stretch>
            <a:fillRect/>
          </a:stretch>
        </p:blipFill>
        <p:spPr>
          <a:xfrm>
            <a:off x="2337265" y="1379150"/>
            <a:ext cx="7358720" cy="4828190"/>
          </a:xfrm>
          <a:prstGeom prst="rect">
            <a:avLst/>
          </a:prstGeom>
        </p:spPr>
      </p:pic>
      <p:sp>
        <p:nvSpPr>
          <p:cNvPr id="4" name="Date Placeholder 3">
            <a:extLst>
              <a:ext uri="{FF2B5EF4-FFF2-40B4-BE49-F238E27FC236}">
                <a16:creationId xmlns:a16="http://schemas.microsoft.com/office/drawing/2014/main" id="{3C69615D-C4A4-B60F-7BC5-2C56EA3DF0DF}"/>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87FD5202-6560-6919-5B0C-2C5C7D002792}"/>
              </a:ext>
            </a:extLst>
          </p:cNvPr>
          <p:cNvSpPr>
            <a:spLocks noGrp="1"/>
          </p:cNvSpPr>
          <p:nvPr>
            <p:ph type="sldNum" sz="quarter" idx="11"/>
          </p:nvPr>
        </p:nvSpPr>
        <p:spPr/>
        <p:txBody>
          <a:bodyPr/>
          <a:lstStyle/>
          <a:p>
            <a:fld id="{64E5BE4B-2FBF-4174-9E62-85FAD1CB43A6}" type="slidenum">
              <a:rPr lang="en-US" smtClean="0"/>
              <a:pPr/>
              <a:t>23</a:t>
            </a:fld>
            <a:endParaRPr lang="en-US"/>
          </a:p>
        </p:txBody>
      </p:sp>
    </p:spTree>
    <p:extLst>
      <p:ext uri="{BB962C8B-B14F-4D97-AF65-F5344CB8AC3E}">
        <p14:creationId xmlns:p14="http://schemas.microsoft.com/office/powerpoint/2010/main" val="1365411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1E55-6DB6-9C27-E006-65A7F8B45FD1}"/>
              </a:ext>
            </a:extLst>
          </p:cNvPr>
          <p:cNvSpPr>
            <a:spLocks noGrp="1"/>
          </p:cNvSpPr>
          <p:nvPr>
            <p:ph type="title"/>
          </p:nvPr>
        </p:nvSpPr>
        <p:spPr/>
        <p:txBody>
          <a:bodyPr/>
          <a:lstStyle/>
          <a:p>
            <a:r>
              <a:rPr lang="en-US" dirty="0"/>
              <a:t>OAUTH</a:t>
            </a:r>
          </a:p>
        </p:txBody>
      </p:sp>
      <p:sp>
        <p:nvSpPr>
          <p:cNvPr id="4" name="Date Placeholder 3">
            <a:extLst>
              <a:ext uri="{FF2B5EF4-FFF2-40B4-BE49-F238E27FC236}">
                <a16:creationId xmlns:a16="http://schemas.microsoft.com/office/drawing/2014/main" id="{6D422CD3-B82C-4C99-18CA-0A04C99FAB2C}"/>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5EC3B39-E1C7-7D98-4286-8457DBC26678}"/>
              </a:ext>
            </a:extLst>
          </p:cNvPr>
          <p:cNvSpPr>
            <a:spLocks noGrp="1"/>
          </p:cNvSpPr>
          <p:nvPr>
            <p:ph type="sldNum" sz="quarter" idx="11"/>
          </p:nvPr>
        </p:nvSpPr>
        <p:spPr/>
        <p:txBody>
          <a:bodyPr/>
          <a:lstStyle/>
          <a:p>
            <a:fld id="{64E5BE4B-2FBF-4174-9E62-85FAD1CB43A6}" type="slidenum">
              <a:rPr lang="en-US" smtClean="0"/>
              <a:pPr/>
              <a:t>24</a:t>
            </a:fld>
            <a:endParaRPr lang="en-US"/>
          </a:p>
        </p:txBody>
      </p:sp>
      <p:pic>
        <p:nvPicPr>
          <p:cNvPr id="9" name="Content Placeholder 8" descr="A .NET Developer's Complete Guide to Choose Right Authentication: From ...">
            <a:extLst>
              <a:ext uri="{FF2B5EF4-FFF2-40B4-BE49-F238E27FC236}">
                <a16:creationId xmlns:a16="http://schemas.microsoft.com/office/drawing/2014/main" id="{B6CC2724-4C1C-1C34-B772-14618D6BE1E0}"/>
              </a:ext>
            </a:extLst>
          </p:cNvPr>
          <p:cNvPicPr>
            <a:picLocks noGrp="1" noChangeAspect="1"/>
          </p:cNvPicPr>
          <p:nvPr>
            <p:ph idx="1"/>
          </p:nvPr>
        </p:nvPicPr>
        <p:blipFill>
          <a:blip r:embed="rId3"/>
          <a:stretch>
            <a:fillRect/>
          </a:stretch>
        </p:blipFill>
        <p:spPr>
          <a:xfrm>
            <a:off x="1847216" y="1042463"/>
            <a:ext cx="8497568" cy="5665045"/>
          </a:xfrm>
          <a:prstGeom prst="rect">
            <a:avLst/>
          </a:prstGeom>
        </p:spPr>
      </p:pic>
    </p:spTree>
    <p:extLst>
      <p:ext uri="{BB962C8B-B14F-4D97-AF65-F5344CB8AC3E}">
        <p14:creationId xmlns:p14="http://schemas.microsoft.com/office/powerpoint/2010/main" val="314041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EABF-D295-BDCC-9EFB-883A8886466A}"/>
              </a:ext>
            </a:extLst>
          </p:cNvPr>
          <p:cNvSpPr>
            <a:spLocks noGrp="1"/>
          </p:cNvSpPr>
          <p:nvPr>
            <p:ph type="title"/>
          </p:nvPr>
        </p:nvSpPr>
        <p:spPr/>
        <p:txBody>
          <a:bodyPr/>
          <a:lstStyle/>
          <a:p>
            <a:r>
              <a:rPr lang="en-US" dirty="0"/>
              <a:t>In General…</a:t>
            </a:r>
          </a:p>
        </p:txBody>
      </p:sp>
      <p:sp>
        <p:nvSpPr>
          <p:cNvPr id="3" name="Content Placeholder 2">
            <a:extLst>
              <a:ext uri="{FF2B5EF4-FFF2-40B4-BE49-F238E27FC236}">
                <a16:creationId xmlns:a16="http://schemas.microsoft.com/office/drawing/2014/main" id="{A662615F-5293-3382-FE23-D26BD80FDC63}"/>
              </a:ext>
            </a:extLst>
          </p:cNvPr>
          <p:cNvSpPr>
            <a:spLocks noGrp="1"/>
          </p:cNvSpPr>
          <p:nvPr>
            <p:ph idx="1"/>
          </p:nvPr>
        </p:nvSpPr>
        <p:spPr/>
        <p:txBody>
          <a:bodyPr/>
          <a:lstStyle/>
          <a:p>
            <a:r>
              <a:rPr lang="en-US" dirty="0"/>
              <a:t>How long does the token live?</a:t>
            </a:r>
          </a:p>
          <a:p>
            <a:r>
              <a:rPr lang="en-US" dirty="0"/>
              <a:t>Who generates the token?</a:t>
            </a:r>
          </a:p>
          <a:p>
            <a:r>
              <a:rPr lang="en-US" dirty="0"/>
              <a:t>Who maintains (revokes) the token?</a:t>
            </a:r>
          </a:p>
          <a:p>
            <a:r>
              <a:rPr lang="en-US" dirty="0"/>
              <a:t>What resource is the token for?</a:t>
            </a:r>
          </a:p>
          <a:p>
            <a:r>
              <a:rPr lang="en-US" dirty="0"/>
              <a:t>Is the token stateless or stateful?</a:t>
            </a:r>
          </a:p>
        </p:txBody>
      </p:sp>
      <p:sp>
        <p:nvSpPr>
          <p:cNvPr id="4" name="Date Placeholder 3">
            <a:extLst>
              <a:ext uri="{FF2B5EF4-FFF2-40B4-BE49-F238E27FC236}">
                <a16:creationId xmlns:a16="http://schemas.microsoft.com/office/drawing/2014/main" id="{EC2B2493-A509-7F39-10EE-1F98483E5DE9}"/>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7AAEBBA9-84CB-B70E-1672-870FF72A108D}"/>
              </a:ext>
            </a:extLst>
          </p:cNvPr>
          <p:cNvSpPr>
            <a:spLocks noGrp="1"/>
          </p:cNvSpPr>
          <p:nvPr>
            <p:ph type="sldNum" sz="quarter" idx="11"/>
          </p:nvPr>
        </p:nvSpPr>
        <p:spPr/>
        <p:txBody>
          <a:bodyPr/>
          <a:lstStyle/>
          <a:p>
            <a:fld id="{64E5BE4B-2FBF-4174-9E62-85FAD1CB43A6}" type="slidenum">
              <a:rPr lang="en-US" smtClean="0"/>
              <a:pPr/>
              <a:t>25</a:t>
            </a:fld>
            <a:endParaRPr lang="en-US"/>
          </a:p>
        </p:txBody>
      </p:sp>
      <p:pic>
        <p:nvPicPr>
          <p:cNvPr id="6" name="Content Placeholder 5" descr="Beginner’s Guide to FastAPI &amp; OpenAI ChatGPT API Integration | by ...">
            <a:extLst>
              <a:ext uri="{FF2B5EF4-FFF2-40B4-BE49-F238E27FC236}">
                <a16:creationId xmlns:a16="http://schemas.microsoft.com/office/drawing/2014/main" id="{9803990C-3BA7-D8C5-74DD-F46522B36FB8}"/>
              </a:ext>
            </a:extLst>
          </p:cNvPr>
          <p:cNvPicPr>
            <a:picLocks noChangeAspect="1"/>
          </p:cNvPicPr>
          <p:nvPr/>
        </p:nvPicPr>
        <p:blipFill>
          <a:blip r:embed="rId3"/>
          <a:stretch>
            <a:fillRect/>
          </a:stretch>
        </p:blipFill>
        <p:spPr>
          <a:xfrm>
            <a:off x="6897756" y="122742"/>
            <a:ext cx="5086550" cy="6612515"/>
          </a:xfrm>
          <a:prstGeom prst="rect">
            <a:avLst/>
          </a:prstGeom>
        </p:spPr>
      </p:pic>
    </p:spTree>
    <p:extLst>
      <p:ext uri="{BB962C8B-B14F-4D97-AF65-F5344CB8AC3E}">
        <p14:creationId xmlns:p14="http://schemas.microsoft.com/office/powerpoint/2010/main" val="3553619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84A7-2742-3603-EF96-6ACA2AA577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369682-AF26-693A-D06B-56E66281B0ED}"/>
              </a:ext>
            </a:extLst>
          </p:cNvPr>
          <p:cNvSpPr>
            <a:spLocks noGrp="1"/>
          </p:cNvSpPr>
          <p:nvPr>
            <p:ph type="title"/>
          </p:nvPr>
        </p:nvSpPr>
        <p:spPr/>
        <p:txBody>
          <a:bodyPr/>
          <a:lstStyle/>
          <a:p>
            <a:r>
              <a:rPr lang="en-US" dirty="0"/>
              <a:t>Hands-On #2</a:t>
            </a:r>
          </a:p>
        </p:txBody>
      </p:sp>
      <p:sp>
        <p:nvSpPr>
          <p:cNvPr id="7" name="Text Placeholder 6">
            <a:extLst>
              <a:ext uri="{FF2B5EF4-FFF2-40B4-BE49-F238E27FC236}">
                <a16:creationId xmlns:a16="http://schemas.microsoft.com/office/drawing/2014/main" id="{058BFFDB-ED2B-DE78-8D46-A4B7CCA291F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BA612D-E650-2CDF-0E0D-68B80A16091B}"/>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31B5D87B-1F0B-4A03-F65E-DE12B209DB7E}"/>
              </a:ext>
            </a:extLst>
          </p:cNvPr>
          <p:cNvSpPr>
            <a:spLocks noGrp="1"/>
          </p:cNvSpPr>
          <p:nvPr>
            <p:ph type="sldNum" sz="quarter" idx="12"/>
          </p:nvPr>
        </p:nvSpPr>
        <p:spPr/>
        <p:txBody>
          <a:bodyPr/>
          <a:lstStyle/>
          <a:p>
            <a:fld id="{64E5BE4B-2FBF-4174-9E62-85FAD1CB43A6}" type="slidenum">
              <a:rPr lang="en-US" smtClean="0"/>
              <a:pPr/>
              <a:t>26</a:t>
            </a:fld>
            <a:endParaRPr lang="en-US"/>
          </a:p>
        </p:txBody>
      </p:sp>
    </p:spTree>
    <p:extLst>
      <p:ext uri="{BB962C8B-B14F-4D97-AF65-F5344CB8AC3E}">
        <p14:creationId xmlns:p14="http://schemas.microsoft.com/office/powerpoint/2010/main" val="4275923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675</TotalTime>
  <Words>1607</Words>
  <Application>Microsoft Office PowerPoint</Application>
  <PresentationFormat>Widescreen</PresentationFormat>
  <Paragraphs>334</Paragraphs>
  <Slides>27</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Arial Bold</vt:lpstr>
      <vt:lpstr>Courier New</vt:lpstr>
      <vt:lpstr>Play</vt:lpstr>
      <vt:lpstr>Wingdings</vt:lpstr>
      <vt:lpstr>US Army 2023 AFC DEVCOM Logo</vt:lpstr>
      <vt:lpstr>HTTP and APIs</vt:lpstr>
      <vt:lpstr> Course Schedule</vt:lpstr>
      <vt:lpstr>Lesson Objectives</vt:lpstr>
      <vt:lpstr>HyperText Transfer Protocol (HTTP)</vt:lpstr>
      <vt:lpstr>The HTTP Protocol: Rules</vt:lpstr>
      <vt:lpstr>Examples</vt:lpstr>
      <vt:lpstr>Methods and Codes</vt:lpstr>
      <vt:lpstr>HTTP Tools</vt:lpstr>
      <vt:lpstr>In python</vt:lpstr>
      <vt:lpstr>More Than Text</vt:lpstr>
      <vt:lpstr>Encoding Text</vt:lpstr>
      <vt:lpstr>Base64 Encoding</vt:lpstr>
      <vt:lpstr>Python Base64</vt:lpstr>
      <vt:lpstr>Hands-On #1</vt:lpstr>
      <vt:lpstr>APPLICATION PROGRAMMING INTERFACE (API)</vt:lpstr>
      <vt:lpstr>APPLICATION PROGRAMMING INTERFACE (API)</vt:lpstr>
      <vt:lpstr>API Terms</vt:lpstr>
      <vt:lpstr>Reading API Docs</vt:lpstr>
      <vt:lpstr>Reading API Docs</vt:lpstr>
      <vt:lpstr>Authentication</vt:lpstr>
      <vt:lpstr>Basic Authentication</vt:lpstr>
      <vt:lpstr>Key/Token Authentication</vt:lpstr>
      <vt:lpstr>Session Cookies</vt:lpstr>
      <vt:lpstr>OAUTH</vt:lpstr>
      <vt:lpstr>In General…</vt:lpstr>
      <vt:lpstr>Hands-On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Robert Haenze</cp:lastModifiedBy>
  <cp:revision>251</cp:revision>
  <dcterms:created xsi:type="dcterms:W3CDTF">2025-09-17T14:29:17Z</dcterms:created>
  <dcterms:modified xsi:type="dcterms:W3CDTF">2026-08-03T20:43:03Z</dcterms:modified>
</cp:coreProperties>
</file>