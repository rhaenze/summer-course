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256" r:id="rId2"/>
    <p:sldId id="486" r:id="rId3"/>
    <p:sldId id="496" r:id="rId4"/>
    <p:sldId id="497" r:id="rId5"/>
    <p:sldId id="498" r:id="rId6"/>
    <p:sldId id="276" r:id="rId7"/>
    <p:sldId id="278" r:id="rId8"/>
    <p:sldId id="500" r:id="rId9"/>
    <p:sldId id="505" r:id="rId10"/>
    <p:sldId id="280" r:id="rId11"/>
    <p:sldId id="502" r:id="rId12"/>
    <p:sldId id="499" r:id="rId13"/>
    <p:sldId id="501" r:id="rId14"/>
    <p:sldId id="506" r:id="rId15"/>
    <p:sldId id="503" r:id="rId16"/>
    <p:sldId id="279" r:id="rId17"/>
    <p:sldId id="261" r:id="rId18"/>
    <p:sldId id="504" r:id="rId19"/>
    <p:sldId id="513" r:id="rId20"/>
    <p:sldId id="507" r:id="rId21"/>
    <p:sldId id="508" r:id="rId22"/>
    <p:sldId id="512" r:id="rId23"/>
    <p:sldId id="509" r:id="rId24"/>
    <p:sldId id="273" r:id="rId25"/>
    <p:sldId id="510" r:id="rId26"/>
    <p:sldId id="511" r:id="rId27"/>
    <p:sldId id="259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76836" autoAdjust="0"/>
  </p:normalViewPr>
  <p:slideViewPr>
    <p:cSldViewPr snapToGrid="0">
      <p:cViewPr varScale="1">
        <p:scale>
          <a:sx n="43" d="100"/>
          <a:sy n="43" d="100"/>
        </p:scale>
        <p:origin x="1210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1F8BC1-DC94-491B-AA44-0232F744EE98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8B709C-82E0-4ADF-BDA3-CCA1C8B222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9909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64719-007A-9D20-6D43-3A4FCAADA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32F23C-3B6C-06AD-FDEF-F55DEF812C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84E9A6-CB51-3C7D-DF18-0DDEC1AC4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5C7A3-AEE3-A283-A203-B801AB559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2570D5-C374-43AE-876B-55C2A221664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2140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E6376FA9-B5F0-B037-8046-B6615FDA6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DD419411-177D-3D00-B750-FE80CE812B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78A8749A-07B8-1837-285F-24B38AB730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87036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043152F8-3649-B807-263D-B391F303E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D1E0B138-BDAD-22BA-9A52-5E4F9D1697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CF3F03FE-85F3-88C7-4359-C593C7C6F2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26880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>
          <a:extLst>
            <a:ext uri="{FF2B5EF4-FFF2-40B4-BE49-F238E27FC236}">
              <a16:creationId xmlns:a16="http://schemas.microsoft.com/office/drawing/2014/main" id="{421EBE75-3C92-49AA-FC30-2E3C377B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7:notes">
            <a:extLst>
              <a:ext uri="{FF2B5EF4-FFF2-40B4-BE49-F238E27FC236}">
                <a16:creationId xmlns:a16="http://schemas.microsoft.com/office/drawing/2014/main" id="{3D4EEE32-92BF-3AE2-885A-C618F8483D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9" name="Google Shape;469;p17:notes">
            <a:extLst>
              <a:ext uri="{FF2B5EF4-FFF2-40B4-BE49-F238E27FC236}">
                <a16:creationId xmlns:a16="http://schemas.microsoft.com/office/drawing/2014/main" id="{880F97B4-481F-18FB-2C4C-5968159F64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b="1" dirty="0">
                <a:effectLst/>
              </a:rPr>
              <a:t>✅ The answer students should get: Grid coordinate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47.3</a:t>
            </a:r>
            <a:br>
              <a:rPr lang="en-US" dirty="0">
                <a:effectLst/>
              </a:rPr>
            </a:br>
            <a:r>
              <a:rPr lang="en-US" i="1" dirty="0">
                <a:effectLst/>
              </a:rPr>
              <a:t>(Top 5 values: 98, 96, 95, 92, 92 → sum = 473 → ÷ 10 = </a:t>
            </a:r>
            <a:r>
              <a:rPr lang="en-US" b="1" i="1" dirty="0">
                <a:effectLst/>
              </a:rPr>
              <a:t>47.3</a:t>
            </a:r>
            <a:r>
              <a:rPr lang="en-US" i="1" dirty="0">
                <a:effectLst/>
              </a:rPr>
              <a:t>)</a:t>
            </a:r>
            <a:endParaRPr lang="en-US" dirty="0">
              <a:effectLst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456329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Lists will remember the order of your list (unless you do some sort of sorting to change the order)</a:t>
            </a:r>
          </a:p>
          <a:p>
            <a:endParaRPr lang="en-US" dirty="0"/>
          </a:p>
          <a:p>
            <a:r>
              <a:rPr lang="en-US" dirty="0"/>
              <a:t>Mutable – Change (remove or add)</a:t>
            </a:r>
          </a:p>
          <a:p>
            <a:endParaRPr lang="en-US" dirty="0"/>
          </a:p>
          <a:p>
            <a:r>
              <a:rPr lang="en-US" dirty="0"/>
              <a:t>Indexing – This is when you slice a list to get something</a:t>
            </a:r>
          </a:p>
          <a:p>
            <a:endParaRPr lang="en-US" dirty="0"/>
          </a:p>
          <a:p>
            <a:r>
              <a:rPr lang="en-US" dirty="0"/>
              <a:t>You will use lists all the time. It is the most common type of data set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B709C-82E0-4ADF-BDA3-CCA1C8B2222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448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 with a couple of keep differences: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- The are NOT mutable!!!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can’t append, delete, add (ANYTHING that we can do to our standard list)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B709C-82E0-4ADF-BDA3-CCA1C8B2222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865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“Think of a phonebook!!” – Maj Shafer </a:t>
            </a:r>
          </a:p>
          <a:p>
            <a:endParaRPr lang="en-US" dirty="0"/>
          </a:p>
          <a:p>
            <a:r>
              <a:rPr lang="en-US" dirty="0"/>
              <a:t>Key Value pairs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B709C-82E0-4ADF-BDA3-CCA1C8B2222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4625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Sets: Collection of unique objects</a:t>
            </a:r>
          </a:p>
          <a:p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No order </a:t>
            </a:r>
          </a:p>
          <a:p>
            <a:pPr marL="171450" indent="-171450">
              <a:buFontTx/>
              <a:buChar char="-"/>
            </a:pPr>
            <a:r>
              <a:rPr lang="en-US" dirty="0"/>
              <a:t>Can add or remove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Can’t index. “There are just things in the set” Maj Shafer </a:t>
            </a:r>
          </a:p>
          <a:p>
            <a:pPr marL="171450" indent="-171450">
              <a:buFontTx/>
              <a:buChar char="-"/>
            </a:pPr>
            <a:r>
              <a:rPr lang="en-US" dirty="0"/>
              <a:t>(O(1)) – Looking at something in constant time </a:t>
            </a:r>
          </a:p>
          <a:p>
            <a:r>
              <a:rPr lang="en-US" dirty="0"/>
              <a:t>- Sets are faster when it comes to memberships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8B709C-82E0-4ADF-BDA3-CCA1C8B2222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83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29 July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8" y="1974220"/>
            <a:ext cx="7173381" cy="237744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36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1110119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29 July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180891" y="104974"/>
            <a:ext cx="3246120" cy="1225808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9" y="1974220"/>
            <a:ext cx="7173382" cy="237744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399" y="2202820"/>
            <a:ext cx="6429375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0" y="3784732"/>
            <a:ext cx="3565525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5737723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29 July 2026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 bwMode="black">
          <a:xfrm>
            <a:off x="244899" y="112631"/>
            <a:ext cx="3246120" cy="1225808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47688" y="5133530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47688" y="4952738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47688" y="5314322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47688" y="5495114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547688" y="5675906"/>
            <a:ext cx="1335568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981200" y="5133530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981200" y="4952738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981200" y="5314322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981200" y="5495114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981200" y="5675906"/>
            <a:ext cx="3124934" cy="138499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457178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914354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371532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828709" indent="0">
              <a:buNone/>
              <a:defRPr sz="100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endParaRPr lang="en-US"/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48218" y="1974220"/>
            <a:ext cx="7173381" cy="237744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6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1" y="2202820"/>
            <a:ext cx="6429374" cy="132588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36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784732"/>
            <a:ext cx="3565524" cy="4572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12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12079" y="3784732"/>
            <a:ext cx="2131695" cy="4572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40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2579075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198"/>
            <a:ext cx="67951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48640" y="6629400"/>
            <a:ext cx="822960" cy="22860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29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45104" y="6629400"/>
            <a:ext cx="399210" cy="228600"/>
          </a:xfrm>
        </p:spPr>
        <p:txBody>
          <a:bodyPr rIns="0"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909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7887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29 July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9446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70832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8193023" y="1600200"/>
            <a:ext cx="3450336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29 July 2026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4646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1600200"/>
            <a:ext cx="2499359" cy="457200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29 July 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23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548640" y="1600200"/>
            <a:ext cx="557784" cy="555498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54864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341376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341376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27888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9144000" y="1600200"/>
            <a:ext cx="557784" cy="557784"/>
          </a:xfrm>
        </p:spPr>
        <p:txBody>
          <a:bodyPr anchor="ctr" anchorCtr="0"/>
          <a:lstStyle>
            <a:lvl1pPr marL="0" indent="0" algn="ctr">
              <a:buFontTx/>
              <a:buNone/>
              <a:defRPr sz="8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5998"/>
            <a:ext cx="2499359" cy="3886202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29 July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473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>
                <a:solidFill>
                  <a:schemeClr val="tx1"/>
                </a:solidFill>
              </a:defRPr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>
                <a:solidFill>
                  <a:schemeClr val="tx1"/>
                </a:solidFill>
              </a:defRPr>
            </a:lvl2pPr>
            <a:lvl3pPr marL="274320" indent="-137160">
              <a:defRPr sz="1300">
                <a:solidFill>
                  <a:schemeClr val="tx1"/>
                </a:solidFill>
              </a:defRPr>
            </a:lvl3pPr>
            <a:lvl4pPr marL="411480" indent="-137160">
              <a:defRPr sz="1300">
                <a:solidFill>
                  <a:schemeClr val="tx1"/>
                </a:solidFill>
              </a:defRPr>
            </a:lvl4pPr>
            <a:lvl5pPr marL="548640" indent="-137160">
              <a:defRPr sz="1300">
                <a:solidFill>
                  <a:schemeClr val="tx1"/>
                </a:solidFill>
              </a:defRPr>
            </a:lvl5pPr>
            <a:lvl6pPr marL="685800" indent="-137160">
              <a:defRPr sz="1300">
                <a:solidFill>
                  <a:schemeClr val="tx1"/>
                </a:solidFill>
              </a:defRPr>
            </a:lvl6pPr>
            <a:lvl7pPr marL="822960" indent="-137160">
              <a:defRPr sz="1300">
                <a:solidFill>
                  <a:schemeClr val="tx1"/>
                </a:solidFill>
              </a:defRPr>
            </a:lvl7pPr>
            <a:lvl8pPr marL="960120" indent="-137160">
              <a:defRPr sz="1300">
                <a:solidFill>
                  <a:schemeClr val="tx1"/>
                </a:solidFill>
              </a:defRPr>
            </a:lvl8pPr>
            <a:lvl9pPr marL="1097280" indent="-137160">
              <a:defRPr sz="1300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29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0872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388620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29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4586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29 July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2485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 userDrawn="1"/>
        </p:nvSpPr>
        <p:spPr>
          <a:xfrm>
            <a:off x="54864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4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 userDrawn="1"/>
        </p:nvSpPr>
        <p:spPr>
          <a:xfrm>
            <a:off x="341376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1376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 userDrawn="1"/>
        </p:nvSpPr>
        <p:spPr>
          <a:xfrm>
            <a:off x="627888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27888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1600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 userDrawn="1"/>
        </p:nvSpPr>
        <p:spPr>
          <a:xfrm>
            <a:off x="9144001" y="1737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9144001" y="2286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4864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 userDrawn="1"/>
        </p:nvSpPr>
        <p:spPr>
          <a:xfrm>
            <a:off x="54864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4864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41376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 userDrawn="1"/>
        </p:nvSpPr>
        <p:spPr>
          <a:xfrm>
            <a:off x="341376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341376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27888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 userDrawn="1"/>
        </p:nvSpPr>
        <p:spPr>
          <a:xfrm>
            <a:off x="627888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7888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144000" y="3886200"/>
            <a:ext cx="249936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 userDrawn="1"/>
        </p:nvSpPr>
        <p:spPr>
          <a:xfrm>
            <a:off x="9144001" y="4023360"/>
            <a:ext cx="2499359" cy="4572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1" y="4572000"/>
            <a:ext cx="2499359" cy="1325880"/>
          </a:xfrm>
        </p:spPr>
        <p:txBody>
          <a:bodyPr/>
          <a:lstStyle>
            <a:lvl1pPr marL="0" indent="0">
              <a:spcBef>
                <a:spcPts val="1000"/>
              </a:spcBef>
              <a:buNone/>
              <a:defRPr sz="1300"/>
            </a:lvl1pPr>
            <a:lvl2pPr marL="137160" indent="-137160">
              <a:spcBef>
                <a:spcPts val="1000"/>
              </a:spcBef>
              <a:buFont typeface="Arial" panose="020B0604020202020204" pitchFamily="34" charset="0"/>
              <a:buChar char="▪"/>
              <a:defRPr sz="1300"/>
            </a:lvl2pPr>
            <a:lvl3pPr marL="274320" indent="-137160">
              <a:defRPr sz="1300"/>
            </a:lvl3pPr>
            <a:lvl4pPr marL="411480" indent="-137160">
              <a:defRPr sz="1300"/>
            </a:lvl4pPr>
            <a:lvl5pPr marL="548640" indent="-137160">
              <a:defRPr sz="1300"/>
            </a:lvl5pPr>
            <a:lvl6pPr marL="685800" indent="-137160">
              <a:defRPr sz="1300"/>
            </a:lvl6pPr>
            <a:lvl7pPr marL="822960" indent="-137160">
              <a:defRPr sz="1300"/>
            </a:lvl7pPr>
            <a:lvl8pPr marL="960120" indent="-137160">
              <a:defRPr sz="1300"/>
            </a:lvl8pPr>
            <a:lvl9pPr marL="109728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29 July 2026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510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29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8631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8639" y="1600200"/>
            <a:ext cx="536448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29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53682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411480"/>
            <a:ext cx="11094720" cy="310896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8640" y="3794760"/>
            <a:ext cx="5364480" cy="914400"/>
          </a:xfrm>
        </p:spPr>
        <p:txBody>
          <a:bodyPr/>
          <a:lstStyle>
            <a:lvl1pPr>
              <a:defRPr sz="28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6278879" y="3794760"/>
            <a:ext cx="5364480" cy="2377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29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998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4526280"/>
            <a:ext cx="5364480" cy="164592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78879" y="1600200"/>
            <a:ext cx="5364480" cy="22860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78879" y="4114800"/>
            <a:ext cx="5364480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6278879" y="4526280"/>
            <a:ext cx="5364480" cy="164592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29 July 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3485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39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7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39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70831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70831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370831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93023" y="1600200"/>
            <a:ext cx="3450336" cy="16916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93023" y="3520440"/>
            <a:ext cx="3450336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800" b="1"/>
            </a:lvl1pPr>
            <a:lvl2pPr marL="0" indent="0">
              <a:spcBef>
                <a:spcPts val="0"/>
              </a:spcBef>
              <a:buFontTx/>
              <a:buNone/>
              <a:defRPr sz="1800" b="1"/>
            </a:lvl2pPr>
            <a:lvl3pPr marL="0" indent="0">
              <a:spcBef>
                <a:spcPts val="0"/>
              </a:spcBef>
              <a:buFontTx/>
              <a:buNone/>
              <a:defRPr sz="1800" b="1"/>
            </a:lvl3pPr>
            <a:lvl4pPr marL="0" indent="0">
              <a:spcBef>
                <a:spcPts val="0"/>
              </a:spcBef>
              <a:buFontTx/>
              <a:buNone/>
              <a:defRPr sz="1800" b="1"/>
            </a:lvl4pPr>
            <a:lvl5pPr marL="0" indent="0">
              <a:spcBef>
                <a:spcPts val="0"/>
              </a:spcBef>
              <a:buFontTx/>
              <a:buNone/>
              <a:defRPr sz="1800" b="1"/>
            </a:lvl5pPr>
            <a:lvl6pPr marL="0" indent="0">
              <a:spcBef>
                <a:spcPts val="0"/>
              </a:spcBef>
              <a:buFontTx/>
              <a:buNone/>
              <a:defRPr sz="1800" b="1"/>
            </a:lvl6pPr>
            <a:lvl7pPr marL="0" indent="0">
              <a:spcBef>
                <a:spcPts val="0"/>
              </a:spcBef>
              <a:buFontTx/>
              <a:buNone/>
              <a:defRPr sz="1800" b="1"/>
            </a:lvl7pPr>
            <a:lvl8pPr marL="0" indent="0">
              <a:spcBef>
                <a:spcPts val="0"/>
              </a:spcBef>
              <a:buFontTx/>
              <a:buNone/>
              <a:defRPr sz="1800" b="1"/>
            </a:lvl8pPr>
            <a:lvl9pPr marL="0" indent="0">
              <a:spcBef>
                <a:spcPts val="0"/>
              </a:spcBef>
              <a:buFontTx/>
              <a:buNone/>
              <a:defRPr sz="18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8193023" y="3931920"/>
            <a:ext cx="3450336" cy="2240280"/>
          </a:xfrm>
        </p:spPr>
        <p:txBody>
          <a:bodyPr/>
          <a:lstStyle>
            <a:lvl1pPr marL="137160" indent="-137160">
              <a:defRPr sz="1500"/>
            </a:lvl1pPr>
            <a:lvl2pPr marL="274320" indent="-137160">
              <a:defRPr sz="1500"/>
            </a:lvl2pPr>
            <a:lvl3pPr marL="411480" indent="-137160">
              <a:defRPr sz="1500"/>
            </a:lvl3pPr>
            <a:lvl4pPr marL="548640" indent="-137160">
              <a:defRPr sz="1500"/>
            </a:lvl4pPr>
            <a:lvl5pPr marL="685800" indent="-137160">
              <a:defRPr sz="1500"/>
            </a:lvl5pPr>
            <a:lvl6pPr marL="822960" indent="-137160">
              <a:defRPr sz="1500"/>
            </a:lvl6pPr>
            <a:lvl7pPr marL="960120" indent="-137160">
              <a:defRPr sz="1500"/>
            </a:lvl7pPr>
            <a:lvl8pPr marL="1097280" indent="-137160">
              <a:defRPr sz="1500"/>
            </a:lvl8pPr>
            <a:lvl9pPr marL="1234440" indent="-137160"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29 July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033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864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8639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54864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8805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8805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428805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6384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6384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26384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144001" y="1600200"/>
            <a:ext cx="2499359" cy="123444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44001" y="3063240"/>
            <a:ext cx="2499359" cy="3657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600" b="1"/>
            </a:lvl1pPr>
            <a:lvl2pPr marL="0" indent="0">
              <a:spcBef>
                <a:spcPts val="0"/>
              </a:spcBef>
              <a:buFontTx/>
              <a:buNone/>
              <a:defRPr sz="1600" b="1"/>
            </a:lvl2pPr>
            <a:lvl3pPr marL="0" indent="0">
              <a:spcBef>
                <a:spcPts val="0"/>
              </a:spcBef>
              <a:buFontTx/>
              <a:buNone/>
              <a:defRPr sz="1600" b="1"/>
            </a:lvl3pPr>
            <a:lvl4pPr marL="0" indent="0">
              <a:spcBef>
                <a:spcPts val="0"/>
              </a:spcBef>
              <a:buFontTx/>
              <a:buNone/>
              <a:defRPr sz="1600" b="1"/>
            </a:lvl4pPr>
            <a:lvl5pPr marL="0" indent="0">
              <a:spcBef>
                <a:spcPts val="0"/>
              </a:spcBef>
              <a:buFontTx/>
              <a:buNone/>
              <a:defRPr sz="1600" b="1"/>
            </a:lvl5pPr>
            <a:lvl6pPr marL="0" indent="0">
              <a:spcBef>
                <a:spcPts val="0"/>
              </a:spcBef>
              <a:buFontTx/>
              <a:buNone/>
              <a:defRPr sz="1600" b="1"/>
            </a:lvl6pPr>
            <a:lvl7pPr marL="0" indent="0">
              <a:spcBef>
                <a:spcPts val="0"/>
              </a:spcBef>
              <a:buFontTx/>
              <a:buNone/>
              <a:defRPr sz="1600" b="1"/>
            </a:lvl7pPr>
            <a:lvl8pPr marL="0" indent="0">
              <a:spcBef>
                <a:spcPts val="0"/>
              </a:spcBef>
              <a:buFontTx/>
              <a:buNone/>
              <a:defRPr sz="1600" b="1"/>
            </a:lvl8pPr>
            <a:lvl9pPr marL="0" indent="0">
              <a:spcBef>
                <a:spcPts val="0"/>
              </a:spcBef>
              <a:buFontTx/>
              <a:buNone/>
              <a:defRPr sz="16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9144001" y="3474720"/>
            <a:ext cx="2499359" cy="2697480"/>
          </a:xfrm>
        </p:spPr>
        <p:txBody>
          <a:bodyPr/>
          <a:lstStyle>
            <a:lvl1pPr marL="137160" indent="-137160">
              <a:defRPr sz="1300"/>
            </a:lvl1pPr>
            <a:lvl2pPr marL="274320" indent="-137160">
              <a:defRPr sz="1300"/>
            </a:lvl2pPr>
            <a:lvl3pPr marL="411480" indent="-137160">
              <a:defRPr sz="1300"/>
            </a:lvl3pPr>
            <a:lvl4pPr marL="548640" indent="-137160">
              <a:defRPr sz="1300"/>
            </a:lvl4pPr>
            <a:lvl5pPr marL="685800" indent="-137160">
              <a:defRPr sz="1300"/>
            </a:lvl5pPr>
            <a:lvl6pPr marL="822960" indent="-137160">
              <a:defRPr sz="1300"/>
            </a:lvl6pPr>
            <a:lvl7pPr marL="960120" indent="-137160">
              <a:defRPr sz="1300"/>
            </a:lvl7pPr>
            <a:lvl8pPr marL="1097280" indent="-137160">
              <a:defRPr sz="1300"/>
            </a:lvl8pPr>
            <a:lvl9pPr marL="1234440" indent="-137160"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29 July 2026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6466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29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baseline="0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UNCLASSIFIED/GENERAL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baseline="0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UNCLASSIFIED/GENERAL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0004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"/>
            <a:ext cx="12192000" cy="64008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9144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29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9249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0" y="411481"/>
            <a:ext cx="8231293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6795135" cy="402336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8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29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181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0"/>
            <a:ext cx="5365327" cy="914400"/>
          </a:xfrm>
        </p:spPr>
        <p:txBody>
          <a:bodyPr anchor="t" anchorCtr="0"/>
          <a:lstStyle>
            <a:lvl1pPr>
              <a:lnSpc>
                <a:spcPct val="90000"/>
              </a:lnSpc>
              <a:defRPr sz="24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1600200"/>
            <a:ext cx="6795135" cy="4572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3600"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29 July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200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1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29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5558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48641" y="411481"/>
            <a:ext cx="5365327" cy="1189037"/>
          </a:xfrm>
        </p:spPr>
        <p:txBody>
          <a:bodyPr anchor="t" anchorCtr="0"/>
          <a:lstStyle>
            <a:lvl1pPr>
              <a:lnSpc>
                <a:spcPct val="80000"/>
              </a:lnSpc>
              <a:defRPr sz="4000" spc="-1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8640" y="2148840"/>
            <a:ext cx="5365325" cy="4023360"/>
          </a:xfrm>
        </p:spPr>
        <p:txBody>
          <a:bodyPr/>
          <a:lstStyle>
            <a:lvl1pPr marL="0" indent="0">
              <a:spcBef>
                <a:spcPts val="1000"/>
              </a:spcBef>
              <a:buFontTx/>
              <a:buNone/>
              <a:defRPr/>
            </a:lvl1pPr>
            <a:lvl2pPr marL="182880" indent="-182880">
              <a:spcBef>
                <a:spcPts val="1000"/>
              </a:spcBef>
              <a:buFont typeface="Arial" panose="020B0604020202020204" pitchFamily="34" charset="0"/>
              <a:buChar char="▪"/>
              <a:defRPr/>
            </a:lvl2pPr>
            <a:lvl3pPr marL="365760">
              <a:defRPr/>
            </a:lvl3pPr>
            <a:lvl4pPr marL="548640">
              <a:defRPr/>
            </a:lvl4pPr>
            <a:lvl5pPr marL="731520">
              <a:defRPr/>
            </a:lvl5pPr>
            <a:lvl6pPr marL="914400">
              <a:defRPr/>
            </a:lvl6pPr>
            <a:lvl7pPr marL="1097280">
              <a:defRPr/>
            </a:lvl7pPr>
            <a:lvl8pPr marL="1280160">
              <a:defRPr/>
            </a:lvl8pPr>
            <a:lvl9pPr marL="146304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8037" y="1076324"/>
            <a:ext cx="5365748" cy="5095875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100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29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03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29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587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29 July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5540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29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2512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29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6677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 userDrawn="1"/>
        </p:nvSpPr>
        <p:spPr>
          <a:xfrm>
            <a:off x="548216" y="2148840"/>
            <a:ext cx="11094720" cy="13716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48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8218" y="4819414"/>
            <a:ext cx="5365749" cy="13715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  <a:lvl2pPr marL="0" indent="0">
              <a:spcBef>
                <a:spcPts val="0"/>
              </a:spcBef>
              <a:buFontTx/>
              <a:buNone/>
              <a:defRPr sz="1200"/>
            </a:lvl2pPr>
            <a:lvl3pPr marL="0" indent="0">
              <a:spcBef>
                <a:spcPts val="0"/>
              </a:spcBef>
              <a:buFontTx/>
              <a:buNone/>
              <a:defRPr sz="1200"/>
            </a:lvl3pPr>
            <a:lvl4pPr marL="0" indent="0">
              <a:spcBef>
                <a:spcPts val="0"/>
              </a:spcBef>
              <a:buFontTx/>
              <a:buNone/>
              <a:defRPr sz="1200"/>
            </a:lvl4pPr>
            <a:lvl5pPr marL="0" indent="0">
              <a:spcBef>
                <a:spcPts val="0"/>
              </a:spcBef>
              <a:buFontTx/>
              <a:buNone/>
              <a:defRPr sz="1200"/>
            </a:lvl5pPr>
            <a:lvl6pPr marL="0" indent="0">
              <a:spcBef>
                <a:spcPts val="0"/>
              </a:spcBef>
              <a:buFontTx/>
              <a:buNone/>
              <a:defRPr sz="1200"/>
            </a:lvl6pPr>
            <a:lvl7pPr marL="0" indent="0">
              <a:spcBef>
                <a:spcPts val="0"/>
              </a:spcBef>
              <a:buFontTx/>
              <a:buNone/>
              <a:defRPr sz="1200"/>
            </a:lvl7pPr>
            <a:lvl8pPr marL="0" indent="0">
              <a:spcBef>
                <a:spcPts val="0"/>
              </a:spcBef>
              <a:buFontTx/>
              <a:buNone/>
              <a:defRPr sz="1200"/>
            </a:lvl8pPr>
            <a:lvl9pPr marL="0" indent="0">
              <a:spcBef>
                <a:spcPts val="0"/>
              </a:spcBef>
              <a:buFontTx/>
              <a:buNone/>
              <a:defRPr sz="12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29 July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004616" y="411162"/>
            <a:ext cx="1629707" cy="478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276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black">
          <a:xfrm>
            <a:off x="2827020" y="2194560"/>
            <a:ext cx="653796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0389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9A25F-48AD-B7A3-3D9B-3DC3D785A8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12A15-0410-A7CA-A9D8-43BD6886A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8027A1-7EB5-0678-EB0F-650BD7B19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AFA9C-17DA-4726-B9E3-ADECF7729AF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CD30D-C707-EB24-E631-D0451E6B5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F5385-DE6D-8457-5ACD-902B1E935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051F2-C7C4-43BD-B552-C78CE0DE4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339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D7D6D-A7B7-74EA-6F74-BAC98296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38D3C-1A6F-289C-01D0-FC0269EF3E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96C649-11FB-438A-AD59-9806225D32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B33B82-9CC4-ADC8-65F7-7702DD6C0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AFA9C-17DA-4726-B9E3-ADECF7729AF7}" type="datetimeFigureOut">
              <a:rPr lang="en-US" smtClean="0"/>
              <a:t>7/29/2026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491D42-AB19-DC33-0C4F-15A205A2A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55D150-C001-8E81-3EC1-3DDA1A934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051F2-C7C4-43BD-B552-C78CE0DE41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93018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1_Section Header">
    <p:bg>
      <p:bgPr>
        <a:solidFill>
          <a:srgbClr val="221F2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1"/>
          <p:cNvSpPr txBox="1">
            <a:spLocks noGrp="1"/>
          </p:cNvSpPr>
          <p:nvPr>
            <p:ph type="title"/>
          </p:nvPr>
        </p:nvSpPr>
        <p:spPr>
          <a:xfrm>
            <a:off x="548640" y="411482"/>
            <a:ext cx="8231293" cy="1189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000"/>
              <a:buFont typeface="Arial"/>
              <a:buNone/>
              <a:defRPr sz="4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8" name="Google Shape;278;p21"/>
          <p:cNvSpPr txBox="1">
            <a:spLocks noGrp="1"/>
          </p:cNvSpPr>
          <p:nvPr>
            <p:ph type="body" idx="1"/>
          </p:nvPr>
        </p:nvSpPr>
        <p:spPr>
          <a:xfrm>
            <a:off x="548640" y="2148840"/>
            <a:ext cx="6795135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609585" lvl="0" indent="-304792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  <a:defRPr sz="2800"/>
            </a:lvl1pPr>
            <a:lvl2pPr marL="1219170" lvl="1" indent="-412739" algn="l">
              <a:lnSpc>
                <a:spcPct val="9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75"/>
              <a:buFont typeface="Arial"/>
              <a:buChar char="▪"/>
              <a:defRPr/>
            </a:lvl2pPr>
            <a:lvl3pPr marL="1828754" lvl="2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3pPr>
            <a:lvl4pPr marL="2438339" lvl="3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4pPr>
            <a:lvl5pPr marL="3047924" lvl="4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5pPr>
            <a:lvl6pPr marL="3657509" lvl="5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6pPr>
            <a:lvl7pPr marL="4267093" lvl="6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7pPr>
            <a:lvl8pPr marL="4876678" lvl="7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8pPr>
            <a:lvl9pPr marL="5486263" lvl="8" indent="-412739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75"/>
              <a:buChar char="–"/>
              <a:defRPr/>
            </a:lvl9pPr>
          </a:lstStyle>
          <a:p>
            <a:endParaRPr/>
          </a:p>
        </p:txBody>
      </p:sp>
      <p:sp>
        <p:nvSpPr>
          <p:cNvPr id="279" name="Google Shape;279;p21"/>
          <p:cNvSpPr txBox="1">
            <a:spLocks noGrp="1"/>
          </p:cNvSpPr>
          <p:nvPr>
            <p:ph type="dt" idx="10"/>
          </p:nvPr>
        </p:nvSpPr>
        <p:spPr>
          <a:xfrm>
            <a:off x="547688" y="6629400"/>
            <a:ext cx="823912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0" name="Google Shape;280;p21"/>
          <p:cNvSpPr txBox="1">
            <a:spLocks noGrp="1"/>
          </p:cNvSpPr>
          <p:nvPr>
            <p:ph type="sldNum" idx="12"/>
          </p:nvPr>
        </p:nvSpPr>
        <p:spPr>
          <a:xfrm>
            <a:off x="11210717" y="6629400"/>
            <a:ext cx="442001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283" name="Google Shape;283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04616" y="411163"/>
            <a:ext cx="1629707" cy="4780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91597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1.pn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 userDrawn="1"/>
        </p:nvPicPr>
        <p:blipFill>
          <a:blip r:embed="rId35"/>
          <a:srcRect l="26274" t="67"/>
          <a:stretch>
            <a:fillRect/>
          </a:stretch>
        </p:blipFill>
        <p:spPr>
          <a:xfrm>
            <a:off x="10428514" y="411481"/>
            <a:ext cx="1214844" cy="47770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39" y="1600198"/>
            <a:ext cx="11094720" cy="4572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6657945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386840" y="0"/>
            <a:ext cx="9418320" cy="2000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700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7688" y="6629400"/>
            <a:ext cx="823912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700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29 July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10716" y="6629400"/>
            <a:ext cx="442001" cy="22860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700" b="1">
                <a:solidFill>
                  <a:schemeClr val="tx1"/>
                </a:solidFill>
              </a:defRPr>
            </a:lvl1pPr>
          </a:lstStyle>
          <a:p>
            <a:fld id="{64E5BE4B-2FBF-4174-9E62-85FAD1CB43A6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 userDrawn="1"/>
        </p:nvPicPr>
        <p:blipFill>
          <a:blip r:embed="rId36"/>
          <a:stretch>
            <a:fillRect/>
          </a:stretch>
        </p:blipFill>
        <p:spPr>
          <a:xfrm>
            <a:off x="9926020" y="424087"/>
            <a:ext cx="502494" cy="47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243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000"/>
        </a:spcBef>
        <a:buFont typeface="Arial" panose="020B0604020202020204" pitchFamily="34" charset="0"/>
        <a:buChar char="▪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6576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73152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128016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1645920" indent="-182880" algn="l" defTabSz="914400" rtl="0" eaLnBrk="1" latinLnBrk="0" hangingPunct="1">
        <a:lnSpc>
          <a:spcPct val="95000"/>
        </a:lnSpc>
        <a:spcBef>
          <a:spcPts val="5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736FF78A-67A5-A6F7-0C1D-28EC85EDE31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AA5713-CF04-6844-4ADF-D161378786F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3DCC2A7-A048-983A-3CAF-4C9AFF506DAB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B5D128F-37DE-6374-3BE0-03701B6074E7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83EB2394-1D9A-FE50-3153-D8024657CDC3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9FFD31D-FFCF-E70C-A6A7-011414C6C14E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A725870F-1F9D-A919-201D-04B2FA2C1B9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5735AB8-ED92-B2FD-68CF-C5BBD058FF14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877C4728-010C-8069-CEBF-1318BA8BDE3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8A6CCE46-1A09-1B1E-FE18-C7BE211450AD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27091F-047B-2674-0073-FA849E63A3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Structures Basics</a:t>
            </a:r>
          </a:p>
        </p:txBody>
      </p:sp>
      <p:sp>
        <p:nvSpPr>
          <p:cNvPr id="17" name="Subtitle 16">
            <a:extLst>
              <a:ext uri="{FF2B5EF4-FFF2-40B4-BE49-F238E27FC236}">
                <a16:creationId xmlns:a16="http://schemas.microsoft.com/office/drawing/2014/main" id="{85650F60-7579-0C30-659C-AA77FC1BB9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A42EE6-F67F-D586-74AE-D61EB65841E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AI2C Tech Intro</a:t>
            </a:r>
          </a:p>
        </p:txBody>
      </p:sp>
    </p:spTree>
    <p:extLst>
      <p:ext uri="{BB962C8B-B14F-4D97-AF65-F5344CB8AC3E}">
        <p14:creationId xmlns:p14="http://schemas.microsoft.com/office/powerpoint/2010/main" val="1427667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D87CF-5E92-D709-ADC1-CD5AB2C3F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BB9CF-99E0-34C2-13BD-CE711791B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11481"/>
            <a:ext cx="8231293" cy="914400"/>
          </a:xfrm>
        </p:spPr>
        <p:txBody>
          <a:bodyPr/>
          <a:lstStyle/>
          <a:p>
            <a:br>
              <a:rPr lang="en-US" dirty="0"/>
            </a:br>
            <a:r>
              <a:rPr lang="en-US" dirty="0"/>
              <a:t>Course Schedule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6C03BA8-C242-A7E3-06B9-2FDDD142A3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49274" y="1496722"/>
            <a:ext cx="11265189" cy="4994686"/>
          </a:xfr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C366FE1-DAFA-E7EC-025F-E1D1E8686851}"/>
              </a:ext>
            </a:extLst>
          </p:cNvPr>
          <p:cNvSpPr/>
          <p:nvPr/>
        </p:nvSpPr>
        <p:spPr>
          <a:xfrm>
            <a:off x="173539" y="3636819"/>
            <a:ext cx="6284332" cy="3029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19185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331C143A-1CF1-E401-0CB5-D7BA2231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55422540-3734-61F7-53F7-602380429E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lvl="0"/>
            <a:r>
              <a:rPr lang="en-US" dirty="0"/>
              <a:t>Review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EC59DF-A78A-77BB-FF5A-B87C235E4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22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1105E84A-1205-0701-E7F9-9675FAC2D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CEB7E12F-E2C9-500B-63E1-77AA22B0D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lvl="0"/>
            <a:r>
              <a:rPr lang="en-US" dirty="0"/>
              <a:t>What did we do last lesson?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486BA6-0431-62DD-DB8B-6DBD98AE9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81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>
          <a:extLst>
            <a:ext uri="{FF2B5EF4-FFF2-40B4-BE49-F238E27FC236}">
              <a16:creationId xmlns:a16="http://schemas.microsoft.com/office/drawing/2014/main" id="{DDE2D2EB-D5DC-2337-CDF3-57F128747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5">
            <a:extLst>
              <a:ext uri="{FF2B5EF4-FFF2-40B4-BE49-F238E27FC236}">
                <a16:creationId xmlns:a16="http://schemas.microsoft.com/office/drawing/2014/main" id="{16074BB9-F153-95B5-1D77-133E1B58EF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vert="horz" wrap="square" lIns="121900" tIns="121900" rIns="121900" bIns="121900" rtlCol="0" anchor="t" anchorCtr="0">
            <a:normAutofit/>
          </a:bodyPr>
          <a:lstStyle/>
          <a:p>
            <a:pPr lvl="0"/>
            <a:r>
              <a:rPr lang="en-US" dirty="0"/>
              <a:t>Pre class problem 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18212B1-6C1D-CE78-BC41-A6F429DFC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" y="1600198"/>
            <a:ext cx="9624060" cy="4572000"/>
          </a:xfrm>
        </p:spPr>
        <p:txBody>
          <a:bodyPr/>
          <a:lstStyle/>
          <a:p>
            <a:r>
              <a:rPr lang="en-US" sz="2400" dirty="0"/>
              <a:t>Intelligence analysts have intercepted a transmission from an enemy outpost. The signal contains 100 scrambled numeric values — but buried inside are the true coordinates of the enemy's hidden command center.</a:t>
            </a:r>
          </a:p>
          <a:p>
            <a:r>
              <a:rPr lang="en-US" sz="2400" dirty="0"/>
              <a:t>Your commanding officer explains: "The enemy encodes their location by hiding it in plain sight. Take the 5 highest signal values, sum them together, then divide by 10. The result is the target's grid coordinate."</a:t>
            </a:r>
          </a:p>
          <a:p>
            <a:r>
              <a:rPr lang="en-US" sz="2400" dirty="0"/>
              <a:t>Your mission: write a Python program to decode the transmission and report the coordinates.  You have 20 minutes to finish this before the enemy moves their command post.</a:t>
            </a:r>
          </a:p>
        </p:txBody>
      </p:sp>
    </p:spTree>
    <p:extLst>
      <p:ext uri="{BB962C8B-B14F-4D97-AF65-F5344CB8AC3E}">
        <p14:creationId xmlns:p14="http://schemas.microsoft.com/office/powerpoint/2010/main" val="750925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4430-1F71-D899-34E4-0D4105CCE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FF94A-3BCA-070D-C682-367F5F0F32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39" y="1600198"/>
            <a:ext cx="8875915" cy="4572000"/>
          </a:xfrm>
        </p:spPr>
        <p:txBody>
          <a:bodyPr/>
          <a:lstStyle/>
          <a:p>
            <a:r>
              <a:rPr lang="en-US" sz="2000" dirty="0"/>
              <a:t>Understand the difference between lists, tuples, dictionaries, and sets.</a:t>
            </a:r>
          </a:p>
          <a:p>
            <a:endParaRPr lang="en-US" sz="2000" dirty="0"/>
          </a:p>
          <a:p>
            <a:r>
              <a:rPr lang="en-US" sz="2000" dirty="0"/>
              <a:t>Know when and how to apply nested lists</a:t>
            </a:r>
          </a:p>
          <a:p>
            <a:endParaRPr lang="en-US" sz="2000" dirty="0"/>
          </a:p>
          <a:p>
            <a:r>
              <a:rPr lang="en-US" sz="2000" dirty="0"/>
              <a:t>Implement and discuss some basic list manipulation techniques</a:t>
            </a:r>
          </a:p>
        </p:txBody>
      </p:sp>
    </p:spTree>
    <p:extLst>
      <p:ext uri="{BB962C8B-B14F-4D97-AF65-F5344CB8AC3E}">
        <p14:creationId xmlns:p14="http://schemas.microsoft.com/office/powerpoint/2010/main" val="3616642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9D6BAA-9655-19E9-C6CF-82D4EC658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9A12711-B623-20A5-8867-310A62CE9F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21708"/>
              </p:ext>
            </p:extLst>
          </p:nvPr>
        </p:nvGraphicFramePr>
        <p:xfrm>
          <a:off x="549275" y="2004060"/>
          <a:ext cx="11093450" cy="3870960"/>
        </p:xfrm>
        <a:graphic>
          <a:graphicData uri="http://schemas.openxmlformats.org/drawingml/2006/table">
            <a:tbl>
              <a:tblPr/>
              <a:tblGrid>
                <a:gridCol w="5546725">
                  <a:extLst>
                    <a:ext uri="{9D8B030D-6E8A-4147-A177-3AD203B41FA5}">
                      <a16:colId xmlns:a16="http://schemas.microsoft.com/office/drawing/2014/main" val="1581277800"/>
                    </a:ext>
                  </a:extLst>
                </a:gridCol>
                <a:gridCol w="5546725">
                  <a:extLst>
                    <a:ext uri="{9D8B030D-6E8A-4147-A177-3AD203B41FA5}">
                      <a16:colId xmlns:a16="http://schemas.microsoft.com/office/drawing/2014/main" val="17481229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/>
                        <a:t>Detail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099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Syntax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my_list = [1, 2, 3]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4729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Ordered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✅ Yes — items maintain insertion order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76508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Mutable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 — items can be added, removed, or changed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065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Duplicates allowed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4745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Indexable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 — zero-based: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my_list[0]</a:t>
                      </a:r>
                      <a:r>
                        <a:rPr lang="en-US"/>
                        <a:t> returns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1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6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Can mix data types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 —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[1, "hello", 3.14, True]</a:t>
                      </a:r>
                      <a:r>
                        <a:rPr lang="en-US"/>
                        <a:t> is valid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3004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Nestable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✅ Yes — lists can contain other lists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798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Common methods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.append()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.remove()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.sort()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.pop()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.reverse()</a:t>
                      </a:r>
                      <a:r>
                        <a:rPr lang="en-US" dirty="0"/>
                        <a:t>, 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.extend()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01143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Common use case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Any ordered, changeable collection of 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92458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7554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C9053-3BA7-4689-91DA-53BA32F27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7FADC-A473-4437-B98E-A54159E58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Lists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9C9183-4CF2-2C57-D8E4-2AB6AE7813E7}"/>
              </a:ext>
            </a:extLst>
          </p:cNvPr>
          <p:cNvSpPr txBox="1"/>
          <p:nvPr/>
        </p:nvSpPr>
        <p:spPr>
          <a:xfrm>
            <a:off x="873492" y="1277675"/>
            <a:ext cx="1076986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Empty list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[]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list()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A3BA37-A210-F85E-A06E-8980DAAF79EF}"/>
              </a:ext>
            </a:extLst>
          </p:cNvPr>
          <p:cNvSpPr txBox="1"/>
          <p:nvPr/>
        </p:nvSpPr>
        <p:spPr>
          <a:xfrm>
            <a:off x="873492" y="2380192"/>
            <a:ext cx="107698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With values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[1, 2, 3]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2FF212-E770-B425-1D93-B1B9601CD17E}"/>
              </a:ext>
            </a:extLst>
          </p:cNvPr>
          <p:cNvSpPr txBox="1"/>
          <p:nvPr/>
        </p:nvSpPr>
        <p:spPr>
          <a:xfrm>
            <a:off x="873492" y="3364334"/>
            <a:ext cx="1076986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From another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list("hello")        # ['h', 'e', 'l', 'l', 'o']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list((1, 2, 3))      # [1, 2, 3]  (from a tuple)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list(range(5))       # [0, 1, 2, 3, 4]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7170AB-0615-06E2-F05B-73F418AE8775}"/>
              </a:ext>
            </a:extLst>
          </p:cNvPr>
          <p:cNvSpPr txBox="1"/>
          <p:nvPr/>
        </p:nvSpPr>
        <p:spPr>
          <a:xfrm>
            <a:off x="873492" y="4760040"/>
            <a:ext cx="1076986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List comprehension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[x * 2 for x in range(5)]   # [0, 2, 4, 6, 8]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A5A065-1C4A-16AE-7FAF-FEB554543234}"/>
              </a:ext>
            </a:extLst>
          </p:cNvPr>
          <p:cNvSpPr txBox="1"/>
          <p:nvPr/>
        </p:nvSpPr>
        <p:spPr>
          <a:xfrm>
            <a:off x="873492" y="5683370"/>
            <a:ext cx="107698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Repeated values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[0] * 5              # [0, 0, 0, 0, 0]</a:t>
            </a:r>
          </a:p>
        </p:txBody>
      </p:sp>
    </p:spTree>
    <p:extLst>
      <p:ext uri="{BB962C8B-B14F-4D97-AF65-F5344CB8AC3E}">
        <p14:creationId xmlns:p14="http://schemas.microsoft.com/office/powerpoint/2010/main" val="1788262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929465-6747-3121-1769-A73A8E64D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D0D06AB-E936-156D-2E30-C7E97EC17D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616636"/>
              </p:ext>
            </p:extLst>
          </p:nvPr>
        </p:nvGraphicFramePr>
        <p:xfrm>
          <a:off x="422030" y="917554"/>
          <a:ext cx="11117222" cy="5793302"/>
        </p:xfrm>
        <a:graphic>
          <a:graphicData uri="http://schemas.openxmlformats.org/drawingml/2006/table">
            <a:tbl>
              <a:tblPr/>
              <a:tblGrid>
                <a:gridCol w="2505787">
                  <a:extLst>
                    <a:ext uri="{9D8B030D-6E8A-4147-A177-3AD203B41FA5}">
                      <a16:colId xmlns:a16="http://schemas.microsoft.com/office/drawing/2014/main" val="151075792"/>
                    </a:ext>
                  </a:extLst>
                </a:gridCol>
                <a:gridCol w="2873827">
                  <a:extLst>
                    <a:ext uri="{9D8B030D-6E8A-4147-A177-3AD203B41FA5}">
                      <a16:colId xmlns:a16="http://schemas.microsoft.com/office/drawing/2014/main" val="616001578"/>
                    </a:ext>
                  </a:extLst>
                </a:gridCol>
                <a:gridCol w="3553371">
                  <a:extLst>
                    <a:ext uri="{9D8B030D-6E8A-4147-A177-3AD203B41FA5}">
                      <a16:colId xmlns:a16="http://schemas.microsoft.com/office/drawing/2014/main" val="2034672874"/>
                    </a:ext>
                  </a:extLst>
                </a:gridCol>
                <a:gridCol w="2184237">
                  <a:extLst>
                    <a:ext uri="{9D8B030D-6E8A-4147-A177-3AD203B41FA5}">
                      <a16:colId xmlns:a16="http://schemas.microsoft.com/office/drawing/2014/main" val="1846187701"/>
                    </a:ext>
                  </a:extLst>
                </a:gridCol>
              </a:tblGrid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Method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Description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Example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Result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285768"/>
                  </a:ext>
                </a:extLst>
              </a:tr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.append(x)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Adds item to the end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[1,2,3].append(4)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2, 3, 4]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4347781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.insert(</a:t>
                      </a:r>
                      <a:r>
                        <a:rPr lang="en-US" sz="1600" dirty="0" err="1">
                          <a:latin typeface="Courier New" panose="02070309020205020404" pitchFamily="49" charset="0"/>
                        </a:rPr>
                        <a:t>i</a:t>
                      </a:r>
                      <a:r>
                        <a:rPr lang="en-US" sz="1600" dirty="0">
                          <a:latin typeface="Courier New" panose="02070309020205020404" pitchFamily="49" charset="0"/>
                        </a:rPr>
                        <a:t>, x)</a:t>
                      </a:r>
                      <a:endParaRPr lang="en-US" sz="1600" dirty="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Inserts item at index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i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[1,2,3].insert(1, 99)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99, 2, 3]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6117651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.extend(iterable)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Appends all items from another </a:t>
                      </a:r>
                      <a:r>
                        <a:rPr lang="en-US" sz="1600" dirty="0" err="1"/>
                        <a:t>iterable</a:t>
                      </a:r>
                      <a:endParaRPr lang="en-US" sz="1600" dirty="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[1,2].extend([3,4])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2, 3, 4]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3209411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.remove(x)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Removes first occurrence of value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[1,2,3,2].remove(2)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3, 2]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9019780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.pop(i)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Removes &amp; returns item at index (default: last)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[1,2,3].pop()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returns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3</a:t>
                      </a:r>
                      <a:r>
                        <a:rPr lang="en-US" sz="1600"/>
                        <a:t>, list becomes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[1, 2]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743979"/>
                  </a:ext>
                </a:extLst>
              </a:tr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.clear()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Removes all items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[1,2,3].clear()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122365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.index(x)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Returns index of first occurrence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[1,2,3].index(2)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1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5024201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.count(x)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Counts occurrences of value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[1,2,2,3].count(2)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2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7508169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.sort()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Sorts list in place (ascending by default)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[3,1,2].sort()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 2, 3]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6691988"/>
                  </a:ext>
                </a:extLst>
              </a:tr>
              <a:tr h="4204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.sort(reverse=True)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Sorts list in place descending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[3,1,2].sort(reverse=True)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[3, 2, 1]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4402746"/>
                  </a:ext>
                </a:extLst>
              </a:tr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.reverse()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Reverses list in place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[1,2,3].reverse()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[3, 2, 1]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8311336"/>
                  </a:ext>
                </a:extLst>
              </a:tr>
              <a:tr h="241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.copy()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Returns a shallow copy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[1,2,3].copy()</a:t>
                      </a:r>
                      <a:endParaRPr lang="en-US" sz="1600"/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[1, 2, 3]</a:t>
                      </a:r>
                      <a:r>
                        <a:rPr lang="en-US" sz="1600" dirty="0"/>
                        <a:t> (new object)</a:t>
                      </a:r>
                    </a:p>
                  </a:txBody>
                  <a:tcPr marL="63062" marR="63062" marT="31531" marB="31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8789307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A70E1794-6332-AE7C-0CCE-1ACC181C2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Methods </a:t>
            </a:r>
            <a:r>
              <a:rPr lang="en-US" dirty="0" err="1"/>
              <a:t>Cheatsheet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4464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75B9B-792C-0491-2A64-05D2E2B19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Lists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AA55F-998E-E195-F31E-3E01275ED749}"/>
              </a:ext>
            </a:extLst>
          </p:cNvPr>
          <p:cNvSpPr txBox="1"/>
          <p:nvPr/>
        </p:nvSpPr>
        <p:spPr>
          <a:xfrm>
            <a:off x="777240" y="1443841"/>
            <a:ext cx="9307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[1, 2, 3]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7693D8-02C5-59F7-DE74-F713BB1C8BF9}"/>
              </a:ext>
            </a:extLst>
          </p:cNvPr>
          <p:cNvSpPr txBox="1"/>
          <p:nvPr/>
        </p:nvSpPr>
        <p:spPr>
          <a:xfrm>
            <a:off x="777239" y="2090172"/>
            <a:ext cx="101124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Slice copy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[:]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F36BAB-3E84-18E3-3FE1-EA4D83CAE4A9}"/>
              </a:ext>
            </a:extLst>
          </p:cNvPr>
          <p:cNvSpPr txBox="1"/>
          <p:nvPr/>
        </p:nvSpPr>
        <p:spPr>
          <a:xfrm>
            <a:off x="777239" y="3143640"/>
            <a:ext cx="930799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.copy() method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my_list.copy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F9935D-880D-0AC0-7920-5F40C0A54DF3}"/>
              </a:ext>
            </a:extLst>
          </p:cNvPr>
          <p:cNvSpPr txBox="1"/>
          <p:nvPr/>
        </p:nvSpPr>
        <p:spPr>
          <a:xfrm>
            <a:off x="777239" y="4264128"/>
            <a:ext cx="93079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list() constructor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list(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33274A-BA4E-8CBC-CDC8-AD981DF22270}"/>
              </a:ext>
            </a:extLst>
          </p:cNvPr>
          <p:cNvSpPr txBox="1"/>
          <p:nvPr/>
        </p:nvSpPr>
        <p:spPr>
          <a:xfrm>
            <a:off x="777239" y="4982488"/>
            <a:ext cx="93079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Deep copy (use when list contains nested lists)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copy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copy.deepcopy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65607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C6BFE-A35B-EE92-3045-F70894EC5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69B43-812E-17E6-2E93-BBCEC1D5F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ABOUT LISTS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B20226-8296-5EAF-B028-288D546D5CF8}"/>
              </a:ext>
            </a:extLst>
          </p:cNvPr>
          <p:cNvSpPr txBox="1"/>
          <p:nvPr/>
        </p:nvSpPr>
        <p:spPr>
          <a:xfrm>
            <a:off x="777240" y="1443841"/>
            <a:ext cx="609760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= [1, 2, 3]</a:t>
            </a:r>
          </a:p>
          <a:p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second_list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endParaRPr lang="en-US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second_list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[0] = 100</a:t>
            </a: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487531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6238E-FA6F-1A28-F457-4DD6B2A22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084C1A7-8084-A931-D59A-D2013912F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6CB8134-8408-54E9-AD24-560486210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9315701"/>
              </p:ext>
            </p:extLst>
          </p:nvPr>
        </p:nvGraphicFramePr>
        <p:xfrm>
          <a:off x="752893" y="1005999"/>
          <a:ext cx="10686214" cy="49590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92241">
                  <a:extLst>
                    <a:ext uri="{9D8B030D-6E8A-4147-A177-3AD203B41FA5}">
                      <a16:colId xmlns:a16="http://schemas.microsoft.com/office/drawing/2014/main" val="2504497373"/>
                    </a:ext>
                  </a:extLst>
                </a:gridCol>
                <a:gridCol w="8293973">
                  <a:extLst>
                    <a:ext uri="{9D8B030D-6E8A-4147-A177-3AD203B41FA5}">
                      <a16:colId xmlns:a16="http://schemas.microsoft.com/office/drawing/2014/main" val="736826440"/>
                    </a:ext>
                  </a:extLst>
                </a:gridCol>
              </a:tblGrid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Feature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Detail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1909114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Syntax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my_tuple = (1, 2, 3)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9212807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Ordered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items maintain insertion order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3796511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Mutable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once created, items cannot be changed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976023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Duplicates allowed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771696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Indexable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zero-based: my_tuple[0] returns 1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0597134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Can mix data types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(1, "hello", 3.14, True) is valid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4669246"/>
                  </a:ext>
                </a:extLst>
              </a:tr>
              <a:tr h="3056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Nestable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tuples can contain other tuples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9166140"/>
                  </a:ext>
                </a:extLst>
              </a:tr>
              <a:tr h="531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Common methods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.count(), .index() (only 2 — immutability limits options)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4083954"/>
                  </a:ext>
                </a:extLst>
              </a:tr>
              <a:tr h="531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Common use case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Fixed data that shouldn't change: coordinates, RGB values, database records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693684"/>
                  </a:ext>
                </a:extLst>
              </a:tr>
              <a:tr h="531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Unpacking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x, y, z = (1, 2, 3) assigns each value to a variable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0746709"/>
                  </a:ext>
                </a:extLst>
              </a:tr>
              <a:tr h="5316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Single-item syntax</a:t>
                      </a:r>
                      <a:endParaRPr lang="en-US" sz="1800"/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Requires trailing comma — (5,) is a tuple; (5) is just an integer</a:t>
                      </a:r>
                    </a:p>
                  </a:txBody>
                  <a:tcPr marL="79744" marR="79744" marT="39872" marB="398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4407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5048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0D2DD-08CD-D892-FC09-8012B904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2B93B-3316-AA40-8EEC-110DC4815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TUPLES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53488E-E6D4-8785-85F1-4EE90C3C7549}"/>
              </a:ext>
            </a:extLst>
          </p:cNvPr>
          <p:cNvSpPr txBox="1"/>
          <p:nvPr/>
        </p:nvSpPr>
        <p:spPr>
          <a:xfrm>
            <a:off x="548640" y="1223451"/>
            <a:ext cx="106111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Empty tuple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tuple()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9AA283-2046-FB97-A3A7-3EECA30EFD57}"/>
              </a:ext>
            </a:extLst>
          </p:cNvPr>
          <p:cNvSpPr txBox="1"/>
          <p:nvPr/>
        </p:nvSpPr>
        <p:spPr>
          <a:xfrm>
            <a:off x="548640" y="2423780"/>
            <a:ext cx="106111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With values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(1, 2, 3)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36A6A9-4D4A-8264-6D0B-5009D29CFB4F}"/>
              </a:ext>
            </a:extLst>
          </p:cNvPr>
          <p:cNvSpPr txBox="1"/>
          <p:nvPr/>
        </p:nvSpPr>
        <p:spPr>
          <a:xfrm>
            <a:off x="548640" y="3374382"/>
            <a:ext cx="1061119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Parentheses are actually optional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1, 2, 3             # (1, 2, 3)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09B7BB-7250-7390-EE3F-979E92830AE2}"/>
              </a:ext>
            </a:extLst>
          </p:cNvPr>
          <p:cNvSpPr txBox="1"/>
          <p:nvPr/>
        </p:nvSpPr>
        <p:spPr>
          <a:xfrm>
            <a:off x="548640" y="4158279"/>
            <a:ext cx="106111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Single item (trailing comma is required!)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(5,)                # (5,)  ✅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(5)                 # 5     ❌ this is just an integer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DBB1E0A-FD56-0F7B-B7B6-C4D080B4DD12}"/>
              </a:ext>
            </a:extLst>
          </p:cNvPr>
          <p:cNvSpPr txBox="1"/>
          <p:nvPr/>
        </p:nvSpPr>
        <p:spPr>
          <a:xfrm>
            <a:off x="548640" y="5279333"/>
            <a:ext cx="106111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From another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iterable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tuple("hello")      # ('h', 'e', 'l', 'l', 'o')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tuple([1, 2, 3])    # (1, 2, 3)  (from a list)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tuple(range(5))     # (0, 1, 2, 3, 4)</a:t>
            </a:r>
          </a:p>
        </p:txBody>
      </p:sp>
    </p:spTree>
    <p:extLst>
      <p:ext uri="{BB962C8B-B14F-4D97-AF65-F5344CB8AC3E}">
        <p14:creationId xmlns:p14="http://schemas.microsoft.com/office/powerpoint/2010/main" val="2996942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0" grpId="0"/>
      <p:bldP spid="14" grpId="0"/>
      <p:bldP spid="1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F52F1C7-364F-5C93-38A9-744EA83F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67B5114-B1C7-0AF3-99E7-15AEA0F38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Tuples methods </a:t>
            </a:r>
            <a:r>
              <a:rPr lang="en-US" dirty="0" err="1"/>
              <a:t>cheatsheet</a:t>
            </a:r>
            <a:endParaRPr lang="en-US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F34F43-FBAB-1D5A-7EB3-E75EA7C7A5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979051"/>
              </p:ext>
            </p:extLst>
          </p:nvPr>
        </p:nvGraphicFramePr>
        <p:xfrm>
          <a:off x="458840" y="2498439"/>
          <a:ext cx="11093448" cy="1569720"/>
        </p:xfrm>
        <a:graphic>
          <a:graphicData uri="http://schemas.openxmlformats.org/drawingml/2006/table">
            <a:tbl>
              <a:tblPr/>
              <a:tblGrid>
                <a:gridCol w="1781942">
                  <a:extLst>
                    <a:ext uri="{9D8B030D-6E8A-4147-A177-3AD203B41FA5}">
                      <a16:colId xmlns:a16="http://schemas.microsoft.com/office/drawing/2014/main" val="1275452038"/>
                    </a:ext>
                  </a:extLst>
                </a:gridCol>
                <a:gridCol w="3647552">
                  <a:extLst>
                    <a:ext uri="{9D8B030D-6E8A-4147-A177-3AD203B41FA5}">
                      <a16:colId xmlns:a16="http://schemas.microsoft.com/office/drawing/2014/main" val="1550522760"/>
                    </a:ext>
                  </a:extLst>
                </a:gridCol>
                <a:gridCol w="3607358">
                  <a:extLst>
                    <a:ext uri="{9D8B030D-6E8A-4147-A177-3AD203B41FA5}">
                      <a16:colId xmlns:a16="http://schemas.microsoft.com/office/drawing/2014/main" val="1761430050"/>
                    </a:ext>
                  </a:extLst>
                </a:gridCol>
                <a:gridCol w="2056596">
                  <a:extLst>
                    <a:ext uri="{9D8B030D-6E8A-4147-A177-3AD203B41FA5}">
                      <a16:colId xmlns:a16="http://schemas.microsoft.com/office/drawing/2014/main" val="2705139621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Result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4098376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.count(x)</a:t>
                      </a:r>
                      <a:endParaRPr lang="en-US" sz="17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Counts occurrences of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Courier New" panose="02070309020205020404" pitchFamily="49" charset="0"/>
                        </a:rPr>
                        <a:t>(1, 2, 2, 3).count(2)</a:t>
                      </a:r>
                      <a:endParaRPr lang="en-US" sz="17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Courier New" panose="02070309020205020404" pitchFamily="49" charset="0"/>
                        </a:rPr>
                        <a:t>2</a:t>
                      </a:r>
                      <a:endParaRPr lang="en-US" sz="17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866516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.index(x)</a:t>
                      </a:r>
                      <a:endParaRPr lang="en-US" sz="17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Returns index of first occurrence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(1, 2, 3).index(2)</a:t>
                      </a:r>
                      <a:endParaRPr lang="en-US" sz="17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Courier New" panose="02070309020205020404" pitchFamily="49" charset="0"/>
                        </a:rPr>
                        <a:t>1</a:t>
                      </a:r>
                      <a:endParaRPr lang="en-US" sz="17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391062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BD1BB8E-B4AD-168E-577D-EC0415D2EDCF}"/>
              </a:ext>
            </a:extLst>
          </p:cNvPr>
          <p:cNvSpPr txBox="1"/>
          <p:nvPr/>
        </p:nvSpPr>
        <p:spPr>
          <a:xfrm>
            <a:off x="1127928" y="4665934"/>
            <a:ext cx="6094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Only two tuple methods… why?</a:t>
            </a:r>
          </a:p>
        </p:txBody>
      </p:sp>
    </p:spTree>
    <p:extLst>
      <p:ext uri="{BB962C8B-B14F-4D97-AF65-F5344CB8AC3E}">
        <p14:creationId xmlns:p14="http://schemas.microsoft.com/office/powerpoint/2010/main" val="2020080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5750C-9CF6-EAE2-6DEA-7A03850A8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586D-F8EA-11B6-DF13-FCABC199E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Copying TUPLES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6E354D-6DE8-1A66-EFAD-DE4A92076AFB}"/>
              </a:ext>
            </a:extLst>
          </p:cNvPr>
          <p:cNvSpPr txBox="1"/>
          <p:nvPr/>
        </p:nvSpPr>
        <p:spPr>
          <a:xfrm>
            <a:off x="815739" y="1305341"/>
            <a:ext cx="762113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= (1, 2, 3)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9DD2AD-20AD-EB44-2986-C11FD8E6B7EB}"/>
              </a:ext>
            </a:extLst>
          </p:cNvPr>
          <p:cNvSpPr txBox="1"/>
          <p:nvPr/>
        </p:nvSpPr>
        <p:spPr>
          <a:xfrm>
            <a:off x="815740" y="1953246"/>
            <a:ext cx="1008432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Since tuples are immutable, you rarely need to copy them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Simply assign — both variables safely point to the same object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2228F6-9583-4767-010E-5EB5432A0B12}"/>
              </a:ext>
            </a:extLst>
          </p:cNvPr>
          <p:cNvSpPr txBox="1"/>
          <p:nvPr/>
        </p:nvSpPr>
        <p:spPr>
          <a:xfrm>
            <a:off x="815739" y="3704426"/>
            <a:ext cx="8075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tuple() constructor (creates a new object)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tuple(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BBACF4B-2712-C751-E9EF-DAD77DBC61F1}"/>
              </a:ext>
            </a:extLst>
          </p:cNvPr>
          <p:cNvSpPr txBox="1"/>
          <p:nvPr/>
        </p:nvSpPr>
        <p:spPr>
          <a:xfrm>
            <a:off x="815739" y="4722607"/>
            <a:ext cx="114317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# Deep copy (use when tuple contains nested mutable objects)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copy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copy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copy.deepcopy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55754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4D348-CAAF-3773-6861-C22AEF864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MUTABLE VS IMMUTABLE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2AB114-1471-32DD-621A-08AAFB643586}"/>
              </a:ext>
            </a:extLst>
          </p:cNvPr>
          <p:cNvSpPr txBox="1"/>
          <p:nvPr/>
        </p:nvSpPr>
        <p:spPr>
          <a:xfrm>
            <a:off x="847023" y="1185019"/>
            <a:ext cx="1008727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Mutable</a:t>
            </a:r>
            <a:r>
              <a:rPr lang="en-US" sz="2400" dirty="0"/>
              <a:t> means you can change an object after it's created. </a:t>
            </a:r>
            <a:r>
              <a:rPr lang="en-US" sz="2400" b="1" dirty="0"/>
              <a:t>Immutable</a:t>
            </a:r>
            <a:r>
              <a:rPr lang="en-US" sz="2400" dirty="0"/>
              <a:t> means you cannot.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3F51FA-9B33-7C87-C0E2-8368433DC3C8}"/>
              </a:ext>
            </a:extLst>
          </p:cNvPr>
          <p:cNvSpPr txBox="1"/>
          <p:nvPr/>
        </p:nvSpPr>
        <p:spPr>
          <a:xfrm>
            <a:off x="847023" y="4026497"/>
            <a:ext cx="99582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Tuple (immutable) — you CANNOT change it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(1, 2, 3)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my_tuple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[0] = 99  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❌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TypeError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: 'tuple' object does not support item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B6598D-D7BC-7556-9253-029C84CC8E6D}"/>
              </a:ext>
            </a:extLst>
          </p:cNvPr>
          <p:cNvSpPr txBox="1"/>
          <p:nvPr/>
        </p:nvSpPr>
        <p:spPr>
          <a:xfrm>
            <a:off x="847023" y="2373917"/>
            <a:ext cx="822227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# List (mutable) — you CAN change it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[1, 2, 3]</a:t>
            </a:r>
          </a:p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[0] = 99</a:t>
            </a:r>
          </a:p>
          <a:p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my_list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)  # [99, 2, 3]  ✅</a:t>
            </a:r>
          </a:p>
        </p:txBody>
      </p:sp>
    </p:spTree>
    <p:extLst>
      <p:ext uri="{BB962C8B-B14F-4D97-AF65-F5344CB8AC3E}">
        <p14:creationId xmlns:p14="http://schemas.microsoft.com/office/powerpoint/2010/main" val="3731398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0A79DFE-CA6D-199F-1D8F-0A25E480F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#1 – Basic algos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8DBF7A-ABA5-7245-19D0-84C717D309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Mutable and immutable structures</a:t>
            </a:r>
          </a:p>
          <a:p>
            <a:r>
              <a:rPr lang="en-US" sz="2400" dirty="0"/>
              <a:t>Working with tuples and lists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18436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FEE81-699F-1ADA-85CB-3532288FB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285A6-A544-7EFA-83E0-DC2F466F7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dictionaries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CAE4F5A-1DF4-0321-053C-0315B224A2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6706824"/>
              </p:ext>
            </p:extLst>
          </p:nvPr>
        </p:nvGraphicFramePr>
        <p:xfrm>
          <a:off x="893033" y="1228409"/>
          <a:ext cx="9963806" cy="5131226"/>
        </p:xfrm>
        <a:graphic>
          <a:graphicData uri="http://schemas.openxmlformats.org/drawingml/2006/table">
            <a:tbl>
              <a:tblPr/>
              <a:tblGrid>
                <a:gridCol w="3467952">
                  <a:extLst>
                    <a:ext uri="{9D8B030D-6E8A-4147-A177-3AD203B41FA5}">
                      <a16:colId xmlns:a16="http://schemas.microsoft.com/office/drawing/2014/main" val="4096516330"/>
                    </a:ext>
                  </a:extLst>
                </a:gridCol>
                <a:gridCol w="6495854">
                  <a:extLst>
                    <a:ext uri="{9D8B030D-6E8A-4147-A177-3AD203B41FA5}">
                      <a16:colId xmlns:a16="http://schemas.microsoft.com/office/drawing/2014/main" val="519406715"/>
                    </a:ext>
                  </a:extLst>
                </a:gridCol>
              </a:tblGrid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Feature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Detail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3021239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Syntax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my_dict = {"name": "Alice", "age": 25}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9140809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Ordered</a:t>
                      </a:r>
                      <a:endParaRPr lang="en-US" sz="1600" dirty="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maintains insertion order (Python 3.7+)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066278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Mutable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keys and values can be added, changed, or removed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0215126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Duplicate keys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❌ No — duplicate keys overwrite the previous value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630125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Duplicate values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values can repeat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898535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Indexable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By key —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my_dict["name"]</a:t>
                      </a:r>
                      <a:r>
                        <a:rPr lang="en-US" sz="1600"/>
                        <a:t> returns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"Alice"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07424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Can mix data types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keys and values can be any type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251769"/>
                  </a:ext>
                </a:extLst>
              </a:tr>
              <a:tr h="285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Nestable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✅ Yes — values can be lists, tuples, or other dicts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9040543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Common methods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Courier New" panose="02070309020205020404" pitchFamily="49" charset="0"/>
                        </a:rPr>
                        <a:t>.get()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.keys()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.values()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.items()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.update()</a:t>
                      </a:r>
                      <a:r>
                        <a:rPr lang="en-US" sz="1600"/>
                        <a:t>, </a:t>
                      </a:r>
                      <a:r>
                        <a:rPr lang="en-US" sz="1600">
                          <a:latin typeface="Courier New" panose="02070309020205020404" pitchFamily="49" charset="0"/>
                        </a:rPr>
                        <a:t>.pop()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220228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Common use case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Key-value lookups, storing structured data, counting frequencies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9568921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Key types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Keys must be immutable — strings, numbers, and tuples are valid; lists are not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792908"/>
                  </a:ext>
                </a:extLst>
              </a:tr>
              <a:tr h="4969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Safe access</a:t>
                      </a:r>
                      <a:endParaRPr lang="en-US" sz="1600"/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Courier New" panose="02070309020205020404" pitchFamily="49" charset="0"/>
                        </a:rPr>
                        <a:t>.get("key")</a:t>
                      </a:r>
                      <a:r>
                        <a:rPr lang="en-US" sz="1600" dirty="0"/>
                        <a:t> returns </a:t>
                      </a:r>
                      <a:r>
                        <a:rPr lang="en-US" sz="1600" dirty="0">
                          <a:latin typeface="Courier New" panose="02070309020205020404" pitchFamily="49" charset="0"/>
                        </a:rPr>
                        <a:t>None</a:t>
                      </a:r>
                      <a:r>
                        <a:rPr lang="en-US" sz="1600" dirty="0"/>
                        <a:t> instead of raising a </a:t>
                      </a:r>
                      <a:r>
                        <a:rPr lang="en-US" sz="1600" dirty="0" err="1">
                          <a:latin typeface="Courier New" panose="02070309020205020404" pitchFamily="49" charset="0"/>
                        </a:rPr>
                        <a:t>KeyError</a:t>
                      </a:r>
                      <a:r>
                        <a:rPr lang="en-US" sz="1600" dirty="0"/>
                        <a:t> if key is missing</a:t>
                      </a:r>
                    </a:p>
                  </a:txBody>
                  <a:tcPr marL="71437" marR="71437" marT="35719" marB="357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6976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3540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88C80-F013-5AC4-9BC1-0A40317BC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C002FC-5B2A-99CC-6FED-0FB5D24A3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dictionaries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3AD2968-6A0A-CC77-6851-EF23D9CB18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9134274"/>
              </p:ext>
            </p:extLst>
          </p:nvPr>
        </p:nvGraphicFramePr>
        <p:xfrm>
          <a:off x="549276" y="1905000"/>
          <a:ext cx="11093448" cy="3048000"/>
        </p:xfrm>
        <a:graphic>
          <a:graphicData uri="http://schemas.openxmlformats.org/drawingml/2006/table">
            <a:tbl>
              <a:tblPr/>
              <a:tblGrid>
                <a:gridCol w="2666197">
                  <a:extLst>
                    <a:ext uri="{9D8B030D-6E8A-4147-A177-3AD203B41FA5}">
                      <a16:colId xmlns:a16="http://schemas.microsoft.com/office/drawing/2014/main" val="2941850188"/>
                    </a:ext>
                  </a:extLst>
                </a:gridCol>
                <a:gridCol w="2880527">
                  <a:extLst>
                    <a:ext uri="{9D8B030D-6E8A-4147-A177-3AD203B41FA5}">
                      <a16:colId xmlns:a16="http://schemas.microsoft.com/office/drawing/2014/main" val="544297882"/>
                    </a:ext>
                  </a:extLst>
                </a:gridCol>
                <a:gridCol w="2773362">
                  <a:extLst>
                    <a:ext uri="{9D8B030D-6E8A-4147-A177-3AD203B41FA5}">
                      <a16:colId xmlns:a16="http://schemas.microsoft.com/office/drawing/2014/main" val="359213826"/>
                    </a:ext>
                  </a:extLst>
                </a:gridCol>
                <a:gridCol w="2773362">
                  <a:extLst>
                    <a:ext uri="{9D8B030D-6E8A-4147-A177-3AD203B41FA5}">
                      <a16:colId xmlns:a16="http://schemas.microsoft.com/office/drawing/2014/main" val="3970827343"/>
                    </a:ext>
                  </a:extLst>
                </a:gridCol>
              </a:tblGrid>
              <a:tr h="350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Method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Example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Result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Notes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692093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Curly braces with values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 err="1">
                          <a:latin typeface="Courier New" panose="02070309020205020404" pitchFamily="49" charset="0"/>
                        </a:rPr>
                        <a:t>my_dict</a:t>
                      </a:r>
                      <a:r>
                        <a:rPr lang="en-US" sz="1700" dirty="0">
                          <a:latin typeface="Courier New" panose="02070309020205020404" pitchFamily="49" charset="0"/>
                        </a:rPr>
                        <a:t> = {"a": 1, "b": 2}</a:t>
                      </a:r>
                      <a:endParaRPr lang="en-US" sz="17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{"a": 1, "b": 2}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Most common way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89822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Empty dictionary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my_dict = {}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{}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Unlike sets, </a:t>
                      </a:r>
                      <a:r>
                        <a:rPr lang="en-US" sz="1700">
                          <a:latin typeface="Courier New" panose="02070309020205020404" pitchFamily="49" charset="0"/>
                        </a:rPr>
                        <a:t>{}</a:t>
                      </a:r>
                      <a:r>
                        <a:rPr lang="en-US" sz="1700"/>
                        <a:t> does create an empty dict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8953443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>
                          <a:latin typeface="Courier New" panose="02070309020205020404" pitchFamily="49" charset="0"/>
                        </a:rPr>
                        <a:t>dict()</a:t>
                      </a:r>
                      <a:r>
                        <a:rPr lang="en-US" sz="1700" b="1"/>
                        <a:t> constructor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my_dict = dict(a=1, b=2)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{"a": 1, "b": 2}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Keys must be valid variable names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5094833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From a list of tuples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my_dict = dict([("a", 1), ("b", 2)])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Courier New" panose="02070309020205020404" pitchFamily="49" charset="0"/>
                        </a:rPr>
                        <a:t>{"a": 1, "b": 2}</a:t>
                      </a:r>
                      <a:endParaRPr lang="en-US" sz="17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/>
                        <a:t>Each tuple is a key-value pair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81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44172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209BEF-203D-664C-81D3-C646FAD7B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CD8CB06-7450-FBB7-D95F-A52835ED65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07204"/>
              </p:ext>
            </p:extLst>
          </p:nvPr>
        </p:nvGraphicFramePr>
        <p:xfrm>
          <a:off x="468887" y="982979"/>
          <a:ext cx="11093452" cy="5608392"/>
        </p:xfrm>
        <a:graphic>
          <a:graphicData uri="http://schemas.openxmlformats.org/drawingml/2006/table">
            <a:tbl>
              <a:tblPr/>
              <a:tblGrid>
                <a:gridCol w="2495377">
                  <a:extLst>
                    <a:ext uri="{9D8B030D-6E8A-4147-A177-3AD203B41FA5}">
                      <a16:colId xmlns:a16="http://schemas.microsoft.com/office/drawing/2014/main" val="247754008"/>
                    </a:ext>
                  </a:extLst>
                </a:gridCol>
                <a:gridCol w="3051349">
                  <a:extLst>
                    <a:ext uri="{9D8B030D-6E8A-4147-A177-3AD203B41FA5}">
                      <a16:colId xmlns:a16="http://schemas.microsoft.com/office/drawing/2014/main" val="1539533846"/>
                    </a:ext>
                  </a:extLst>
                </a:gridCol>
                <a:gridCol w="2857082">
                  <a:extLst>
                    <a:ext uri="{9D8B030D-6E8A-4147-A177-3AD203B41FA5}">
                      <a16:colId xmlns:a16="http://schemas.microsoft.com/office/drawing/2014/main" val="772676034"/>
                    </a:ext>
                  </a:extLst>
                </a:gridCol>
                <a:gridCol w="2689644">
                  <a:extLst>
                    <a:ext uri="{9D8B030D-6E8A-4147-A177-3AD203B41FA5}">
                      <a16:colId xmlns:a16="http://schemas.microsoft.com/office/drawing/2014/main" val="191957757"/>
                    </a:ext>
                  </a:extLst>
                </a:gridCol>
              </a:tblGrid>
              <a:tr h="239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Method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Description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Example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Result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019488"/>
                  </a:ext>
                </a:extLst>
              </a:tr>
              <a:tr h="396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.keys()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all keys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{"a":1,"b":2}.keys()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dict_keys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(["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a","b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"])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195980"/>
                  </a:ext>
                </a:extLst>
              </a:tr>
              <a:tr h="396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.values()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all values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{"a":1,"b":2}.values()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dict_values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([1, 2])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8231378"/>
                  </a:ext>
                </a:extLst>
              </a:tr>
              <a:tr h="416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.items()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all key-value pairs as tuples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{"a":1,"b":2}.items()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dict_items([("a",1),("b",2)])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518837"/>
                  </a:ext>
                </a:extLst>
              </a:tr>
              <a:tr h="5231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.update(d)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Merges another dict in (overwrites duplicates)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{"a":1}.update({"b":2})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 1, "b": 2}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483614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.get(key)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value for key, or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None</a:t>
                      </a:r>
                      <a:r>
                        <a:rPr lang="en-US" sz="1400"/>
                        <a:t> if missing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{"a":1}.get("a")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1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368792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.get(key, default)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value for key, or default if missing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{"a":1}.get("b", 0)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0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3109121"/>
                  </a:ext>
                </a:extLst>
              </a:tr>
              <a:tr h="400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.pop(key)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Removes &amp; returns value for key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{"a":1,"b":2}.pop("a")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returns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1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dict</a:t>
                      </a:r>
                      <a:r>
                        <a:rPr lang="en-US" sz="1400" dirty="0"/>
                        <a:t> becomes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{"b": 2}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598221"/>
                  </a:ext>
                </a:extLst>
              </a:tr>
              <a:tr h="416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.pop(key, default)</a:t>
                      </a:r>
                      <a:endParaRPr lang="en-US" sz="1400" dirty="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Same but returns default if key missing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{"a":1}.pop("b", 0)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0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2514873"/>
                  </a:ext>
                </a:extLst>
              </a:tr>
              <a:tr h="416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.popitem()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Removes &amp; returns last inserted key-value pair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{"a":1,"b":2}.popitem()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("b", 2)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7593820"/>
                  </a:ext>
                </a:extLst>
              </a:tr>
              <a:tr h="5653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.setdefault(key, x)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value if key exists, else inserts with value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x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{"a":1}.setdefault("b", 99)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 1, "b": 99}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4930753"/>
                  </a:ext>
                </a:extLst>
              </a:tr>
              <a:tr h="239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.clear()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Removes all items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{"a":1}.clear()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{}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517193"/>
                  </a:ext>
                </a:extLst>
              </a:tr>
              <a:tr h="239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.copy()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Returns a shallow copy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{"a":1}.copy()</a:t>
                      </a:r>
                      <a:endParaRPr lang="en-US" sz="1400"/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Courier New" panose="02070309020205020404" pitchFamily="49" charset="0"/>
                        </a:rPr>
                        <a:t>{"a": 1}</a:t>
                      </a:r>
                      <a:r>
                        <a:rPr lang="en-US" sz="1400" dirty="0"/>
                        <a:t> (new object)</a:t>
                      </a:r>
                    </a:p>
                  </a:txBody>
                  <a:tcPr marL="58490" marR="58490" marT="29245" marB="292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5422595"/>
                  </a:ext>
                </a:extLst>
              </a:tr>
            </a:tbl>
          </a:graphicData>
        </a:graphic>
      </p:graphicFrame>
      <p:sp>
        <p:nvSpPr>
          <p:cNvPr id="5" name="Title 4">
            <a:extLst>
              <a:ext uri="{FF2B5EF4-FFF2-40B4-BE49-F238E27FC236}">
                <a16:creationId xmlns:a16="http://schemas.microsoft.com/office/drawing/2014/main" id="{085B9BDB-991C-B226-B138-EDE782717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methods </a:t>
            </a:r>
            <a:r>
              <a:rPr lang="en-US" dirty="0" err="1"/>
              <a:t>cheatsheet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9595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F4E22-1B31-3200-12BC-58D8AA1C4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9C8A7-C346-8340-C0B2-D6FDCA39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7AD4A1-341F-6834-46B9-4E4DCF73E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7953589"/>
              </p:ext>
            </p:extLst>
          </p:nvPr>
        </p:nvGraphicFramePr>
        <p:xfrm>
          <a:off x="929058" y="1167407"/>
          <a:ext cx="10333883" cy="5121614"/>
        </p:xfrm>
        <a:graphic>
          <a:graphicData uri="http://schemas.openxmlformats.org/drawingml/2006/table">
            <a:tbl>
              <a:tblPr/>
              <a:tblGrid>
                <a:gridCol w="2988976">
                  <a:extLst>
                    <a:ext uri="{9D8B030D-6E8A-4147-A177-3AD203B41FA5}">
                      <a16:colId xmlns:a16="http://schemas.microsoft.com/office/drawing/2014/main" val="416917561"/>
                    </a:ext>
                  </a:extLst>
                </a:gridCol>
                <a:gridCol w="7344907">
                  <a:extLst>
                    <a:ext uri="{9D8B030D-6E8A-4147-A177-3AD203B41FA5}">
                      <a16:colId xmlns:a16="http://schemas.microsoft.com/office/drawing/2014/main" val="4123525008"/>
                    </a:ext>
                  </a:extLst>
                </a:gridCol>
              </a:tblGrid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Feature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Detail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4156523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Syntax</a:t>
                      </a:r>
                      <a:endParaRPr lang="en-US" sz="1800" dirty="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ourier New" panose="02070309020205020404" pitchFamily="49" charset="0"/>
                        </a:rPr>
                        <a:t>my_set = {1, 2, 3}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1436457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Ordered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items have no guaranteed order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262074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Mutable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items can be added or removed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6198176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Duplicates allowed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automatically removes duplicates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562712"/>
                  </a:ext>
                </a:extLst>
              </a:tr>
              <a:tr h="2781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Indexable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cannot access items by index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627819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Can mix data types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✅ Yes — but items must be immutable (no lists inside a set)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1073758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Nestable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❌ No — cannot contain lists or other sets (items must be hashable)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7458383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Common methods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>
                          <a:latin typeface="Courier New" panose="02070309020205020404" pitchFamily="49" charset="0"/>
                        </a:rPr>
                        <a:t>.add()</a:t>
                      </a:r>
                      <a:r>
                        <a:rPr lang="en-US" sz="1800"/>
                        <a:t>,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.remove()</a:t>
                      </a:r>
                      <a:r>
                        <a:rPr lang="en-US" sz="1800"/>
                        <a:t>,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.union()</a:t>
                      </a:r>
                      <a:r>
                        <a:rPr lang="en-US" sz="1800"/>
                        <a:t>,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.intersection()</a:t>
                      </a:r>
                      <a:r>
                        <a:rPr lang="en-US" sz="1800"/>
                        <a:t>,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.difference()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385733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Common use case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Deduplication, fast membership testing, math-style set operations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5559106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Empty set syntax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Must use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set()</a:t>
                      </a:r>
                      <a:r>
                        <a:rPr lang="en-US" sz="1800"/>
                        <a:t> — curly braces </a:t>
                      </a:r>
                      <a:r>
                        <a:rPr lang="en-US" sz="1800">
                          <a:latin typeface="Courier New" panose="02070309020205020404" pitchFamily="49" charset="0"/>
                        </a:rPr>
                        <a:t>{}</a:t>
                      </a:r>
                      <a:r>
                        <a:rPr lang="en-US" sz="1800"/>
                        <a:t> creates an empty dict, not a set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715148"/>
                  </a:ext>
                </a:extLst>
              </a:tr>
              <a:tr h="483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Membership test</a:t>
                      </a:r>
                      <a:endParaRPr lang="en-US" sz="1800"/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>
                          <a:latin typeface="Courier New" panose="02070309020205020404" pitchFamily="49" charset="0"/>
                        </a:rPr>
                        <a:t>in</a:t>
                      </a:r>
                      <a:r>
                        <a:rPr lang="en-US" sz="1800" dirty="0"/>
                        <a:t> operator is very fast (</a:t>
                      </a:r>
                      <a:r>
                        <a:rPr lang="en-US" sz="1800" dirty="0">
                          <a:latin typeface="Courier New" panose="02070309020205020404" pitchFamily="49" charset="0"/>
                        </a:rPr>
                        <a:t>O(1)</a:t>
                      </a:r>
                      <a:r>
                        <a:rPr lang="en-US" sz="1800" dirty="0"/>
                        <a:t>) compared to lists (</a:t>
                      </a:r>
                      <a:r>
                        <a:rPr lang="en-US" sz="1800" dirty="0">
                          <a:latin typeface="Courier New" panose="02070309020205020404" pitchFamily="49" charset="0"/>
                        </a:rPr>
                        <a:t>O(n)</a:t>
                      </a:r>
                      <a:r>
                        <a:rPr lang="en-US" sz="1800" dirty="0"/>
                        <a:t>)</a:t>
                      </a:r>
                    </a:p>
                  </a:txBody>
                  <a:tcPr marL="72571" marR="72571" marT="36286" marB="3628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5340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7005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A9AD-D2AC-98B8-9140-C681AFB52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18394-374A-A1F0-80D3-1228BB5B8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SETS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A8E6EA9-0E7C-FAA7-13F3-D3FDBEF75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692400"/>
              </p:ext>
            </p:extLst>
          </p:nvPr>
        </p:nvGraphicFramePr>
        <p:xfrm>
          <a:off x="1301246" y="1439426"/>
          <a:ext cx="9589508" cy="4599630"/>
        </p:xfrm>
        <a:graphic>
          <a:graphicData uri="http://schemas.openxmlformats.org/drawingml/2006/table">
            <a:tbl>
              <a:tblPr/>
              <a:tblGrid>
                <a:gridCol w="2397377">
                  <a:extLst>
                    <a:ext uri="{9D8B030D-6E8A-4147-A177-3AD203B41FA5}">
                      <a16:colId xmlns:a16="http://schemas.microsoft.com/office/drawing/2014/main" val="3899657706"/>
                    </a:ext>
                  </a:extLst>
                </a:gridCol>
                <a:gridCol w="2397377">
                  <a:extLst>
                    <a:ext uri="{9D8B030D-6E8A-4147-A177-3AD203B41FA5}">
                      <a16:colId xmlns:a16="http://schemas.microsoft.com/office/drawing/2014/main" val="2353609706"/>
                    </a:ext>
                  </a:extLst>
                </a:gridCol>
                <a:gridCol w="2397377">
                  <a:extLst>
                    <a:ext uri="{9D8B030D-6E8A-4147-A177-3AD203B41FA5}">
                      <a16:colId xmlns:a16="http://schemas.microsoft.com/office/drawing/2014/main" val="3407084268"/>
                    </a:ext>
                  </a:extLst>
                </a:gridCol>
                <a:gridCol w="2397377">
                  <a:extLst>
                    <a:ext uri="{9D8B030D-6E8A-4147-A177-3AD203B41FA5}">
                      <a16:colId xmlns:a16="http://schemas.microsoft.com/office/drawing/2014/main" val="710442653"/>
                    </a:ext>
                  </a:extLst>
                </a:gridCol>
              </a:tblGrid>
              <a:tr h="2938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Method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Example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Result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Notes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7071823"/>
                  </a:ext>
                </a:extLst>
              </a:tr>
              <a:tr h="2938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Curly braces with values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my_set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 = {1, 2, 3}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Most common way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3042873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Empty set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set()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Never use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{}</a:t>
                      </a:r>
                      <a:r>
                        <a:rPr lang="en-US" sz="1400"/>
                        <a:t> — that creates an empty dict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7771458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 list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set([1, 2, 2, 3])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Duplicates are automatically removed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8770071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 tuple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set((1, 2, 2, 3))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Duplicates are automatically removed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9243747"/>
                  </a:ext>
                </a:extLst>
              </a:tr>
              <a:tr h="7282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 string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set("hello")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{'h', 'e', 'l', 'o'}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Each character becomes an item, duplicates removed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1133498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 range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set(range(5))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{0, 1, 2, 3, 4}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5152780"/>
                  </a:ext>
                </a:extLst>
              </a:tr>
              <a:tr h="7282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Set comprehension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{x * 2 for x in range(5)}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{0, 2, 4, 6, 8}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Same syntax as list comprehension but with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{}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7476932"/>
                  </a:ext>
                </a:extLst>
              </a:tr>
              <a:tr h="5110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From another set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Courier New" panose="02070309020205020404" pitchFamily="49" charset="0"/>
                        </a:rPr>
                        <a:t>my_set = set(other_set)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copy of 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other_set</a:t>
                      </a:r>
                      <a:endParaRPr lang="en-US" sz="14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Creates a new independent set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9349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1383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E0CAC24-50F2-8759-EB8A-249F1AE3F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0504F-9CA5-FD86-7A59-BE882D75F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methods </a:t>
            </a:r>
            <a:r>
              <a:rPr lang="en-US" dirty="0" err="1"/>
              <a:t>cheatsheet</a:t>
            </a: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5F64748-A252-FB40-D9F2-1FE1B14481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747669"/>
              </p:ext>
            </p:extLst>
          </p:nvPr>
        </p:nvGraphicFramePr>
        <p:xfrm>
          <a:off x="1167677" y="1155561"/>
          <a:ext cx="9856646" cy="5393152"/>
        </p:xfrm>
        <a:graphic>
          <a:graphicData uri="http://schemas.openxmlformats.org/drawingml/2006/table">
            <a:tbl>
              <a:tblPr/>
              <a:tblGrid>
                <a:gridCol w="2147048">
                  <a:extLst>
                    <a:ext uri="{9D8B030D-6E8A-4147-A177-3AD203B41FA5}">
                      <a16:colId xmlns:a16="http://schemas.microsoft.com/office/drawing/2014/main" val="796205444"/>
                    </a:ext>
                  </a:extLst>
                </a:gridCol>
                <a:gridCol w="2569866">
                  <a:extLst>
                    <a:ext uri="{9D8B030D-6E8A-4147-A177-3AD203B41FA5}">
                      <a16:colId xmlns:a16="http://schemas.microsoft.com/office/drawing/2014/main" val="1968151211"/>
                    </a:ext>
                  </a:extLst>
                </a:gridCol>
                <a:gridCol w="2569866">
                  <a:extLst>
                    <a:ext uri="{9D8B030D-6E8A-4147-A177-3AD203B41FA5}">
                      <a16:colId xmlns:a16="http://schemas.microsoft.com/office/drawing/2014/main" val="3094348587"/>
                    </a:ext>
                  </a:extLst>
                </a:gridCol>
                <a:gridCol w="2569866">
                  <a:extLst>
                    <a:ext uri="{9D8B030D-6E8A-4147-A177-3AD203B41FA5}">
                      <a16:colId xmlns:a16="http://schemas.microsoft.com/office/drawing/2014/main" val="4290249931"/>
                    </a:ext>
                  </a:extLst>
                </a:gridCol>
              </a:tblGrid>
              <a:tr h="18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Method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Description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Example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Result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2870811"/>
                  </a:ext>
                </a:extLst>
              </a:tr>
              <a:tr h="18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.add(x)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Adds a single item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{1,2,3}.add(4)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3, 4}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1828719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.remove(x)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item — raises </a:t>
                      </a:r>
                      <a:r>
                        <a:rPr lang="en-US" sz="1100">
                          <a:latin typeface="Courier New" panose="02070309020205020404" pitchFamily="49" charset="0"/>
                        </a:rPr>
                        <a:t>KeyError</a:t>
                      </a:r>
                      <a:r>
                        <a:rPr lang="en-US" sz="1100"/>
                        <a:t> if missing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{1,2,3}.remove(2)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043466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.discard(x)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item — no error if missing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{1,2,3}.discard(99)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6011212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.pop()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&amp; returns an arbitrary item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{1,2,3}.pop()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unpredictable item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1581118"/>
                  </a:ext>
                </a:extLst>
              </a:tr>
              <a:tr h="18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.clear()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all items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{1,2,3}.clear()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set()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6798033"/>
                  </a:ext>
                </a:extLst>
              </a:tr>
              <a:tr h="18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.copy()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a shallow copy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{1,2,3}.copy()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3}</a:t>
                      </a:r>
                      <a:r>
                        <a:rPr lang="en-US" sz="1100"/>
                        <a:t> (new object)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4905535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.union(s)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Returns all items from both sets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{1,2}.union({2,3})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903874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.intersection(s)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only items in both sets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{1,2}.intersection({2,3})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{2}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714272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.difference(s)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items in first set but not second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{1,2}.difference({2,3})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7028208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.symmetric_difference(s)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Returns items in either set but not both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{1,2}.symmetric_difference({2,3})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059125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.issubset(s)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Checks if all items exist in another set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{1,2}.issubset({1,2,3})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518625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.issuperset(s)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Checks if set contains all items of another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{1,2,3}.issuperset({1,2})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5549994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.isdisjoint(s)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Checks if two sets share no items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{1,2}.isdisjoint({3,4})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True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8656340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.update(s)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Adds all items from another set in place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{1,2}.update({3,4})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 2, 3, 4}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361571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.intersection_update(s)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Keeps only items found in both sets in place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{1,2,3}.intersection_update({2,3,4})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{2, 3}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208174"/>
                  </a:ext>
                </a:extLst>
              </a:tr>
              <a:tr h="3303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.difference_update(s)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Removes items found in another set in place</a:t>
                      </a:r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>
                          <a:latin typeface="Courier New" panose="02070309020205020404" pitchFamily="49" charset="0"/>
                        </a:rPr>
                        <a:t>{1,2,3}.difference_update({2,3})</a:t>
                      </a:r>
                      <a:endParaRPr lang="en-US" sz="110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Courier New" panose="02070309020205020404" pitchFamily="49" charset="0"/>
                        </a:rPr>
                        <a:t>{1}</a:t>
                      </a:r>
                      <a:endParaRPr lang="en-US" sz="1100" dirty="0"/>
                    </a:p>
                  </a:txBody>
                  <a:tcPr marL="44824" marR="44824" marT="22412" marB="2241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395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22064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B703F05-852F-AE03-891C-5F619074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#2 - Dictionary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5ECE7E-E8A2-7449-67E0-349E433DDF27}"/>
              </a:ext>
            </a:extLst>
          </p:cNvPr>
          <p:cNvSpPr txBox="1"/>
          <p:nvPr/>
        </p:nvSpPr>
        <p:spPr>
          <a:xfrm>
            <a:off x="926962" y="1154782"/>
            <a:ext cx="9985548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/>
              <a:t>You are building a simple database for a military unit. Each soldier has a name, rank, and years of service. Your job is to store this information and write a function that lets the commanding officer quickly look up any soldier's details by their last name.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Create a dictionary called </a:t>
            </a:r>
            <a:r>
              <a:rPr lang="en-US" dirty="0"/>
              <a:t>unit</a:t>
            </a:r>
            <a:r>
              <a:rPr lang="en-US" sz="2400" dirty="0"/>
              <a:t> where each key is a soldier's last name and each value is another dictionary containing </a:t>
            </a:r>
            <a:r>
              <a:rPr lang="en-US" dirty="0"/>
              <a:t>"rank"</a:t>
            </a:r>
            <a:r>
              <a:rPr lang="en-US" sz="2400" dirty="0"/>
              <a:t> and </a:t>
            </a:r>
            <a:r>
              <a:rPr lang="en-US" dirty="0"/>
              <a:t>"</a:t>
            </a:r>
            <a:r>
              <a:rPr lang="en-US" dirty="0" err="1"/>
              <a:t>years_of_service</a:t>
            </a:r>
            <a:r>
              <a:rPr lang="en-US" dirty="0"/>
              <a:t>“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Populate it with at least 5 soldiers Write a function </a:t>
            </a:r>
            <a:r>
              <a:rPr lang="en-US" dirty="0" err="1"/>
              <a:t>lookup_soldier</a:t>
            </a:r>
            <a:r>
              <a:rPr lang="en-US" dirty="0"/>
              <a:t>(unit, </a:t>
            </a:r>
            <a:r>
              <a:rPr lang="en-US" dirty="0" err="1"/>
              <a:t>last_name</a:t>
            </a:r>
            <a:r>
              <a:rPr lang="en-US" dirty="0"/>
              <a:t>)</a:t>
            </a:r>
            <a:r>
              <a:rPr lang="en-US" sz="2400" dirty="0"/>
              <a:t> that takes the dictionary and a last name and prints the soldier's full profile, or a friendly message if the soldier is not found</a:t>
            </a:r>
          </a:p>
          <a:p>
            <a:pPr>
              <a:buNone/>
            </a:pPr>
            <a:endParaRPr lang="en-US" sz="2400" dirty="0"/>
          </a:p>
          <a:p>
            <a:pPr>
              <a:buNone/>
            </a:pPr>
            <a:r>
              <a:rPr lang="en-US" sz="2400" dirty="0"/>
              <a:t>Write a function </a:t>
            </a:r>
            <a:r>
              <a:rPr lang="en-US" dirty="0" err="1"/>
              <a:t>lookup_soldier</a:t>
            </a:r>
            <a:r>
              <a:rPr lang="en-US" dirty="0"/>
              <a:t>(unit, </a:t>
            </a:r>
            <a:r>
              <a:rPr lang="en-US" dirty="0" err="1"/>
              <a:t>last_name</a:t>
            </a:r>
            <a:r>
              <a:rPr lang="en-US" dirty="0"/>
              <a:t>)</a:t>
            </a:r>
            <a:r>
              <a:rPr lang="en-US" sz="2400" dirty="0"/>
              <a:t> that takes the dictionary and a last name and prints the soldier's full profile, or a friendly message if the soldier is not found</a:t>
            </a:r>
          </a:p>
        </p:txBody>
      </p:sp>
    </p:spTree>
    <p:extLst>
      <p:ext uri="{BB962C8B-B14F-4D97-AF65-F5344CB8AC3E}">
        <p14:creationId xmlns:p14="http://schemas.microsoft.com/office/powerpoint/2010/main" val="863485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B486A-B7D2-70B4-7E6E-D9255F283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3A87AD-36CB-80ED-9F59-422092F8BFC4}"/>
              </a:ext>
            </a:extLst>
          </p:cNvPr>
          <p:cNvSpPr txBox="1"/>
          <p:nvPr/>
        </p:nvSpPr>
        <p:spPr>
          <a:xfrm>
            <a:off x="374303" y="875371"/>
            <a:ext cx="11481724" cy="550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/>
              <a:t>A military base has two lists of personnel — soldiers who are </a:t>
            </a:r>
            <a:r>
              <a:rPr lang="en-US" sz="2200" b="1" dirty="0"/>
              <a:t>authorized</a:t>
            </a:r>
            <a:r>
              <a:rPr lang="en-US" sz="2200" dirty="0"/>
              <a:t> to enter a restricted zone, and soldiers who </a:t>
            </a:r>
            <a:r>
              <a:rPr lang="en-US" sz="2200" b="1" dirty="0"/>
              <a:t>showed up</a:t>
            </a:r>
            <a:r>
              <a:rPr lang="en-US" sz="2200" dirty="0"/>
              <a:t> at the gate today. Your job is to write a function that uses sets to help the security officer quickly answer three questions:</a:t>
            </a:r>
          </a:p>
          <a:p>
            <a:endParaRPr lang="en-US" sz="2200" dirty="0"/>
          </a:p>
          <a:p>
            <a:r>
              <a:rPr lang="en-US" sz="2200" dirty="0"/>
              <a:t>Who showed up that is </a:t>
            </a:r>
            <a:r>
              <a:rPr lang="en-US" sz="2200" b="1" dirty="0"/>
              <a:t>authorized</a:t>
            </a:r>
            <a:r>
              <a:rPr lang="en-US" sz="2200" dirty="0"/>
              <a:t>? (let them in)</a:t>
            </a:r>
          </a:p>
          <a:p>
            <a:r>
              <a:rPr lang="en-US" sz="2200" dirty="0"/>
              <a:t>Who showed up that is </a:t>
            </a:r>
            <a:r>
              <a:rPr lang="en-US" sz="2200" b="1" dirty="0"/>
              <a:t>not authorized</a:t>
            </a:r>
            <a:r>
              <a:rPr lang="en-US" sz="2200" dirty="0"/>
              <a:t>? (turn them away)</a:t>
            </a:r>
          </a:p>
          <a:p>
            <a:r>
              <a:rPr lang="en-US" sz="2200" dirty="0"/>
              <a:t>Who is authorized but </a:t>
            </a:r>
            <a:r>
              <a:rPr lang="en-US" sz="2200" b="1" dirty="0"/>
              <a:t>didn't show up</a:t>
            </a:r>
            <a:r>
              <a:rPr lang="en-US" sz="2200" dirty="0"/>
              <a:t>? (report as absent)</a:t>
            </a:r>
          </a:p>
          <a:p>
            <a:endParaRPr lang="en-US" sz="2200" dirty="0"/>
          </a:p>
          <a:p>
            <a:pPr marL="457200" indent="-457200">
              <a:buAutoNum type="arabicParenR"/>
            </a:pPr>
            <a:r>
              <a:rPr lang="en-US" sz="2200" dirty="0"/>
              <a:t>Store the two groups as sets </a:t>
            </a:r>
          </a:p>
          <a:p>
            <a:pPr marL="457200" indent="-457200">
              <a:buAutoNum type="arabicParenR"/>
            </a:pPr>
            <a:r>
              <a:rPr lang="en-US" sz="2200" dirty="0"/>
              <a:t>Write a function </a:t>
            </a:r>
            <a:r>
              <a:rPr lang="en-US" sz="2200" dirty="0" err="1"/>
              <a:t>check_gate</a:t>
            </a:r>
            <a:r>
              <a:rPr lang="en-US" sz="2200" dirty="0"/>
              <a:t>(authorized, arrived) that returns all three answers using set operations </a:t>
            </a:r>
          </a:p>
          <a:p>
            <a:pPr marL="457200" indent="-457200">
              <a:buAutoNum type="arabicParenR"/>
            </a:pPr>
            <a:r>
              <a:rPr lang="en-US" sz="2200" dirty="0"/>
              <a:t>Print each result clearly</a:t>
            </a:r>
          </a:p>
          <a:p>
            <a:pPr marL="457200" indent="-457200">
              <a:buAutoNum type="arabicParenR"/>
            </a:pPr>
            <a:endParaRPr lang="en-US" sz="2200" dirty="0"/>
          </a:p>
          <a:p>
            <a:r>
              <a:rPr lang="en-US" sz="2200" dirty="0"/>
              <a:t>Starter Code: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authorized = {"Smith", "Johnson", "Williams", "Brown", "Davis"} 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arrived = {"Smith", "Davis", "Williams", "Rodriguez"}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826AA93-9176-252B-57CD-BD714CF3A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#3 - sets</a:t>
            </a:r>
          </a:p>
        </p:txBody>
      </p:sp>
    </p:spTree>
    <p:extLst>
      <p:ext uri="{BB962C8B-B14F-4D97-AF65-F5344CB8AC3E}">
        <p14:creationId xmlns:p14="http://schemas.microsoft.com/office/powerpoint/2010/main" val="2520273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45D4-ACC5-1EA9-8B3D-4812FC945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655204D-A428-0B69-DAA6-4351266E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Hands-On #4 – sets and dictionaries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FBBB91-5A9E-A110-2E1C-BFC8AD56E77F}"/>
              </a:ext>
            </a:extLst>
          </p:cNvPr>
          <p:cNvSpPr txBox="1"/>
          <p:nvPr/>
        </p:nvSpPr>
        <p:spPr>
          <a:xfrm>
            <a:off x="374302" y="875371"/>
            <a:ext cx="11352123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Take the lyrics of your favorite song, and put it in triple quotes</a:t>
            </a:r>
          </a:p>
          <a:p>
            <a:endParaRPr lang="en-US" sz="2200" dirty="0"/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""" 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Song lyrics</a:t>
            </a:r>
            <a:b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"""</a:t>
            </a:r>
          </a:p>
          <a:p>
            <a:endParaRPr lang="en-US" sz="2200" dirty="0"/>
          </a:p>
          <a:p>
            <a:r>
              <a:rPr lang="en-US" sz="2200" dirty="0"/>
              <a:t>Use the set() operation to find all of the unique words in the song.</a:t>
            </a:r>
          </a:p>
          <a:p>
            <a:endParaRPr lang="en-US" sz="2200" dirty="0"/>
          </a:p>
          <a:p>
            <a:r>
              <a:rPr lang="en-US" sz="2200" dirty="0"/>
              <a:t>Using your set, and the initial song lyrics, create a dictionary that contains each word as a key, and the number of times it shows up in your favorite song as the value.</a:t>
            </a:r>
          </a:p>
        </p:txBody>
      </p:sp>
    </p:spTree>
    <p:extLst>
      <p:ext uri="{BB962C8B-B14F-4D97-AF65-F5344CB8AC3E}">
        <p14:creationId xmlns:p14="http://schemas.microsoft.com/office/powerpoint/2010/main" val="4229231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8D62AE3-67D3-4386-F1B7-88A1EB58B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084EE7-C690-8479-F16A-1F2AA0F3C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981608"/>
      </p:ext>
    </p:extLst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3473</TotalTime>
  <Words>3380</Words>
  <Application>Microsoft Office PowerPoint</Application>
  <PresentationFormat>Widescreen</PresentationFormat>
  <Paragraphs>489</Paragraphs>
  <Slides>27</Slides>
  <Notes>8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Arial</vt:lpstr>
      <vt:lpstr>Arial Bold</vt:lpstr>
      <vt:lpstr>Courier New</vt:lpstr>
      <vt:lpstr>US Army 2023 AFC DEVCOM Logo</vt:lpstr>
      <vt:lpstr>Data Structures Basics</vt:lpstr>
      <vt:lpstr> Course Schedule</vt:lpstr>
      <vt:lpstr>Review</vt:lpstr>
      <vt:lpstr>What did we do last lesson?</vt:lpstr>
      <vt:lpstr>Pre class problem 1</vt:lpstr>
      <vt:lpstr>Objectives</vt:lpstr>
      <vt:lpstr>Lists</vt:lpstr>
      <vt:lpstr>Initializing Lists</vt:lpstr>
      <vt:lpstr>List Methods Cheatsheet</vt:lpstr>
      <vt:lpstr>Copying Lists</vt:lpstr>
      <vt:lpstr>A NOTE ABOUT LISTS</vt:lpstr>
      <vt:lpstr>TUPLES</vt:lpstr>
      <vt:lpstr>Initializing TUPLES</vt:lpstr>
      <vt:lpstr>Tuples methods cheatsheet</vt:lpstr>
      <vt:lpstr>Copying TUPLES</vt:lpstr>
      <vt:lpstr>MUTABLE VS IMMUTABLE</vt:lpstr>
      <vt:lpstr>Hands-On #1 – Basic algos</vt:lpstr>
      <vt:lpstr>dictionaries</vt:lpstr>
      <vt:lpstr>INITIALIZING dictionaries</vt:lpstr>
      <vt:lpstr>Dictionary methods cheatsheet</vt:lpstr>
      <vt:lpstr>SETS</vt:lpstr>
      <vt:lpstr>INITIALIZING SETS</vt:lpstr>
      <vt:lpstr>SET methods cheatsheet</vt:lpstr>
      <vt:lpstr>Hands-On #2 - Dictionary</vt:lpstr>
      <vt:lpstr>Hands-On #3 - sets</vt:lpstr>
      <vt:lpstr>Hands-On #4 – sets and dictionaries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Shafer</dc:creator>
  <cp:lastModifiedBy>Robert Haenze</cp:lastModifiedBy>
  <cp:revision>162</cp:revision>
  <dcterms:created xsi:type="dcterms:W3CDTF">2025-07-09T23:54:51Z</dcterms:created>
  <dcterms:modified xsi:type="dcterms:W3CDTF">2026-07-29T15:58:01Z</dcterms:modified>
</cp:coreProperties>
</file>