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38"/>
  </p:notesMasterIdLst>
  <p:sldIdLst>
    <p:sldId id="321" r:id="rId2"/>
    <p:sldId id="328" r:id="rId3"/>
    <p:sldId id="329" r:id="rId4"/>
    <p:sldId id="486" r:id="rId5"/>
    <p:sldId id="304" r:id="rId6"/>
    <p:sldId id="276" r:id="rId7"/>
    <p:sldId id="305" r:id="rId8"/>
    <p:sldId id="277" r:id="rId9"/>
    <p:sldId id="300" r:id="rId10"/>
    <p:sldId id="284" r:id="rId11"/>
    <p:sldId id="324" r:id="rId12"/>
    <p:sldId id="291" r:id="rId13"/>
    <p:sldId id="323" r:id="rId14"/>
    <p:sldId id="292" r:id="rId15"/>
    <p:sldId id="285" r:id="rId16"/>
    <p:sldId id="306" r:id="rId17"/>
    <p:sldId id="301" r:id="rId18"/>
    <p:sldId id="308" r:id="rId19"/>
    <p:sldId id="325" r:id="rId20"/>
    <p:sldId id="326" r:id="rId21"/>
    <p:sldId id="287" r:id="rId22"/>
    <p:sldId id="307" r:id="rId23"/>
    <p:sldId id="293" r:id="rId24"/>
    <p:sldId id="309" r:id="rId25"/>
    <p:sldId id="289" r:id="rId26"/>
    <p:sldId id="310" r:id="rId27"/>
    <p:sldId id="311" r:id="rId28"/>
    <p:sldId id="322" r:id="rId29"/>
    <p:sldId id="330" r:id="rId30"/>
    <p:sldId id="331" r:id="rId31"/>
    <p:sldId id="332" r:id="rId32"/>
    <p:sldId id="333" r:id="rId33"/>
    <p:sldId id="334" r:id="rId34"/>
    <p:sldId id="312" r:id="rId35"/>
    <p:sldId id="327" r:id="rId36"/>
    <p:sldId id="313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88629" autoAdjust="0"/>
  </p:normalViewPr>
  <p:slideViewPr>
    <p:cSldViewPr snapToGrid="0">
      <p:cViewPr varScale="1">
        <p:scale>
          <a:sx n="129" d="100"/>
          <a:sy n="129" d="100"/>
        </p:scale>
        <p:origin x="129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CDABD0AA-F102-9AD6-CD01-FD54BF12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ADFBFA33-F6A7-56AD-0CB4-9814A7BEB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16ACE0C7-ACFE-82C1-D943-EF465E3E2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344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F9A78601-1317-308F-EBF0-CF3337B3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B0BF3B59-447E-0894-9988-62D62BC80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A5F036A4-B5E8-319A-3C65-C69726385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783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719-007A-9D20-6D43-3A4FCAAD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F23C-3B6C-06AD-FDEF-F55DEF81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4E9A6-CB51-3C7D-DF18-0DDEC1AC4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7A3-AEE3-A283-A203-B801AB55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4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543D9CC-7E56-CC55-4FF8-9BB5116A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2BDAE34B-4BF1-52EA-A461-957F86987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D66910F0-4EC2-4D73-EF29-4687A9FB1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09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binary_demo.py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88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7BB565DC-02B6-5292-0FFD-81AB874B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6C3BC44D-5ACD-7E94-567D-80A23BC7E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BA4593AD-D636-0929-A118-52287718C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6419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E500EDE3-AB29-4573-C523-5546E5DC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738B1D39-4CAD-B540-1528-329172FA2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08042B62-5B5A-0D07-D9B5-062020256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859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589D4B12-06FE-B496-FB52-EC639E1E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2EE49472-D8A2-7363-3C52-2A5B435CB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525575EB-4AE6-B725-2376-0055698A6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16953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C9142D8C-B927-AD3C-4911-40D1936C6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49AA4BAF-7A9D-D549-1367-DFB3DC53D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E00BA3E7-BDAA-05CA-F4A9-8FDE6374B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419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4269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AD028B9-EF2E-39CC-8555-E5F64A55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FBFC26D6-1573-BE95-405B-F3C7BB10E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E548D4FE-6C3E-078F-0EAE-CD7ACC04C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6EF7C67B-0491-C73F-72D3-D4A8999C7E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394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FAE6C7F-0239-263C-40F0-4409AE39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>
            <a:extLst>
              <a:ext uri="{FF2B5EF4-FFF2-40B4-BE49-F238E27FC236}">
                <a16:creationId xmlns:a16="http://schemas.microsoft.com/office/drawing/2014/main" id="{A7F07626-F769-63ED-A8C5-D934B2163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>
            <a:extLst>
              <a:ext uri="{FF2B5EF4-FFF2-40B4-BE49-F238E27FC236}">
                <a16:creationId xmlns:a16="http://schemas.microsoft.com/office/drawing/2014/main" id="{3A56F53B-8AFE-75CA-FB1B-B69C1DE0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>
            <a:extLst>
              <a:ext uri="{FF2B5EF4-FFF2-40B4-BE49-F238E27FC236}">
                <a16:creationId xmlns:a16="http://schemas.microsoft.com/office/drawing/2014/main" id="{E4C97AA2-01B3-E850-B0A7-96445DCBC7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229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9A83625-484F-5D61-8522-8B0BB15B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>
            <a:extLst>
              <a:ext uri="{FF2B5EF4-FFF2-40B4-BE49-F238E27FC236}">
                <a16:creationId xmlns:a16="http://schemas.microsoft.com/office/drawing/2014/main" id="{5675A772-7D01-1B11-A419-3EDB6C5CA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g364a009736c_2_257:notes">
            <a:extLst>
              <a:ext uri="{FF2B5EF4-FFF2-40B4-BE49-F238E27FC236}">
                <a16:creationId xmlns:a16="http://schemas.microsoft.com/office/drawing/2014/main" id="{19FEA6A7-605F-6E9C-6CDE-918C2FC3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9448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D1DB388B-D8C8-B7AF-DA4A-2E2170DE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1E842EB0-6396-B037-9E7A-18381198A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AB152011-E51C-8072-EF4C-FA66B157A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B49F4616-5FAB-B511-3493-CA05E7313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19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273BF0FD-7DE2-AA97-A48A-A0836E0E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A39109DD-8FD9-478C-B827-186A618C7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B189F1C5-4AA3-783E-36E8-01A90853D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2E868CB3-79C6-00E1-D5BA-F92FBFFDE4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086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3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3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3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3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3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3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3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3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3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3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3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3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3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3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4h2p08AfaQ8?start=121&amp;feature=oembed" TargetMode="Externa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intro to python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341FB50C-5882-3994-477F-1ACB25D0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80D44D-D9EF-9EB6-3220-959D4758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kobe</a:t>
            </a:r>
            <a:r>
              <a:rPr lang="en-US" dirty="0"/>
              <a:t> Bryant have to do with becoming a software developer?</a:t>
            </a:r>
          </a:p>
        </p:txBody>
      </p:sp>
      <p:pic>
        <p:nvPicPr>
          <p:cNvPr id="6" name="Online Media 5" title="Kobe Bryant | Best Motivational Speech | New [HD]">
            <a:hlinkClick r:id="" action="ppaction://media"/>
            <a:extLst>
              <a:ext uri="{FF2B5EF4-FFF2-40B4-BE49-F238E27FC236}">
                <a16:creationId xmlns:a16="http://schemas.microsoft.com/office/drawing/2014/main" id="{6EA51B32-6B77-57A6-D9AA-EE3075D1A6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93288" y="1159004"/>
            <a:ext cx="6506543" cy="3675885"/>
          </a:xfrm>
          <a:prstGeom prst="rect">
            <a:avLst/>
          </a:prstGeom>
        </p:spPr>
      </p:pic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46D3997A-6796-FDE3-5188-E92922B914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49450" y="1282446"/>
            <a:ext cx="2172630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We will show you the way… </a:t>
            </a:r>
          </a:p>
          <a:p>
            <a:pPr lvl="1"/>
            <a:r>
              <a:rPr lang="en-US" dirty="0"/>
              <a:t>but you have to put in the work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 have to help one another to truly succeed</a:t>
            </a:r>
          </a:p>
        </p:txBody>
      </p:sp>
    </p:spTree>
    <p:extLst>
      <p:ext uri="{BB962C8B-B14F-4D97-AF65-F5344CB8AC3E}">
        <p14:creationId xmlns:p14="http://schemas.microsoft.com/office/powerpoint/2010/main" val="239928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44853E23-BD9B-7D94-5518-DD7A0DFB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80308D-6A1D-F3E1-B31C-2D7EECDD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My teaching philosophy</a:t>
            </a:r>
          </a:p>
        </p:txBody>
      </p:sp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58E249F6-8E86-4E4F-4EB4-35D6F8C066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79" y="1104027"/>
            <a:ext cx="6628658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You are on a journey to become a professional software developer, the expectations are that you work like a professional</a:t>
            </a:r>
          </a:p>
          <a:p>
            <a:pPr lvl="0"/>
            <a:r>
              <a:rPr lang="en-US" dirty="0"/>
              <a:t>At a minimum:</a:t>
            </a:r>
          </a:p>
          <a:p>
            <a:pPr lvl="1"/>
            <a:r>
              <a:rPr lang="en-US" dirty="0"/>
              <a:t>You complete exercises outside of class until you get it right</a:t>
            </a:r>
          </a:p>
          <a:p>
            <a:pPr lvl="1"/>
            <a:r>
              <a:rPr lang="en-US" dirty="0"/>
              <a:t>You practice the concepts presented in class on your own</a:t>
            </a:r>
          </a:p>
          <a:p>
            <a:pPr lvl="1"/>
            <a:r>
              <a:rPr lang="en-US" dirty="0"/>
              <a:t>You recognize things you do not understand and ask questions</a:t>
            </a:r>
          </a:p>
          <a:p>
            <a:pPr lvl="1"/>
            <a:endParaRPr lang="en-US" dirty="0"/>
          </a:p>
          <a:p>
            <a:r>
              <a:rPr lang="en-US" dirty="0"/>
              <a:t>If you truly desire to be a professional:</a:t>
            </a:r>
          </a:p>
          <a:p>
            <a:pPr lvl="1"/>
            <a:r>
              <a:rPr lang="en-US" dirty="0"/>
              <a:t>You complete exercises outside of class until you can’t get it wrong</a:t>
            </a:r>
          </a:p>
          <a:p>
            <a:pPr lvl="1"/>
            <a:r>
              <a:rPr lang="en-US" dirty="0"/>
              <a:t>You leverage additional resources to learn more than you are being taught in class</a:t>
            </a:r>
          </a:p>
          <a:p>
            <a:pPr lvl="1"/>
            <a:r>
              <a:rPr lang="en-US" dirty="0"/>
              <a:t>You deeply engage with the material and play with the concepts on your own creatively (write your own applications and use the tools you are being taught).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8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7CF-5E92-D709-ADC1-CD5AB2C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9CF-99E0-34C2-13BD-CE711791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Course Schedule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C03BA8-C242-A7E3-06B9-2FDDD142A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00" y="989100"/>
            <a:ext cx="8382000" cy="37163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366FE1-DAFA-E7EC-025F-E1D1E8686851}"/>
              </a:ext>
            </a:extLst>
          </p:cNvPr>
          <p:cNvSpPr/>
          <p:nvPr/>
        </p:nvSpPr>
        <p:spPr>
          <a:xfrm>
            <a:off x="148683" y="1605782"/>
            <a:ext cx="4713249" cy="230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85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084A2D-BCD8-799E-EBFF-72120E9A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>
            <a:extLst>
              <a:ext uri="{FF2B5EF4-FFF2-40B4-BE49-F238E27FC236}">
                <a16:creationId xmlns:a16="http://schemas.microsoft.com/office/drawing/2014/main" id="{E49FBB25-0B72-0CF6-3415-DF06EC72F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What is a Program?</a:t>
            </a:r>
          </a:p>
        </p:txBody>
      </p:sp>
      <p:sp>
        <p:nvSpPr>
          <p:cNvPr id="261" name="Google Shape;261;p46">
            <a:extLst>
              <a:ext uri="{FF2B5EF4-FFF2-40B4-BE49-F238E27FC236}">
                <a16:creationId xmlns:a16="http://schemas.microsoft.com/office/drawing/2014/main" id="{BA24EEA5-E568-0A4E-535F-E8DF716199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series of instructions</a:t>
            </a:r>
          </a:p>
          <a:p>
            <a:pPr lvl="0"/>
            <a:r>
              <a:rPr lang="en-US" dirty="0"/>
              <a:t>Executed in order</a:t>
            </a:r>
          </a:p>
          <a:p>
            <a:pPr lvl="0"/>
            <a:r>
              <a:rPr lang="en-US" dirty="0"/>
              <a:t>On a computer</a:t>
            </a:r>
          </a:p>
          <a:p>
            <a:pPr lvl="0"/>
            <a:r>
              <a:rPr lang="en-US" dirty="0"/>
              <a:t>Requires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Memory / storage</a:t>
            </a:r>
          </a:p>
          <a:p>
            <a:pPr lvl="1"/>
            <a:endParaRPr lang="en-US" dirty="0"/>
          </a:p>
          <a:p>
            <a:r>
              <a:rPr lang="en-US" dirty="0"/>
              <a:t>Generally, </a:t>
            </a:r>
            <a:r>
              <a:rPr lang="en-US" i="1" dirty="0"/>
              <a:t>data</a:t>
            </a:r>
            <a:r>
              <a:rPr lang="en-US" dirty="0"/>
              <a:t> is the most important thing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Manipulate</a:t>
            </a:r>
          </a:p>
          <a:p>
            <a:pPr lvl="1"/>
            <a:r>
              <a:rPr lang="en-US" dirty="0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24439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So what is Python?</a:t>
            </a:r>
          </a:p>
        </p:txBody>
      </p:sp>
      <p:sp>
        <p:nvSpPr>
          <p:cNvPr id="261" name="Google Shape;261;p46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High-level, interpreted </a:t>
            </a:r>
            <a:r>
              <a:rPr lang="en-US" i="1" dirty="0"/>
              <a:t>program</a:t>
            </a:r>
            <a:r>
              <a:rPr lang="en-US" dirty="0"/>
              <a:t>ming language 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readability</a:t>
            </a:r>
          </a:p>
          <a:p>
            <a:pPr lvl="1"/>
            <a:r>
              <a:rPr lang="en-US" dirty="0"/>
              <a:t>versatility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Widely used</a:t>
            </a:r>
          </a:p>
          <a:p>
            <a:pPr lvl="1"/>
            <a:r>
              <a:rPr lang="en-US" dirty="0"/>
              <a:t>Professionals, amateurs</a:t>
            </a:r>
          </a:p>
          <a:p>
            <a:pPr lvl="1"/>
            <a:r>
              <a:rPr lang="en-US" dirty="0"/>
              <a:t>Web dev, data science, automation,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D3F4-B81F-5FCC-770B-0F5B4AC6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F3DD-DCFF-65A0-2B71-D24A23204D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 to your terminal and start the python executable</a:t>
            </a:r>
          </a:p>
          <a:p>
            <a:r>
              <a:rPr lang="en-US" dirty="0"/>
              <a:t>The interpreter runs python code</a:t>
            </a:r>
          </a:p>
          <a:p>
            <a:r>
              <a:rPr lang="en-US" dirty="0"/>
              <a:t>Lines preceded by ‘&gt;&gt;&gt;’ are instructions</a:t>
            </a:r>
          </a:p>
          <a:p>
            <a:r>
              <a:rPr lang="en-US" dirty="0"/>
              <a:t>Other lines are results</a:t>
            </a:r>
          </a:p>
          <a:p>
            <a:r>
              <a:rPr lang="en-US" i="1" dirty="0"/>
              <a:t>Expressions</a:t>
            </a:r>
            <a:r>
              <a:rPr lang="en-US" dirty="0"/>
              <a:t> evaluate to a specific value</a:t>
            </a:r>
          </a:p>
          <a:p>
            <a:pPr lvl="1"/>
            <a:r>
              <a:rPr lang="en-US" dirty="0"/>
              <a:t>5 + 7 </a:t>
            </a:r>
            <a:r>
              <a:rPr lang="en-US" dirty="0">
                <a:sym typeface="Wingdings" panose="05000000000000000000" pitchFamily="2" charset="2"/>
              </a:rPr>
              <a:t> 12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True or False  False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Statements</a:t>
            </a:r>
            <a:r>
              <a:rPr lang="en-US" dirty="0">
                <a:sym typeface="Wingdings" panose="05000000000000000000" pitchFamily="2" charset="2"/>
              </a:rPr>
              <a:t> do not evaluate to a specific value but may have other </a:t>
            </a:r>
            <a:r>
              <a:rPr lang="en-US" i="1" dirty="0">
                <a:sym typeface="Wingdings" panose="05000000000000000000" pitchFamily="2" charset="2"/>
              </a:rPr>
              <a:t>side effects</a:t>
            </a:r>
            <a:r>
              <a:rPr lang="en-US" dirty="0">
                <a:sym typeface="Wingdings" panose="05000000000000000000" pitchFamily="2" charset="2"/>
              </a:rPr>
              <a:t> (more on this later)</a:t>
            </a:r>
            <a:endParaRPr lang="en-US" i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28DB04-280A-CD3A-F2E4-A669ADF9F6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525" y="2201518"/>
            <a:ext cx="4024313" cy="14262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A0D1-6091-00EC-3E96-67BD2994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AE3B9-EB21-F250-75E4-840EE9568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3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and datatypes</a:t>
            </a:r>
          </a:p>
        </p:txBody>
      </p:sp>
      <p:sp>
        <p:nvSpPr>
          <p:cNvPr id="267" name="Google Shape;267;p4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b="1" dirty="0"/>
              <a:t>This is important.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Computers classify data into different datatypes.  For instance:</a:t>
            </a:r>
          </a:p>
          <a:p>
            <a:pPr lvl="1"/>
            <a:r>
              <a:rPr lang="en-US" dirty="0"/>
              <a:t>6 is an integer</a:t>
            </a:r>
          </a:p>
          <a:p>
            <a:pPr lvl="1"/>
            <a:r>
              <a:rPr lang="en-US" dirty="0"/>
              <a:t>25.5 is a floating point number (float)</a:t>
            </a:r>
          </a:p>
          <a:p>
            <a:pPr lvl="1"/>
            <a:r>
              <a:rPr lang="en-US" dirty="0"/>
              <a:t>“Hello” is a string</a:t>
            </a:r>
          </a:p>
          <a:p>
            <a:pPr lvl="1"/>
            <a:r>
              <a:rPr lang="en-US" dirty="0"/>
              <a:t>True is a </a:t>
            </a:r>
            <a:r>
              <a:rPr lang="en-US" dirty="0" err="1"/>
              <a:t>boolean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Python will interact with different datatypes differently.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B7793-1F6B-ED9D-D691-633E4C5D1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3" y="1653633"/>
            <a:ext cx="4023360" cy="3429000"/>
          </a:xfrm>
        </p:spPr>
        <p:txBody>
          <a:bodyPr/>
          <a:lstStyle/>
          <a:p>
            <a:pPr lvl="0"/>
            <a:r>
              <a:rPr lang="en-US" dirty="0"/>
              <a:t>Give examples of the following primitive datatypes:</a:t>
            </a:r>
          </a:p>
          <a:p>
            <a:pPr lvl="1"/>
            <a:r>
              <a:rPr lang="en-US" dirty="0"/>
              <a:t>Integers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Boolean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2DED-686C-354A-03AA-8C310523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03FA-440C-E5A0-88B6-F6D53B839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AC81-FB1F-9F08-D768-CB1A89B82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1,668,247,404 (int)</a:t>
            </a:r>
          </a:p>
          <a:p>
            <a:r>
              <a:rPr lang="en-US" dirty="0"/>
              <a:t>4.4168006258522776e+21 (float)</a:t>
            </a:r>
          </a:p>
          <a:p>
            <a:r>
              <a:rPr lang="en-US" dirty="0"/>
              <a:t>"cool" (string)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38C4-45F3-1654-A84A-E5E00E36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E803-317A-C6AF-DB96-475300B4C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Data Type Conversion (Casting)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5B9A8-13B2-1DF9-516C-B276FB4C4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50196" y="1357428"/>
            <a:ext cx="29908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64C403-3397-DF2F-D446-1511CACE4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4095" y="1405889"/>
            <a:ext cx="4023360" cy="3429000"/>
          </a:xfrm>
        </p:spPr>
        <p:txBody>
          <a:bodyPr/>
          <a:lstStyle/>
          <a:p>
            <a:r>
              <a:rPr lang="en-US" dirty="0"/>
              <a:t>There are predefined </a:t>
            </a:r>
            <a:r>
              <a:rPr lang="en-US" i="1" dirty="0"/>
              <a:t>functions </a:t>
            </a:r>
            <a:r>
              <a:rPr lang="en-US" dirty="0"/>
              <a:t>we can use to </a:t>
            </a:r>
            <a:r>
              <a:rPr lang="en-US" i="1" dirty="0"/>
              <a:t>explicitly</a:t>
            </a:r>
            <a:r>
              <a:rPr lang="en-US" dirty="0"/>
              <a:t> convert data from one type to another: </a:t>
            </a:r>
          </a:p>
          <a:p>
            <a:pPr lvl="1"/>
            <a:r>
              <a:rPr lang="en-US" dirty="0"/>
              <a:t>int()</a:t>
            </a:r>
          </a:p>
          <a:p>
            <a:pPr lvl="1"/>
            <a:r>
              <a:rPr lang="en-US" dirty="0"/>
              <a:t>float()</a:t>
            </a:r>
          </a:p>
          <a:p>
            <a:pPr lvl="1"/>
            <a:r>
              <a:rPr lang="en-US" dirty="0"/>
              <a:t>str()</a:t>
            </a:r>
          </a:p>
          <a:p>
            <a:pPr lvl="1"/>
            <a:r>
              <a:rPr lang="en-US" dirty="0"/>
              <a:t>bool()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5981F83-6455-7C6A-7A66-DD51E676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4E090C27-93AA-8101-B770-1F7EF32B1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26CA9-3E9A-4C28-86BA-38B9B6AF2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7396AE82-1906-8A60-4A7E-4A1C42F52E1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>
            <a:extLst>
              <a:ext uri="{FF2B5EF4-FFF2-40B4-BE49-F238E27FC236}">
                <a16:creationId xmlns:a16="http://schemas.microsoft.com/office/drawing/2014/main" id="{7BBFE5B9-8947-BEFD-92A7-EA5B23C51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814946"/>
              </p:ext>
            </p:extLst>
          </p:nvPr>
        </p:nvGraphicFramePr>
        <p:xfrm>
          <a:off x="3358137" y="1472143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0" name="Google Shape;360;p61">
            <a:extLst>
              <a:ext uri="{FF2B5EF4-FFF2-40B4-BE49-F238E27FC236}">
                <a16:creationId xmlns:a16="http://schemas.microsoft.com/office/drawing/2014/main" id="{7C8A2398-ADBB-399E-BC5C-2201946B3B32}"/>
              </a:ext>
            </a:extLst>
          </p:cNvPr>
          <p:cNvSpPr/>
          <p:nvPr/>
        </p:nvSpPr>
        <p:spPr>
          <a:xfrm>
            <a:off x="3358136" y="1168035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5426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720109864"/>
              </p:ext>
            </p:extLst>
          </p:nvPr>
        </p:nvGraphicFramePr>
        <p:xfrm>
          <a:off x="3104407" y="1482550"/>
          <a:ext cx="3355866" cy="2319944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976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 =</a:t>
                      </a: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 dirty="0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 dirty="0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1" name="Google Shape;361;p61"/>
          <p:cNvSpPr/>
          <p:nvPr/>
        </p:nvSpPr>
        <p:spPr>
          <a:xfrm>
            <a:off x="3632232" y="722297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dirty="0"/>
          </a:p>
        </p:txBody>
      </p:sp>
      <p:sp>
        <p:nvSpPr>
          <p:cNvPr id="365" name="Google Shape;365;p61"/>
          <p:cNvSpPr/>
          <p:nvPr/>
        </p:nvSpPr>
        <p:spPr>
          <a:xfrm>
            <a:off x="473277" y="1365012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1B2654A8-1FF2-DE3E-B180-13F27481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AB6F84CC-9B9C-2720-7098-64EA8A61C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1B65CD4D-786B-7086-DCFD-605672AE4BA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8" name="Google Shape;358;p61">
            <a:extLst>
              <a:ext uri="{FF2B5EF4-FFF2-40B4-BE49-F238E27FC236}">
                <a16:creationId xmlns:a16="http://schemas.microsoft.com/office/drawing/2014/main" id="{E76A87E5-53D4-66D5-439E-6CB616EB0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485074"/>
              </p:ext>
            </p:extLst>
          </p:nvPr>
        </p:nvGraphicFramePr>
        <p:xfrm>
          <a:off x="907343" y="1450497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2" name="Google Shape;362;p61">
            <a:extLst>
              <a:ext uri="{FF2B5EF4-FFF2-40B4-BE49-F238E27FC236}">
                <a16:creationId xmlns:a16="http://schemas.microsoft.com/office/drawing/2014/main" id="{2A95F14A-3C7E-27F5-4D1D-49E755ED3107}"/>
              </a:ext>
            </a:extLst>
          </p:cNvPr>
          <p:cNvSpPr/>
          <p:nvPr/>
        </p:nvSpPr>
        <p:spPr>
          <a:xfrm>
            <a:off x="907343" y="102436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>
            <a:extLst>
              <a:ext uri="{FF2B5EF4-FFF2-40B4-BE49-F238E27FC236}">
                <a16:creationId xmlns:a16="http://schemas.microsoft.com/office/drawing/2014/main" id="{0C8B3922-E01A-4F2B-C2E7-09CA4DC63B09}"/>
              </a:ext>
            </a:extLst>
          </p:cNvPr>
          <p:cNvSpPr/>
          <p:nvPr/>
        </p:nvSpPr>
        <p:spPr>
          <a:xfrm>
            <a:off x="4950397" y="102436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>
            <a:extLst>
              <a:ext uri="{FF2B5EF4-FFF2-40B4-BE49-F238E27FC236}">
                <a16:creationId xmlns:a16="http://schemas.microsoft.com/office/drawing/2014/main" id="{70F2AFC1-6F84-047A-3EB1-2E07458A4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831570"/>
              </p:ext>
            </p:extLst>
          </p:nvPr>
        </p:nvGraphicFramePr>
        <p:xfrm>
          <a:off x="4940882" y="1450497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094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Order of Operations</a:t>
            </a:r>
          </a:p>
        </p:txBody>
      </p:sp>
      <p:sp>
        <p:nvSpPr>
          <p:cNvPr id="372" name="Google Shape;372;p6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 order of operations in Python is essentially the same as in math you are already familiar with:</a:t>
            </a:r>
          </a:p>
          <a:p>
            <a:pPr marL="0" lvl="0" indent="0">
              <a:buNone/>
            </a:pPr>
            <a:r>
              <a:rPr lang="en-US" b="1" dirty="0"/>
              <a:t>PEMDAS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Expressions in parentheses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Exponentiation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Multiplication, division, integer division, and modulo (remainder)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Addition and subtraction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Operators with the same precedence (except for </a:t>
            </a:r>
            <a:r>
              <a:rPr lang="en-US" dirty="0">
                <a:sym typeface="Consolas"/>
              </a:rPr>
              <a:t>**</a:t>
            </a:r>
            <a:r>
              <a:rPr lang="en-US" dirty="0"/>
              <a:t>) are evaluated from left-to-right.  (In algebra we say they are left-associative.)</a:t>
            </a:r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DEF354-A645-BC0D-EB5B-A40756A8046A}"/>
              </a:ext>
            </a:extLst>
          </p:cNvPr>
          <p:cNvSpPr txBox="1"/>
          <p:nvPr/>
        </p:nvSpPr>
        <p:spPr>
          <a:xfrm>
            <a:off x="1289825" y="3420130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10 * 10 + 7 </a:t>
            </a:r>
          </a:p>
          <a:p>
            <a:r>
              <a:rPr lang="en-US" b="1" dirty="0">
                <a:solidFill>
                  <a:srgbClr val="00B050"/>
                </a:solidFill>
              </a:rPr>
              <a:t>100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107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9C5ED-5013-085B-F7DB-700CBECB7F76}"/>
              </a:ext>
            </a:extLst>
          </p:cNvPr>
          <p:cNvSpPr txBox="1"/>
          <p:nvPr/>
        </p:nvSpPr>
        <p:spPr>
          <a:xfrm>
            <a:off x="4653841" y="3420129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15 – 5 * 10 + 7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15 -  50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-35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6C1E7-3607-432F-7386-73846379658D}"/>
              </a:ext>
            </a:extLst>
          </p:cNvPr>
          <p:cNvSpPr txBox="1"/>
          <p:nvPr/>
        </p:nvSpPr>
        <p:spPr>
          <a:xfrm>
            <a:off x="1038922" y="3343187"/>
            <a:ext cx="4620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lvl="2" indent="0">
              <a:buNone/>
            </a:pPr>
            <a:r>
              <a:rPr lang="en-US" dirty="0"/>
              <a:t>(15 – 5) * 10 + 7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In Class Exercise 1</a:t>
            </a:r>
          </a:p>
        </p:txBody>
      </p:sp>
      <p:sp>
        <p:nvSpPr>
          <p:cNvPr id="320" name="Google Shape;320;p55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Run the following code snippets in the interpreter.  What do they do?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How do we fix the last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7AE33-683E-D59D-0A26-4E58770A1CB2}"/>
              </a:ext>
            </a:extLst>
          </p:cNvPr>
          <p:cNvSpPr txBox="1"/>
          <p:nvPr/>
        </p:nvSpPr>
        <p:spPr>
          <a:xfrm>
            <a:off x="411163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10 + 15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868-4A47-1378-82F4-DB27DD38EFF5}"/>
              </a:ext>
            </a:extLst>
          </p:cNvPr>
          <p:cNvSpPr txBox="1"/>
          <p:nvPr/>
        </p:nvSpPr>
        <p:spPr>
          <a:xfrm>
            <a:off x="2822368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"10" + "15"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E183F-D775-0F77-40E7-1E833F827069}"/>
              </a:ext>
            </a:extLst>
          </p:cNvPr>
          <p:cNvSpPr txBox="1"/>
          <p:nvPr/>
        </p:nvSpPr>
        <p:spPr>
          <a:xfrm>
            <a:off x="5568122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 + "15"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56E56BAB-56E0-516E-4575-D3107452B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473" y="1757391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4FD4C-7185-FCA9-476F-A3A4F908C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7E0CF-5BF1-84CC-B2D5-8D205C651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84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9B7-E46D-D8EB-3407-AC7457A4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65EF-2667-015E-3559-C71C345F71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Variables</a:t>
            </a:r>
            <a:r>
              <a:rPr lang="en-US" dirty="0"/>
              <a:t> are stored in memory</a:t>
            </a:r>
          </a:p>
          <a:p>
            <a:pPr lvl="1"/>
            <a:r>
              <a:rPr lang="en-US" dirty="0"/>
              <a:t>Can be read</a:t>
            </a:r>
          </a:p>
          <a:p>
            <a:pPr lvl="1"/>
            <a:r>
              <a:rPr lang="en-US" dirty="0"/>
              <a:t>Can be written</a:t>
            </a:r>
          </a:p>
          <a:p>
            <a:pPr lvl="1"/>
            <a:r>
              <a:rPr lang="en-US" dirty="0"/>
              <a:t>Can be deleted</a:t>
            </a:r>
          </a:p>
          <a:p>
            <a:r>
              <a:rPr lang="en-US" dirty="0"/>
              <a:t>Used for short-term storage</a:t>
            </a:r>
          </a:p>
          <a:p>
            <a:r>
              <a:rPr lang="en-US" dirty="0"/>
              <a:t>Given the snippet from below, let’s fill in the table on the right…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A9C3-45DC-BCFB-D0DE-1DB5C555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CC786-C5EB-1DDE-3894-30587C23B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993AFCB7-4869-FEAE-A137-9522B4B463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4082580"/>
              </p:ext>
            </p:extLst>
          </p:nvPr>
        </p:nvGraphicFramePr>
        <p:xfrm>
          <a:off x="4311805" y="651511"/>
          <a:ext cx="4770436" cy="1483360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4263872489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360226786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032398684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5743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 </a:t>
                      </a:r>
                      <a:r>
                        <a:rPr lang="en-US" dirty="0" err="1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2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5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0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8672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A61A7C7-62EC-6838-9D3C-C8FC11E25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245639"/>
              </p:ext>
            </p:extLst>
          </p:nvPr>
        </p:nvGraphicFramePr>
        <p:xfrm>
          <a:off x="4373322" y="1073786"/>
          <a:ext cx="2385218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225367945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568315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my_variable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2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new_variable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third_variable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796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6CA6D26-1A5A-8EEA-9CCD-CBF9C7DE7934}"/>
              </a:ext>
            </a:extLst>
          </p:cNvPr>
          <p:cNvSpPr txBox="1"/>
          <p:nvPr/>
        </p:nvSpPr>
        <p:spPr>
          <a:xfrm>
            <a:off x="5068339" y="3282951"/>
            <a:ext cx="3577425" cy="10380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How does the computer calculate the value for the last line?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1DEE64-0CD9-B3E7-6300-6D5F3494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" y="2988702"/>
            <a:ext cx="4553585" cy="1743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34C987-FB3F-AAF6-0E62-328190BBB9B5}"/>
              </a:ext>
            </a:extLst>
          </p:cNvPr>
          <p:cNvSpPr txBox="1"/>
          <p:nvPr/>
        </p:nvSpPr>
        <p:spPr>
          <a:xfrm>
            <a:off x="6697023" y="991037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int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string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float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EB6BA-496C-5171-202C-09F18E0C7C4A}"/>
              </a:ext>
            </a:extLst>
          </p:cNvPr>
          <p:cNvSpPr txBox="1"/>
          <p:nvPr/>
        </p:nvSpPr>
        <p:spPr>
          <a:xfrm>
            <a:off x="7842470" y="980302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5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“hello”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7.2</a:t>
            </a:r>
          </a:p>
        </p:txBody>
      </p:sp>
    </p:spTree>
    <p:extLst>
      <p:ext uri="{BB962C8B-B14F-4D97-AF65-F5344CB8AC3E}">
        <p14:creationId xmlns:p14="http://schemas.microsoft.com/office/powerpoint/2010/main" val="40681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3020-0C6E-2BE8-B970-878F589C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C173BB-2B34-BBE3-9A14-05FDD00185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was the </a:t>
            </a:r>
            <a:r>
              <a:rPr lang="en-US" i="1" dirty="0"/>
              <a:t>result</a:t>
            </a:r>
            <a:r>
              <a:rPr lang="en-US" dirty="0"/>
              <a:t> of the first line?</a:t>
            </a:r>
          </a:p>
          <a:p>
            <a:r>
              <a:rPr lang="en-US" dirty="0"/>
              <a:t>Is that a statement or an expression?</a:t>
            </a:r>
          </a:p>
          <a:p>
            <a:r>
              <a:rPr lang="en-US" i="1" dirty="0"/>
              <a:t>Important!</a:t>
            </a:r>
            <a:r>
              <a:rPr lang="en-US" dirty="0"/>
              <a:t>  </a:t>
            </a:r>
            <a:r>
              <a:rPr lang="en-US" i="1" dirty="0"/>
              <a:t>Statements</a:t>
            </a:r>
            <a:r>
              <a:rPr lang="en-US" dirty="0"/>
              <a:t> do not give a value back.</a:t>
            </a:r>
          </a:p>
          <a:p>
            <a:r>
              <a:rPr lang="en-US" i="1" dirty="0"/>
              <a:t>Expressions</a:t>
            </a:r>
            <a:r>
              <a:rPr lang="en-US" dirty="0"/>
              <a:t> do evaluate to a value.</a:t>
            </a:r>
          </a:p>
          <a:p>
            <a:r>
              <a:rPr lang="en-US" dirty="0"/>
              <a:t>Statements can contain expressions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50C07-C9B3-B7DB-CA0F-7FC749C0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50B6-ED80-A597-7735-9D739525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B6A18-6527-2D70-6B3E-D3F8A546A8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9BCF09-E4CC-A386-CBB8-304FCD928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1163" y="2144306"/>
            <a:ext cx="4024312" cy="15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E45539F-57DD-E102-29CE-E94AAB03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E756ACEB-7A05-C3A4-2497-4F5E1C300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Rules</a:t>
            </a:r>
          </a:p>
        </p:txBody>
      </p:sp>
      <p:sp>
        <p:nvSpPr>
          <p:cNvPr id="332" name="Google Shape;332;p57">
            <a:extLst>
              <a:ext uri="{FF2B5EF4-FFF2-40B4-BE49-F238E27FC236}">
                <a16:creationId xmlns:a16="http://schemas.microsoft.com/office/drawing/2014/main" id="{8EAF487E-A428-F995-FE74-6D57480B4132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332120" y="948042"/>
            <a:ext cx="8479759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dirty="0"/>
              <a:t>You can name a variable anything but…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start with a number.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have any spaces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include an underscore (_)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include other special characters (&amp;*^%!)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be a python keyword (for, if, else…)</a:t>
            </a:r>
            <a:br>
              <a:rPr lang="en-US" dirty="0"/>
            </a:br>
            <a:r>
              <a:rPr lang="en-US" dirty="0"/>
              <a:t>(You’ll learn more keywords as you learn the language)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be the same name as a predefined Python function, but this will remove functionality from the language</a:t>
            </a:r>
          </a:p>
        </p:txBody>
      </p:sp>
    </p:spTree>
    <p:extLst>
      <p:ext uri="{BB962C8B-B14F-4D97-AF65-F5344CB8AC3E}">
        <p14:creationId xmlns:p14="http://schemas.microsoft.com/office/powerpoint/2010/main" val="15137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73662F86-93D2-EC03-4783-F9AF1A4B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065BDC3D-7D5B-84C2-1EBA-ACEA77774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Variable Naming Rules and Conventions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6EAFC3-A0FB-3981-9A92-C75E70A08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806845"/>
              </p:ext>
            </p:extLst>
          </p:nvPr>
        </p:nvGraphicFramePr>
        <p:xfrm>
          <a:off x="551493" y="1177846"/>
          <a:ext cx="7860308" cy="2787807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3930154">
                  <a:extLst>
                    <a:ext uri="{9D8B030D-6E8A-4147-A177-3AD203B41FA5}">
                      <a16:colId xmlns:a16="http://schemas.microsoft.com/office/drawing/2014/main" val="3084290269"/>
                    </a:ext>
                  </a:extLst>
                </a:gridCol>
                <a:gridCol w="3930154">
                  <a:extLst>
                    <a:ext uri="{9D8B030D-6E8A-4147-A177-3AD203B41FA5}">
                      <a16:colId xmlns:a16="http://schemas.microsoft.com/office/drawing/2014/main" val="781559157"/>
                    </a:ext>
                  </a:extLst>
                </a:gridCol>
              </a:tblGrid>
              <a:tr h="483427">
                <a:tc>
                  <a:txBody>
                    <a:bodyPr/>
                    <a:lstStyle/>
                    <a:p>
                      <a:r>
                        <a:rPr lang="en-US" dirty="0"/>
                        <a:t>Variable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Allowed?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9108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magic_number</a:t>
                      </a:r>
                      <a:r>
                        <a:rPr lang="en-US" dirty="0"/>
                        <a:t>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58813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aReallyLongButOkayVariable</a:t>
                      </a:r>
                      <a:r>
                        <a:rPr lang="en-US" dirty="0"/>
                        <a:t> = “Acceptable?”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80156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123Pianos = 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82848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for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8508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print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2690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C603A6-15F1-DDF3-C6DA-BAE11A2F1C93}"/>
              </a:ext>
            </a:extLst>
          </p:cNvPr>
          <p:cNvSpPr txBox="1"/>
          <p:nvPr/>
        </p:nvSpPr>
        <p:spPr>
          <a:xfrm>
            <a:off x="4481647" y="1727018"/>
            <a:ext cx="40378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Yes, but you will no longer be able to use the print() function</a:t>
            </a:r>
          </a:p>
        </p:txBody>
      </p:sp>
    </p:spTree>
    <p:extLst>
      <p:ext uri="{BB962C8B-B14F-4D97-AF65-F5344CB8AC3E}">
        <p14:creationId xmlns:p14="http://schemas.microsoft.com/office/powerpoint/2010/main" val="261648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Conventions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B445F-A090-94C9-0107-7F0085BAF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5970" y="1288929"/>
            <a:ext cx="4023360" cy="342900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dirty="0"/>
              <a:t>Your variable name</a:t>
            </a:r>
            <a:r>
              <a:rPr lang="en-US" b="1" dirty="0"/>
              <a:t> should</a:t>
            </a:r>
            <a:r>
              <a:rPr lang="en-US" dirty="0"/>
              <a:t>…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describe something about the data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use_snake_case_for_variables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 err="1"/>
              <a:t>UseCapWordsForClassNames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Use ALLCAPs for constants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5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0A24AA87-FE3F-E7BC-362C-6B240547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E5D280F4-CF3B-C906-DF6C-43B12B48C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2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6E81462C-7AD2-9182-930A-A35B7403B9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Pittsburgh pizza shop is having a two-for-one deal. You can get two small (12”) pizzas for $9.99. In contrast, a large pizza (16”) costs $9.99.  Which one is the better deal (yields more area)?</a:t>
            </a:r>
          </a:p>
          <a:p>
            <a:pPr lvl="1"/>
            <a:r>
              <a:rPr lang="en-US" dirty="0"/>
              <a:t>What is your first intuition?</a:t>
            </a:r>
          </a:p>
          <a:p>
            <a:pPr lvl="1"/>
            <a:r>
              <a:rPr lang="en-US" dirty="0"/>
              <a:t>With a partner, write a plan on how to solve the problem</a:t>
            </a:r>
          </a:p>
          <a:p>
            <a:pPr lvl="1"/>
            <a:r>
              <a:rPr lang="en-US" dirty="0"/>
              <a:t>Then write Python code in the interpreter to answer this question.</a:t>
            </a:r>
          </a:p>
          <a:p>
            <a:pPr lvl="2"/>
            <a:r>
              <a:rPr lang="en-US" dirty="0"/>
              <a:t>Use variables to store data for later</a:t>
            </a:r>
          </a:p>
          <a:p>
            <a:pPr lvl="2"/>
            <a:r>
              <a:rPr lang="en-US" dirty="0"/>
              <a:t>Use 3.14 for pi</a:t>
            </a:r>
          </a:p>
          <a:p>
            <a:pPr lvl="2"/>
            <a:r>
              <a:rPr lang="en-US" dirty="0"/>
              <a:t>area = pi * radius **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1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2F2D8F9-EB09-6887-8954-C2D2FD8AF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95083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Take a Break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4038B997-B770-FDE2-1A90-0BEB003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20DCD318-C40F-65B3-6BDC-ED75EF14B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73508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Python Scripts</a:t>
            </a:r>
          </a:p>
        </p:txBody>
      </p:sp>
    </p:spTree>
    <p:extLst>
      <p:ext uri="{BB962C8B-B14F-4D97-AF65-F5344CB8AC3E}">
        <p14:creationId xmlns:p14="http://schemas.microsoft.com/office/powerpoint/2010/main" val="1623693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Scripting</a:t>
            </a:r>
          </a:p>
        </p:txBody>
      </p:sp>
      <p:sp>
        <p:nvSpPr>
          <p:cNvPr id="344" name="Google Shape;344;p59"/>
          <p:cNvSpPr txBox="1">
            <a:spLocks noGrp="1"/>
          </p:cNvSpPr>
          <p:nvPr>
            <p:ph sz="half" idx="1"/>
          </p:nvPr>
        </p:nvSpPr>
        <p:spPr>
          <a:xfrm>
            <a:off x="411163" y="1200150"/>
            <a:ext cx="460680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python script is a text file</a:t>
            </a:r>
          </a:p>
          <a:p>
            <a:pPr lvl="0"/>
            <a:r>
              <a:rPr lang="en-US" dirty="0"/>
              <a:t>By convention, filename ends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dirty="0"/>
              <a:t>Contains a series of python statements</a:t>
            </a:r>
          </a:p>
          <a:p>
            <a:pPr lvl="0"/>
            <a:r>
              <a:rPr lang="en-US" dirty="0"/>
              <a:t>When executed, runs all statements, in-order</a:t>
            </a:r>
          </a:p>
          <a:p>
            <a:pPr lvl="0"/>
            <a:r>
              <a:rPr lang="en-US" i="1" dirty="0"/>
              <a:t>Statements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i="1" dirty="0"/>
              <a:t>Expressions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b="1" dirty="0"/>
              <a:t>Use print() function to </a:t>
            </a:r>
            <a:r>
              <a:rPr lang="en-US" b="1" i="1" dirty="0"/>
              <a:t>display</a:t>
            </a:r>
            <a:r>
              <a:rPr lang="en-US" b="1" dirty="0"/>
              <a:t> values to the terminal</a:t>
            </a:r>
          </a:p>
          <a:p>
            <a:pPr lvl="0"/>
            <a:r>
              <a:rPr lang="en-US" dirty="0"/>
              <a:t>Run with `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path_to_script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`</a:t>
            </a:r>
          </a:p>
          <a:p>
            <a:pPr lvl="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18E57C-0384-362F-EA9F-6C7DBC455E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17967" y="874725"/>
            <a:ext cx="3219899" cy="180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8A9D-63CA-9077-9671-0E6E90325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6052"/>
            <a:ext cx="9144000" cy="993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09E2E9C3-8B94-8FC3-BE30-36A1C906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>
            <a:extLst>
              <a:ext uri="{FF2B5EF4-FFF2-40B4-BE49-F238E27FC236}">
                <a16:creationId xmlns:a16="http://schemas.microsoft.com/office/drawing/2014/main" id="{15EC4887-AE47-05F5-D89B-9FCFFCB93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E401E-9E1C-3DC0-F4B5-A535B05F2A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89395" y="1200150"/>
            <a:ext cx="4024313" cy="199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11F73-BCA8-6073-9BE6-76F014FF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04" y="3339891"/>
            <a:ext cx="85546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74A0-CF22-1758-0E79-128F68B5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41" y="308611"/>
            <a:ext cx="7498979" cy="685800"/>
          </a:xfrm>
        </p:spPr>
        <p:txBody>
          <a:bodyPr/>
          <a:lstStyle/>
          <a:p>
            <a:r>
              <a:rPr lang="en-US" dirty="0"/>
              <a:t>Interacting With Scripts – Input()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E4C3-7049-892B-4381-901E60F534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input() function waits for the user to type something and hit enter</a:t>
            </a:r>
          </a:p>
          <a:p>
            <a:r>
              <a:rPr lang="en-US" b="1" u="sng" dirty="0"/>
              <a:t>Always gives you a string back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3A6B97-BA1B-02A4-7AAC-474838296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208" y="1200150"/>
            <a:ext cx="4024313" cy="14372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78C26-B49A-27CB-4811-D57B6FEE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0E06-6025-180A-AF09-723C24D1B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AE9CE7-B1F9-651D-0F72-BC41A74D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1" y="3243165"/>
            <a:ext cx="854511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7AE7-59CE-6962-857F-F2884A3D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938AB-F58F-3AD7-A983-4691484C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DF8CA-CA6D-1EF6-8967-F3F09C1BC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FE6B32-8BCD-21BD-6960-49234A338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Write a Python Script that:</a:t>
            </a:r>
          </a:p>
          <a:p>
            <a:pPr lvl="1"/>
            <a:r>
              <a:rPr lang="en-US" sz="1800" dirty="0"/>
              <a:t>Asks the user for their name</a:t>
            </a:r>
          </a:p>
          <a:p>
            <a:pPr lvl="1"/>
            <a:r>
              <a:rPr lang="en-US" sz="1800" dirty="0"/>
              <a:t>Asks the user for their favorite number</a:t>
            </a:r>
          </a:p>
          <a:p>
            <a:pPr lvl="1"/>
            <a:r>
              <a:rPr lang="en-US" sz="1800" dirty="0"/>
              <a:t>Prints “Hello” and then their name</a:t>
            </a:r>
          </a:p>
          <a:p>
            <a:pPr lvl="1"/>
            <a:r>
              <a:rPr lang="en-US" sz="1800" dirty="0"/>
              <a:t>Prints “Your favorite number is” and then their favorite number</a:t>
            </a:r>
          </a:p>
          <a:p>
            <a:pPr lvl="1"/>
            <a:r>
              <a:rPr lang="en-US" sz="1800" dirty="0"/>
              <a:t>Prints “Your favorite number minus 10 is” their favorite number minus 10</a:t>
            </a:r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CF6EC31-5E42-863C-C59E-B60FBACB2A8B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In Class Exercise 3 – SIMPLE INPUT</a:t>
            </a:r>
          </a:p>
        </p:txBody>
      </p:sp>
    </p:spTree>
    <p:extLst>
      <p:ext uri="{BB962C8B-B14F-4D97-AF65-F5344CB8AC3E}">
        <p14:creationId xmlns:p14="http://schemas.microsoft.com/office/powerpoint/2010/main" val="2619531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13E0-3E87-00EB-FAED-C1660C72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7AF59-EA2D-41F4-9542-F2556090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119CF-0F77-60E2-B8F0-81835FEAD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8668B5-9C66-E6D4-D5EA-B52A0AAC5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What datatypes can it accept?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691970B-10BB-3724-A871-F43E1C6BBA17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 THE PRINT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242B1-EC70-BB1C-21A7-77FF11664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396" y="1947775"/>
            <a:ext cx="2600688" cy="1247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D308B4-278C-41B1-7565-C6C0C20A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510" y="1985879"/>
            <a:ext cx="1124107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1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0F46-32C4-D97A-2CDA-CB446227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5710F-3054-E3CB-71DD-AE876996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4C50-A130-65F9-787C-BB8C6524C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A659BD-04EB-5DBE-153D-2B26AD2B9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Can print multiple statements, separated by a comma.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03186685-4D5D-E9C1-362A-E2AACD998E2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 THE PRINT FUNCTION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F3B86D-3DF5-F1CB-FC04-16E075C1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61" y="1609399"/>
            <a:ext cx="3848637" cy="2333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E769B3-5743-59FB-9517-7A2D390AF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81" y="2143065"/>
            <a:ext cx="2324424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1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F426-5200-2081-D734-3DE99C0B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FF51D-47FB-6EB4-FEE9-48B433BD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8367B-8919-C24E-1C21-3A0CAA3724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F9EE95-C8BA-DDA4-8B0B-79B296C21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Very powerful.  Learn to use f strings. (You’re a professional”)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5B1C8CF2-AD2A-8F6B-39B9-4BE56A8AC4E3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F- Strings in python (formatted string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D3A350-C0ED-5577-784C-A1EB02A0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471"/>
          <a:stretch>
            <a:fillRect/>
          </a:stretch>
        </p:blipFill>
        <p:spPr>
          <a:xfrm>
            <a:off x="5821682" y="2463013"/>
            <a:ext cx="2324424" cy="570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DA1CF-4398-2441-0FE6-3E73DE057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19" y="1766419"/>
            <a:ext cx="4096322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0E60F-967B-4F51-FF14-01DB4558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B20DC-141D-0EA6-2DB3-6127BB63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0B37-34CC-2833-B0D1-8033C5D01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60F3D6-2B27-E1E8-7FD6-52332095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Allows you to embed variables and expressions directly inside of your print statements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7CCD6B8A-3147-F5FF-D504-A50D5B50DCB8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830A3-ABE9-B872-F237-7A4DA7D99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7158"/>
            <a:ext cx="9144000" cy="145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E3B8-2AC9-0F56-37B0-F00CA71C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B4C0-C2B6-F740-79BE-D5B5D885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BF1B-C5B0-A2C0-6F8F-0B105888AD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EA95C1-7CF7-F7EC-079D-752391BE9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Allows you to apply formatters to determine how many decimal points to print, and much more!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8AF2C36-CD84-8632-AE86-165029DC9C0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44134-9D2E-74DC-378C-F5603A43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33" y="2074155"/>
            <a:ext cx="3343742" cy="1247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D5689F-9638-128C-5CD1-E045B6760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527" y="2324018"/>
            <a:ext cx="287695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7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FD19721-AF14-E39E-39F8-1859741A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6661F13-C124-9E4E-F33B-EEFC6D4EB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4 – Pizza </a:t>
            </a:r>
            <a:r>
              <a:rPr lang="en-US" dirty="0" err="1"/>
              <a:t>pizza</a:t>
            </a:r>
            <a:endParaRPr lang="en-US" dirty="0"/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175D8326-A8E4-EF4B-93CB-524F95EEE7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Write a script that prompts the user for a diameter of the pizza and outputs the area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Remember to convert from string to another datatype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#1:  write a script that calculates the price per area.  The user should input the diameter and the cost.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#2:  write a script that calculates the best deal.  The user should input three diameters (two for the first deal, one for the second deal), and the two costs.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Solutions available in the lesson folder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45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9C96FF60-8B2A-33AE-6FC8-39DBC6F8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2D5FCA0-A39D-D3A4-6158-5DADB9C42C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RECAP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71AD36F2-6C06-92A2-90E5-F692789F9E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2"/>
            <a:r>
              <a:rPr lang="en-US" dirty="0"/>
              <a:t>What is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are some data types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interactively run the Python Interpreter?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run a python script?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is the order of operations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if expressions have the same precedence in PEMDAS?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get text input from a user?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datatype does the input() function return?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3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</TotalTime>
  <Words>1711</Words>
  <Application>Microsoft Office PowerPoint</Application>
  <PresentationFormat>On-screen Show (16:9)</PresentationFormat>
  <Paragraphs>409</Paragraphs>
  <Slides>36</Slides>
  <Notes>23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 intro to python</vt:lpstr>
      <vt:lpstr>What does kobe Bryant have to do with becoming a software developer?</vt:lpstr>
      <vt:lpstr>My teaching philosophy</vt:lpstr>
      <vt:lpstr> Course Schedule</vt:lpstr>
      <vt:lpstr>What is a Program?</vt:lpstr>
      <vt:lpstr>So what is Python?</vt:lpstr>
      <vt:lpstr>The Interpreter</vt:lpstr>
      <vt:lpstr>Data and datatypes</vt:lpstr>
      <vt:lpstr>Spot the Difference</vt:lpstr>
      <vt:lpstr>Data Type Conversion (Casting)</vt:lpstr>
      <vt:lpstr>Operators</vt:lpstr>
      <vt:lpstr>Operators</vt:lpstr>
      <vt:lpstr>Operators</vt:lpstr>
      <vt:lpstr>Order of Operations</vt:lpstr>
      <vt:lpstr>In Class Exercise 1</vt:lpstr>
      <vt:lpstr>PowerPoint Presentation</vt:lpstr>
      <vt:lpstr>Variables</vt:lpstr>
      <vt:lpstr>Wait a minute…</vt:lpstr>
      <vt:lpstr>Variable Naming Rules</vt:lpstr>
      <vt:lpstr>Variable Naming Rules and Conventions</vt:lpstr>
      <vt:lpstr>Variable Naming Conventions</vt:lpstr>
      <vt:lpstr>In Class Exercise 2</vt:lpstr>
      <vt:lpstr>PowerPoint Presentation</vt:lpstr>
      <vt:lpstr>PowerPoint Presentation</vt:lpstr>
      <vt:lpstr>Scripting</vt:lpstr>
      <vt:lpstr>Another Example</vt:lpstr>
      <vt:lpstr>Interacting With Scripts – Input()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Class Exercise 4 – Pizza pizza</vt:lpstr>
      <vt:lpstr>RECAP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Neville</cp:lastModifiedBy>
  <cp:revision>143</cp:revision>
  <dcterms:modified xsi:type="dcterms:W3CDTF">2026-06-03T21:13:23Z</dcterms:modified>
</cp:coreProperties>
</file>