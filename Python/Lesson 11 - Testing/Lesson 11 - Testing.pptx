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28"/>
  </p:notesMasterIdLst>
  <p:sldIdLst>
    <p:sldId id="321" r:id="rId2"/>
    <p:sldId id="322" r:id="rId3"/>
    <p:sldId id="323" r:id="rId4"/>
    <p:sldId id="324" r:id="rId5"/>
    <p:sldId id="325" r:id="rId6"/>
    <p:sldId id="326" r:id="rId7"/>
    <p:sldId id="328" r:id="rId8"/>
    <p:sldId id="335" r:id="rId9"/>
    <p:sldId id="336" r:id="rId10"/>
    <p:sldId id="327" r:id="rId11"/>
    <p:sldId id="337" r:id="rId12"/>
    <p:sldId id="338" r:id="rId13"/>
    <p:sldId id="339" r:id="rId14"/>
    <p:sldId id="342" r:id="rId15"/>
    <p:sldId id="331" r:id="rId16"/>
    <p:sldId id="341" r:id="rId17"/>
    <p:sldId id="340" r:id="rId18"/>
    <p:sldId id="348" r:id="rId19"/>
    <p:sldId id="333" r:id="rId20"/>
    <p:sldId id="343" r:id="rId21"/>
    <p:sldId id="344" r:id="rId22"/>
    <p:sldId id="345" r:id="rId23"/>
    <p:sldId id="329" r:id="rId24"/>
    <p:sldId id="346" r:id="rId25"/>
    <p:sldId id="347" r:id="rId26"/>
    <p:sldId id="313" r:id="rId2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BDE71D-A5DA-4731-8206-4FC7E790C503}">
  <a:tblStyle styleId="{20BDE71D-A5DA-4731-8206-4FC7E790C503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A323327-17F7-4230-B99A-3A7D3BBB913F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30" autoAdjust="0"/>
    <p:restoredTop sz="76045" autoAdjust="0"/>
  </p:normalViewPr>
  <p:slideViewPr>
    <p:cSldViewPr snapToGrid="0">
      <p:cViewPr varScale="1">
        <p:scale>
          <a:sx n="96" d="100"/>
          <a:sy n="96" d="100"/>
        </p:scale>
        <p:origin x="1219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280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Ensure we don’t break things, ensure new feature works, ensures any edge work (what the customer might try)</a:t>
            </a:r>
          </a:p>
        </p:txBody>
      </p:sp>
    </p:spTree>
    <p:extLst>
      <p:ext uri="{BB962C8B-B14F-4D97-AF65-F5344CB8AC3E}">
        <p14:creationId xmlns:p14="http://schemas.microsoft.com/office/powerpoint/2010/main" val="26742951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Test driven development world, you write test cases first. 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Requirements to fulfill, write test case to ensure requirements are met, then write code until all test pass, then shift the code </a:t>
            </a:r>
          </a:p>
        </p:txBody>
      </p:sp>
    </p:spTree>
    <p:extLst>
      <p:ext uri="{BB962C8B-B14F-4D97-AF65-F5344CB8AC3E}">
        <p14:creationId xmlns:p14="http://schemas.microsoft.com/office/powerpoint/2010/main" val="3920404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Functional “Does the code do what we think it will do”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Unit test – Test one unit (smallest entity of something), usually at function level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Integration test – take a few units and seem if the code works together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End-to-end – see if the whole workflow works properly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Acceptance – put a user Infront of the process to confirm if this meet the requirements</a:t>
            </a:r>
          </a:p>
        </p:txBody>
      </p:sp>
    </p:spTree>
    <p:extLst>
      <p:ext uri="{BB962C8B-B14F-4D97-AF65-F5344CB8AC3E}">
        <p14:creationId xmlns:p14="http://schemas.microsoft.com/office/powerpoint/2010/main" val="3360351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Complete: You have everything needed to complete the test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Independent: Don’t need anything else to run the test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Reproducible: Should always get a pass or fail from the test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844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We don’t only test successes, we must also test failures (as seen above)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836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would you write “given, when, then” for the code on the right?</a:t>
            </a:r>
          </a:p>
          <a:p>
            <a:endParaRPr lang="en-US" dirty="0"/>
          </a:p>
          <a:p>
            <a:endParaRPr lang="en-US" dirty="0"/>
          </a:p>
          <a:p>
            <a:pPr marL="158750" indent="0">
              <a:buNone/>
            </a:pPr>
            <a:r>
              <a:rPr lang="en-US" dirty="0"/>
              <a:t>** We write code to validate our code **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We will use the </a:t>
            </a:r>
            <a:r>
              <a:rPr lang="en-US" dirty="0" err="1"/>
              <a:t>Pytest</a:t>
            </a:r>
            <a:r>
              <a:rPr lang="en-US" dirty="0"/>
              <a:t> feature/function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You can add a message to your assert statement (assert false, “Your code failed, you should stop coding.”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Assert statements only show true and false. 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r>
              <a:rPr lang="en-US" dirty="0"/>
              <a:t>If the assert statements is true, it will continue to run the code. </a:t>
            </a:r>
          </a:p>
        </p:txBody>
      </p:sp>
    </p:spTree>
    <p:extLst>
      <p:ext uri="{BB962C8B-B14F-4D97-AF65-F5344CB8AC3E}">
        <p14:creationId xmlns:p14="http://schemas.microsoft.com/office/powerpoint/2010/main" val="2591244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36 of inventory.py might be "covered" but you need to be careful about the 'or' statement</a:t>
            </a:r>
          </a:p>
        </p:txBody>
      </p:sp>
    </p:spTree>
    <p:extLst>
      <p:ext uri="{BB962C8B-B14F-4D97-AF65-F5344CB8AC3E}">
        <p14:creationId xmlns:p14="http://schemas.microsoft.com/office/powerpoint/2010/main" val="2776245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https://docs.pytest.org/en/7.1.x/how-to/fixtures.html</a:t>
            </a:r>
          </a:p>
        </p:txBody>
      </p:sp>
    </p:spTree>
    <p:extLst>
      <p:ext uri="{BB962C8B-B14F-4D97-AF65-F5344CB8AC3E}">
        <p14:creationId xmlns:p14="http://schemas.microsoft.com/office/powerpoint/2010/main" val="15230258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Fixtures are cached but side effects are not kept</a:t>
            </a:r>
          </a:p>
        </p:txBody>
      </p:sp>
    </p:spTree>
    <p:extLst>
      <p:ext uri="{BB962C8B-B14F-4D97-AF65-F5344CB8AC3E}">
        <p14:creationId xmlns:p14="http://schemas.microsoft.com/office/powerpoint/2010/main" val="75406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fixture is shared and not created multiple times</a:t>
            </a:r>
          </a:p>
        </p:txBody>
      </p:sp>
    </p:spTree>
    <p:extLst>
      <p:ext uri="{BB962C8B-B14F-4D97-AF65-F5344CB8AC3E}">
        <p14:creationId xmlns:p14="http://schemas.microsoft.com/office/powerpoint/2010/main" val="958274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201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5 August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492842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5 August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35668" y="78731"/>
            <a:ext cx="2434590" cy="919356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2838549"/>
            <a:ext cx="2674144" cy="3429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121612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5 August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333424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4972050"/>
            <a:ext cx="617220" cy="17145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5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33828" y="4972050"/>
            <a:ext cx="299408" cy="17145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70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5 August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86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2587752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8124" y="1200150"/>
            <a:ext cx="2587752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44767" y="1200150"/>
            <a:ext cx="2587752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5 August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60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200150"/>
            <a:ext cx="1874519" cy="342900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200150"/>
            <a:ext cx="1874519" cy="342900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200150"/>
            <a:ext cx="1874519" cy="342900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200150"/>
            <a:ext cx="1874519" cy="342900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5 August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15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11480" y="1200150"/>
            <a:ext cx="418338" cy="416624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11481" y="1714498"/>
            <a:ext cx="1874519" cy="2914652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560320" y="1200150"/>
            <a:ext cx="418338" cy="41833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2560321" y="1714498"/>
            <a:ext cx="1874519" cy="2914652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09160" y="1200150"/>
            <a:ext cx="418338" cy="41833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498"/>
            <a:ext cx="1874519" cy="2914652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858000" y="1200150"/>
            <a:ext cx="418338" cy="41833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498"/>
            <a:ext cx="1874519" cy="2914652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5 August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4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5 August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15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5 August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8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5 August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02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5 August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90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5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699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5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8616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308610"/>
            <a:ext cx="8321040" cy="233172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846070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709159" y="2846070"/>
            <a:ext cx="4023360" cy="17830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5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28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4023360" cy="171450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3086100"/>
            <a:ext cx="4023360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3394710"/>
            <a:ext cx="4023360" cy="1234440"/>
          </a:xfrm>
          <a:prstGeom prst="rect">
            <a:avLst/>
          </a:prstGeo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09159" y="1200150"/>
            <a:ext cx="4023360" cy="171450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9159" y="3086100"/>
            <a:ext cx="4023360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709159" y="3394710"/>
            <a:ext cx="4023360" cy="1234440"/>
          </a:xfrm>
          <a:prstGeom prst="rect">
            <a:avLst/>
          </a:prstGeo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5 August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73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2587752" cy="12687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2640330"/>
            <a:ext cx="2587752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2948940"/>
            <a:ext cx="2587752" cy="1680210"/>
          </a:xfrm>
          <a:prstGeom prst="rect">
            <a:avLst/>
          </a:prstGeo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78123" y="1200150"/>
            <a:ext cx="2587752" cy="12687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8123" y="2640330"/>
            <a:ext cx="2587752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278123" y="2948940"/>
            <a:ext cx="2587752" cy="1680210"/>
          </a:xfrm>
          <a:prstGeom prst="rect">
            <a:avLst/>
          </a:prstGeo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4767" y="1200150"/>
            <a:ext cx="2587752" cy="12687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4767" y="2640330"/>
            <a:ext cx="2587752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144767" y="2948940"/>
            <a:ext cx="2587752" cy="1680210"/>
          </a:xfrm>
          <a:prstGeom prst="rect">
            <a:avLst/>
          </a:prstGeo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5 August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98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81" y="1200150"/>
            <a:ext cx="1874519" cy="9258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80" y="2297430"/>
            <a:ext cx="1874519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81" y="2606040"/>
            <a:ext cx="1874519" cy="202311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71604" y="1200150"/>
            <a:ext cx="1874519" cy="9258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604" y="2297430"/>
            <a:ext cx="1874519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2571604" y="2606040"/>
            <a:ext cx="1874519" cy="202311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881" y="1200150"/>
            <a:ext cx="1874519" cy="9258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881" y="2297430"/>
            <a:ext cx="1874519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697881" y="2606040"/>
            <a:ext cx="1874519" cy="202311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58001" y="1200150"/>
            <a:ext cx="1874519" cy="925830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1" y="2297430"/>
            <a:ext cx="1874519" cy="2743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858001" y="2606040"/>
            <a:ext cx="1874519" cy="2023110"/>
          </a:xfrm>
          <a:prstGeom prst="rect">
            <a:avLst/>
          </a:prstGeo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5 August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21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5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988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prstGeom prst="rect">
            <a:avLst/>
          </a:prstGeo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685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5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84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5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06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0"/>
            <a:ext cx="4023995" cy="685800"/>
          </a:xfrm>
        </p:spPr>
        <p:txBody>
          <a:bodyPr anchor="t" anchorCtr="0"/>
          <a:lstStyle>
            <a:lvl1pPr>
              <a:lnSpc>
                <a:spcPct val="90000"/>
              </a:lnSpc>
              <a:defRPr sz="18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200150"/>
            <a:ext cx="5096351" cy="3429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27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5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24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5 August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21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prstGeom prst="rect">
            <a:avLst/>
          </a:prstGeo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5 August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61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5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6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5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060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5 August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82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5 August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33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164" y="3614561"/>
            <a:ext cx="4024312" cy="1028699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900"/>
            </a:lvl1pPr>
            <a:lvl2pPr marL="0" indent="0">
              <a:spcBef>
                <a:spcPts val="0"/>
              </a:spcBef>
              <a:buFontTx/>
              <a:buNone/>
              <a:defRPr sz="900"/>
            </a:lvl2pPr>
            <a:lvl3pPr marL="0" indent="0">
              <a:spcBef>
                <a:spcPts val="0"/>
              </a:spcBef>
              <a:buFontTx/>
              <a:buNone/>
              <a:defRPr sz="900"/>
            </a:lvl3pPr>
            <a:lvl4pPr marL="0" indent="0">
              <a:spcBef>
                <a:spcPts val="0"/>
              </a:spcBef>
              <a:buFontTx/>
              <a:buNone/>
              <a:defRPr sz="900"/>
            </a:lvl4pPr>
            <a:lvl5pPr marL="0" indent="0">
              <a:spcBef>
                <a:spcPts val="0"/>
              </a:spcBef>
              <a:buFontTx/>
              <a:buNone/>
              <a:defRPr sz="900"/>
            </a:lvl5pPr>
            <a:lvl6pPr marL="0" indent="0">
              <a:spcBef>
                <a:spcPts val="0"/>
              </a:spcBef>
              <a:buFontTx/>
              <a:buNone/>
              <a:defRPr sz="900"/>
            </a:lvl6pPr>
            <a:lvl7pPr marL="0" indent="0">
              <a:spcBef>
                <a:spcPts val="0"/>
              </a:spcBef>
              <a:buFontTx/>
              <a:buNone/>
              <a:defRPr sz="900"/>
            </a:lvl7pPr>
            <a:lvl8pPr marL="0" indent="0">
              <a:spcBef>
                <a:spcPts val="0"/>
              </a:spcBef>
              <a:buFontTx/>
              <a:buNone/>
              <a:defRPr sz="900"/>
            </a:lvl8pPr>
            <a:lvl9pPr marL="0" indent="0">
              <a:spcBef>
                <a:spcPts val="0"/>
              </a:spcBef>
              <a:buFontTx/>
              <a:buNone/>
              <a:defRPr sz="9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5 August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3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120265" y="1645920"/>
            <a:ext cx="4903470" cy="18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33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8810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44069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913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rcRect l="26274" t="67"/>
          <a:stretch>
            <a:fillRect/>
          </a:stretch>
        </p:blipFill>
        <p:spPr>
          <a:xfrm>
            <a:off x="7821386" y="308611"/>
            <a:ext cx="911133" cy="3582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0766" y="4972050"/>
            <a:ext cx="617934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525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5 August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525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7444515" y="318065"/>
            <a:ext cx="376871" cy="35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36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  <p:sldLayoutId id="2147483706" r:id="rId33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750"/>
        </a:spcBef>
        <a:buFont typeface="Arial" panose="020B060402020202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18BF6-7256-D98B-7740-649A9252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D5E67-FC4D-161B-B022-1B8B9941A996}"/>
              </a:ext>
            </a:extLst>
          </p:cNvPr>
          <p:cNvSpPr>
            <a:spLocks noGrp="1"/>
          </p:cNvSpPr>
          <p:nvPr>
            <p:ph type="dt" sz="half" idx="49"/>
          </p:nvPr>
        </p:nvSpPr>
        <p:spPr>
          <a:xfrm>
            <a:off x="410766" y="4972050"/>
            <a:ext cx="617934" cy="1714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E833E-D031-89D4-CFDE-3B077A1FA52F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8408037" y="4972050"/>
            <a:ext cx="331501" cy="171450"/>
          </a:xfrm>
        </p:spPr>
        <p:txBody>
          <a:bodyPr/>
          <a:lstStyle/>
          <a:p>
            <a:pPr lvl="0"/>
            <a:fld id="{00000000-1234-1234-1234-123412341234}" type="slidenum">
              <a:rPr lang="en" smtClean="0"/>
              <a:pPr lvl="0"/>
              <a:t>1</a:t>
            </a:fld>
            <a:endParaRPr lang="en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4DC84C6-922D-BCD5-4D80-22CE18AC2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ECA9802-9526-6047-E0A5-41674D69689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69C1CB3-F740-9472-408E-FD84B97E34F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4C5CBE8-F17A-D9A8-AB16-66AFCCE497F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9D7A4E7-BAFD-762A-0E63-4AF1CC2956C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35FE14A-A815-D8EF-8489-B1F143A62CD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43EEE1A-DCDD-F396-6706-9734DF7B5E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BF6CCFC-7DFD-1B10-C8B8-26BFEA5077F5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835129B-00FD-424E-E61B-F9AA01CCA6FA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03A4F49-DA9D-48F0-E806-6737673914F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FB89A0-87A1-ECCF-3E5D-24779C2B3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52115"/>
            <a:ext cx="4822031" cy="994410"/>
          </a:xfrm>
        </p:spPr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D9642238-1C9A-5953-F216-1C626B9BAF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D4AB0C5-5108-4D9D-92D1-D30261CE7F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3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F7FE559F-A69D-96FE-0A04-8C56F7122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6A4A98C9-C1DD-89E2-DDF3-993183F4A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Discuss the importance of a complete test suite</a:t>
            </a:r>
          </a:p>
          <a:p>
            <a:r>
              <a:rPr lang="en-US" sz="2000" dirty="0"/>
              <a:t>Define the differences between unit, integration, and end-to-end testing</a:t>
            </a:r>
          </a:p>
          <a:p>
            <a:r>
              <a:rPr lang="en-US" sz="2000" dirty="0"/>
              <a:t>Create unit tests to achieve a specified code coverage level</a:t>
            </a:r>
          </a:p>
          <a:p>
            <a:r>
              <a:rPr lang="en-US" sz="2000" dirty="0"/>
              <a:t>Utilize fixtures and mocks to implement unit tests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0CC1BA-8184-F399-52E1-DF0559D2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5 August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816D77-84D3-8FA3-891B-71DA76C5AC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44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7F92D-E4C3-FA11-7EC2-01846332C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EB188-7270-1524-3E8B-318661C1B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Why is testing important?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DE6ED-64A6-5458-DB9D-0F6C8FF5F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5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A1EC50-0401-63AD-7ED6-A349F8DC8B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69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8F05B-CD75-98E1-A2FA-575C547E9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Driven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11CD7-A0B0-4C95-2BF1-0C5D7C991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Different mindset of software development</a:t>
            </a:r>
          </a:p>
          <a:p>
            <a:r>
              <a:rPr lang="en-US" sz="2000" dirty="0"/>
              <a:t>Requirements </a:t>
            </a:r>
            <a:r>
              <a:rPr lang="en-US" sz="2000" dirty="0">
                <a:sym typeface="Wingdings" panose="05000000000000000000" pitchFamily="2" charset="2"/>
              </a:rPr>
              <a:t> tests  code</a:t>
            </a:r>
          </a:p>
          <a:p>
            <a:endParaRPr lang="en-US" sz="2000" dirty="0"/>
          </a:p>
          <a:p>
            <a:r>
              <a:rPr lang="en-US" sz="2000" dirty="0"/>
              <a:t>Typically done in red-green-refactor phases</a:t>
            </a:r>
          </a:p>
          <a:p>
            <a:pPr lvl="1"/>
            <a:r>
              <a:rPr lang="en-US" sz="2000" dirty="0"/>
              <a:t>Write a failing test</a:t>
            </a:r>
          </a:p>
          <a:p>
            <a:pPr lvl="1"/>
            <a:r>
              <a:rPr lang="en-US" sz="2000" dirty="0"/>
              <a:t>Write code until the test passes</a:t>
            </a:r>
          </a:p>
          <a:p>
            <a:pPr lvl="1"/>
            <a:r>
              <a:rPr lang="en-US" sz="2000" dirty="0"/>
              <a:t>Refactor the code to cleanup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FCA61-666D-3AD7-C994-D81AABA4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5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AC2A-742E-2C9D-35B8-27BA587AD9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026" name="Picture 2" descr="SAP ABAP Central: Embracing ABAP TDD as a standard development practice">
            <a:extLst>
              <a:ext uri="{FF2B5EF4-FFF2-40B4-BE49-F238E27FC236}">
                <a16:creationId xmlns:a16="http://schemas.microsoft.com/office/drawing/2014/main" id="{2CACE41C-B794-80D5-6A13-59ECBB555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0237" y="1106724"/>
            <a:ext cx="3575033" cy="3190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125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33D3B0C-739C-850B-E8B0-88D0AE797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FAC32-266B-12C8-C1B8-88A1DCC5C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r>
              <a:rPr lang="en-US" sz="2000" dirty="0"/>
              <a:t>Functional</a:t>
            </a:r>
          </a:p>
          <a:p>
            <a:pPr lvl="1"/>
            <a:r>
              <a:rPr lang="en-US" sz="2000" dirty="0"/>
              <a:t>Unit tests</a:t>
            </a:r>
          </a:p>
          <a:p>
            <a:pPr lvl="1"/>
            <a:r>
              <a:rPr lang="en-US" sz="2000" dirty="0"/>
              <a:t>Integration tests</a:t>
            </a:r>
          </a:p>
          <a:p>
            <a:pPr lvl="1"/>
            <a:r>
              <a:rPr lang="en-US" sz="2000" dirty="0"/>
              <a:t>End-to-end tests</a:t>
            </a:r>
          </a:p>
          <a:p>
            <a:pPr lvl="1"/>
            <a:r>
              <a:rPr lang="en-US" sz="2000" dirty="0"/>
              <a:t>Acceptance</a:t>
            </a:r>
          </a:p>
          <a:p>
            <a:endParaRPr lang="en-US" sz="20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78E69E-B881-745F-F366-5FDC88F33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</p:spPr>
        <p:txBody>
          <a:bodyPr/>
          <a:lstStyle/>
          <a:p>
            <a:r>
              <a:rPr lang="en-US" sz="2000" dirty="0"/>
              <a:t>Non-functional</a:t>
            </a:r>
          </a:p>
          <a:p>
            <a:pPr lvl="1"/>
            <a:r>
              <a:rPr lang="en-US" sz="2000" dirty="0"/>
              <a:t>Security</a:t>
            </a:r>
          </a:p>
          <a:p>
            <a:pPr lvl="1"/>
            <a:r>
              <a:rPr lang="en-US" sz="2000" dirty="0"/>
              <a:t>Performance</a:t>
            </a:r>
          </a:p>
          <a:p>
            <a:pPr lvl="1"/>
            <a:r>
              <a:rPr lang="en-US" sz="2000" dirty="0"/>
              <a:t>Usability</a:t>
            </a:r>
          </a:p>
          <a:p>
            <a:pPr lvl="1"/>
            <a:r>
              <a:rPr lang="en-US" sz="2000" dirty="0"/>
              <a:t>Compatibility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8F94D-9A8F-273C-9ED2-DF7F0C2DC6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0766" y="4972050"/>
            <a:ext cx="617934" cy="171450"/>
          </a:xfrm>
        </p:spPr>
        <p:txBody>
          <a:bodyPr/>
          <a:lstStyle/>
          <a:p>
            <a:fld id="{AD622D1A-DF83-41A8-85FF-04D90BF831D3}" type="datetime3">
              <a:rPr lang="en-US" smtClean="0"/>
              <a:pPr/>
              <a:t>5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F0DA4-BCF7-EF1E-9AA7-BAE9CA7D8D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08037" y="4972050"/>
            <a:ext cx="331501" cy="171450"/>
          </a:xfrm>
        </p:spPr>
        <p:txBody>
          <a:bodyPr/>
          <a:lstStyle/>
          <a:p>
            <a:fld id="{64E5BE4B-2FBF-4174-9E62-85FAD1CB43A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124742-28FC-35BF-F5BC-7DFC4FDD4445}"/>
              </a:ext>
            </a:extLst>
          </p:cNvPr>
          <p:cNvSpPr/>
          <p:nvPr/>
        </p:nvSpPr>
        <p:spPr>
          <a:xfrm>
            <a:off x="323193" y="1478943"/>
            <a:ext cx="2727435" cy="759760"/>
          </a:xfrm>
          <a:prstGeom prst="rect">
            <a:avLst/>
          </a:prstGeom>
          <a:noFill/>
          <a:ln w="38100">
            <a:solidFill>
              <a:srgbClr val="FF000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22315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3D95709F-23DC-CE6B-8806-0F735FC54F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Tests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F397191A-FBCA-40CC-963B-8A860C4B70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8DB2F-43A0-D1EE-D9B5-CDDC2B97D83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5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CDB3DA-67B5-771E-F568-EE6675ECE3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285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DA5C1-36C5-E915-CBC5-7D7CD1A71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7C36C-120B-87F4-5D71-A794B5232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your house stable if the lumber is rotted?</a:t>
            </a:r>
          </a:p>
          <a:p>
            <a:endParaRPr lang="en-US" dirty="0"/>
          </a:p>
          <a:p>
            <a:r>
              <a:rPr lang="en-US" dirty="0"/>
              <a:t>Smallest piece of testable code : unit</a:t>
            </a:r>
          </a:p>
          <a:p>
            <a:endParaRPr lang="en-US" dirty="0"/>
          </a:p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Helps ensure correctness</a:t>
            </a:r>
          </a:p>
          <a:p>
            <a:pPr lvl="1"/>
            <a:r>
              <a:rPr lang="en-US" dirty="0"/>
              <a:t>Catch problems early</a:t>
            </a:r>
          </a:p>
          <a:p>
            <a:pPr lvl="1"/>
            <a:r>
              <a:rPr lang="en-US" dirty="0"/>
              <a:t>Fast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BF75E-9FB6-943E-41DF-666C5C591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5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1C542-534E-2D44-400B-38F340C7F6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50" name="Picture 2" descr="How Long Does It Take For Wood To Rot From Water? | Mr. Happy House">
            <a:extLst>
              <a:ext uri="{FF2B5EF4-FFF2-40B4-BE49-F238E27FC236}">
                <a16:creationId xmlns:a16="http://schemas.microsoft.com/office/drawing/2014/main" id="{7466663E-251C-47AF-5AFF-DEF9015F65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96" r="8171"/>
          <a:stretch>
            <a:fillRect/>
          </a:stretch>
        </p:blipFill>
        <p:spPr bwMode="auto">
          <a:xfrm>
            <a:off x="5066250" y="994411"/>
            <a:ext cx="3777832" cy="3491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952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6B0CD-E74D-BE1E-414C-3CD3EF0BD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/ </a:t>
            </a:r>
            <a:r>
              <a:rPr lang="en-US" dirty="0" err="1"/>
              <a:t>Reqts</a:t>
            </a:r>
            <a:r>
              <a:rPr lang="en-US" dirty="0"/>
              <a:t>.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DA605-4A2B-6CAF-CFDB-7A668CF84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– When – Then</a:t>
            </a:r>
          </a:p>
          <a:p>
            <a:pPr lvl="1"/>
            <a:r>
              <a:rPr lang="en-US" dirty="0"/>
              <a:t>Given:  The initial conditions / prerequisites</a:t>
            </a:r>
          </a:p>
          <a:p>
            <a:pPr lvl="1"/>
            <a:r>
              <a:rPr lang="en-US" dirty="0"/>
              <a:t>When:  The action or event to be verified</a:t>
            </a:r>
          </a:p>
          <a:p>
            <a:pPr lvl="1"/>
            <a:r>
              <a:rPr lang="en-US" dirty="0"/>
              <a:t>Then:  The outcomes of the action or event</a:t>
            </a:r>
          </a:p>
          <a:p>
            <a:pPr lvl="1"/>
            <a:endParaRPr lang="en-US" dirty="0"/>
          </a:p>
          <a:p>
            <a:r>
              <a:rPr lang="en-US" dirty="0"/>
              <a:t>Useful for formulating unit tests based on requirements</a:t>
            </a:r>
          </a:p>
          <a:p>
            <a:r>
              <a:rPr lang="en-US" dirty="0"/>
              <a:t>Used to communicate with non-technical stakeholders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Tests should be complete, independent, reproducible, and small!!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84E67-D772-02EE-2CB1-D80A2922B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5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A20B5-183D-3DB8-5673-BF11A0ADE8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77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B9D93-4180-EF54-50FF-00DB19422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CD1D4-5C92-E15E-754F-BC4FD4C79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5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91E27D-B0B5-62F1-862A-8674824611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098" name="Picture 2" descr="Agile Glossary: Agile acronyms and terms explained">
            <a:extLst>
              <a:ext uri="{FF2B5EF4-FFF2-40B4-BE49-F238E27FC236}">
                <a16:creationId xmlns:a16="http://schemas.microsoft.com/office/drawing/2014/main" id="{98A883D0-A54F-C3ED-9369-C3576E6897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764" y="170512"/>
            <a:ext cx="8321040" cy="480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9992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3C4A051-5CF9-F03C-F6A8-EEDF3A086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in Python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FE6471E-885A-C4EC-98B7-2EEF5A6263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Pytest</a:t>
            </a:r>
            <a:r>
              <a:rPr lang="en-US" dirty="0"/>
              <a:t> / </a:t>
            </a:r>
            <a:r>
              <a:rPr lang="en-US" dirty="0" err="1"/>
              <a:t>unittest</a:t>
            </a:r>
            <a:r>
              <a:rPr lang="en-US" dirty="0"/>
              <a:t> / </a:t>
            </a:r>
            <a:r>
              <a:rPr lang="en-US" dirty="0" err="1"/>
              <a:t>doctest</a:t>
            </a:r>
            <a:endParaRPr lang="en-US" dirty="0"/>
          </a:p>
          <a:p>
            <a:r>
              <a:rPr lang="en-US" dirty="0"/>
              <a:t>Each has their own pros/cons</a:t>
            </a:r>
          </a:p>
          <a:p>
            <a:r>
              <a:rPr lang="en-US" dirty="0"/>
              <a:t>Assert statement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D1876-1A94-405C-2DB3-D9A7BF857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283A2-D3FE-3766-A6CD-A4F0CC2B4B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C16F60-E62F-E722-A549-EB4588C17CB8}"/>
              </a:ext>
            </a:extLst>
          </p:cNvPr>
          <p:cNvSpPr txBox="1"/>
          <p:nvPr/>
        </p:nvSpPr>
        <p:spPr>
          <a:xfrm>
            <a:off x="4298950" y="827854"/>
            <a:ext cx="4572000" cy="2966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test_add_negative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383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3651-07F6-DB6F-A98E-EFB6F1D87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72E27-18DF-F8AB-1548-D158CE0BBD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separate package / command</a:t>
            </a:r>
          </a:p>
          <a:p>
            <a:r>
              <a:rPr lang="en-US" dirty="0"/>
              <a:t>Generally auto-discovers tests</a:t>
            </a:r>
          </a:p>
          <a:p>
            <a:r>
              <a:rPr lang="en-US" dirty="0"/>
              <a:t>Can also give specific files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pytest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pytest-cov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C1246-14A2-519B-9F55-69EC95F50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5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38D10-9EA1-24C6-4C63-94CE5D5CBB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322EB9-9C92-8A02-6C6E-CF471D491576}"/>
              </a:ext>
            </a:extLst>
          </p:cNvPr>
          <p:cNvSpPr txBox="1"/>
          <p:nvPr/>
        </p:nvSpPr>
        <p:spPr>
          <a:xfrm>
            <a:off x="4298950" y="827854"/>
            <a:ext cx="4572000" cy="2966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test_add_negative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CC907C-09AF-C73A-EF05-EE3567B8A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3" y="3627494"/>
            <a:ext cx="9144000" cy="14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227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07264-3561-01DF-CFB2-F05689F72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Pytest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BB724-6DB6-4EF5-D90E-C137CF0371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Temperature conversion</a:t>
            </a:r>
          </a:p>
          <a:p>
            <a:r>
              <a:rPr lang="en-US" dirty="0"/>
              <a:t>Scenario 1</a:t>
            </a:r>
          </a:p>
          <a:p>
            <a:pPr lvl="1"/>
            <a:r>
              <a:rPr lang="en-US" dirty="0"/>
              <a:t>Given a temperature of 0C</a:t>
            </a:r>
          </a:p>
          <a:p>
            <a:pPr lvl="1"/>
            <a:r>
              <a:rPr lang="en-US" dirty="0"/>
              <a:t>When I convert to F</a:t>
            </a:r>
          </a:p>
          <a:p>
            <a:pPr lvl="1"/>
            <a:r>
              <a:rPr lang="en-US" dirty="0"/>
              <a:t>Then I should get 32F</a:t>
            </a:r>
          </a:p>
          <a:p>
            <a:r>
              <a:rPr lang="en-US" dirty="0"/>
              <a:t>Scenario 2</a:t>
            </a:r>
          </a:p>
          <a:p>
            <a:pPr lvl="1"/>
            <a:r>
              <a:rPr lang="en-US" dirty="0"/>
              <a:t>Given a temperature of 100C</a:t>
            </a:r>
          </a:p>
          <a:p>
            <a:pPr lvl="1"/>
            <a:r>
              <a:rPr lang="en-US" dirty="0"/>
              <a:t>When I convert to F</a:t>
            </a:r>
          </a:p>
          <a:p>
            <a:pPr lvl="1"/>
            <a:r>
              <a:rPr lang="en-US" dirty="0"/>
              <a:t>Then I should get 212F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C7BCA-AE9D-B545-6AFE-970F098650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Scenario 3</a:t>
            </a:r>
          </a:p>
          <a:p>
            <a:pPr lvl="1"/>
            <a:r>
              <a:rPr lang="en-US" dirty="0"/>
              <a:t>Given a temperature of -40C</a:t>
            </a:r>
          </a:p>
          <a:p>
            <a:pPr lvl="1"/>
            <a:r>
              <a:rPr lang="en-US" dirty="0"/>
              <a:t>When I convert to F</a:t>
            </a:r>
          </a:p>
          <a:p>
            <a:pPr lvl="1"/>
            <a:r>
              <a:rPr lang="en-US" dirty="0"/>
              <a:t>Then I should get -40F</a:t>
            </a:r>
          </a:p>
          <a:p>
            <a:r>
              <a:rPr lang="en-US" dirty="0"/>
              <a:t>Scenario 4</a:t>
            </a:r>
          </a:p>
          <a:p>
            <a:pPr lvl="1"/>
            <a:r>
              <a:rPr lang="en-US" dirty="0"/>
              <a:t>Given a temperature of -300C</a:t>
            </a:r>
          </a:p>
          <a:p>
            <a:pPr lvl="1"/>
            <a:r>
              <a:rPr lang="en-US" dirty="0"/>
              <a:t>When I convert to F</a:t>
            </a:r>
          </a:p>
          <a:p>
            <a:pPr lvl="1"/>
            <a:r>
              <a:rPr lang="en-US" dirty="0"/>
              <a:t>Then I should get an error!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9210C-E383-2C70-69E9-8F3B29E30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5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D9A9C-2C9B-C770-ED0C-27DDC13889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23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9193DEF-0125-C556-C5DB-76B7643409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Hands-On #1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5AB1948-77A9-A7D2-7B16-3ED4D8D81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4434AD-5E2E-0FAD-91BD-BC1E28DBCF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5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0D50F-1517-9E8D-2D77-FBE74D1982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12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45B60-B1FC-1506-689D-7DD83D203E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Other Testing Ideas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4F8CC1-46D5-FCBF-6034-9F91BA4A2E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33342-5FB8-2795-34ED-1344FFF14F6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F829A-691A-9257-36A0-7F2B973054C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8CD09-B708-C8FB-296A-F234E37A1C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73682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EF007-C706-BB88-CA9D-5A0EA65F4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2369A-5286-95C3-F1B1-37C71A720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flow statements create branches</a:t>
            </a:r>
          </a:p>
          <a:p>
            <a:r>
              <a:rPr lang="en-US" dirty="0"/>
              <a:t>Are we covering every path?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 much coverage is appropriate?</a:t>
            </a:r>
          </a:p>
          <a:p>
            <a:r>
              <a:rPr lang="en-US" dirty="0"/>
              <a:t>Generally ~80%, domain dependent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96368-EE73-EDD4-A570-E1B8AEC1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5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FEC8BB-A300-E137-E2BE-5D5200542B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5" descr="What Is Statement Coverage And Branch Coverage In Software Testing at ...">
            <a:extLst>
              <a:ext uri="{FF2B5EF4-FFF2-40B4-BE49-F238E27FC236}">
                <a16:creationId xmlns:a16="http://schemas.microsoft.com/office/drawing/2014/main" id="{03056A6A-6572-3F99-4899-EE9D05508D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450"/>
          <a:stretch>
            <a:fillRect/>
          </a:stretch>
        </p:blipFill>
        <p:spPr>
          <a:xfrm>
            <a:off x="4875054" y="822294"/>
            <a:ext cx="4083932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461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A327-E0F2-27C7-00A9-4C62F0E32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Example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15EBD69-E5F4-0337-03B7-1432402A40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60949" y="994411"/>
            <a:ext cx="3627890" cy="202262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208E6-5131-B36E-0FBC-26BEEA0B8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5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6B6D3-6F8D-0CE5-ECBB-04D8DDF141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AA7033-21A9-9E57-A2BD-B6A206D7AF02}"/>
              </a:ext>
            </a:extLst>
          </p:cNvPr>
          <p:cNvSpPr txBox="1"/>
          <p:nvPr/>
        </p:nvSpPr>
        <p:spPr>
          <a:xfrm>
            <a:off x="410766" y="1200150"/>
            <a:ext cx="4572000" cy="206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absolute_value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test_absolute_value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absolute_value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051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0144F-FE59-741D-2921-2ACD8FAC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30220-1517-79DB-8E21-5278B36E44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4724" y="1200150"/>
            <a:ext cx="4023360" cy="3429000"/>
          </a:xfrm>
        </p:spPr>
        <p:txBody>
          <a:bodyPr/>
          <a:lstStyle/>
          <a:p>
            <a:r>
              <a:rPr lang="en-US" dirty="0"/>
              <a:t>Inventory class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pytest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=inventory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-report=term-missing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-report=html</a:t>
            </a:r>
          </a:p>
          <a:p>
            <a:endParaRPr lang="en-US" dirty="0"/>
          </a:p>
          <a:p>
            <a:r>
              <a:rPr lang="en-US" dirty="0"/>
              <a:t>What could be hiding in this coverage?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BF319-FBAB-5B5C-4508-1FF0F4B4E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5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D9745-8E55-185D-FB29-9D59A6D091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3E85E4D-C78A-18C2-27EF-CA428657E9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319735" y="1151232"/>
            <a:ext cx="4779110" cy="299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643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26F4B-5E83-4B47-84D7-63BA29904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DE70-BA89-716C-844C-AB55D23AB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3F2B29-BC29-AA1C-BCA4-1AE67354D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5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545E6-0F79-B165-7A38-03D716C918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49C0A6-2CF5-927D-4E8F-6BC0AE1DDEB0}"/>
              </a:ext>
            </a:extLst>
          </p:cNvPr>
          <p:cNvSpPr txBox="1"/>
          <p:nvPr/>
        </p:nvSpPr>
        <p:spPr>
          <a:xfrm>
            <a:off x="2883560" y="1423223"/>
            <a:ext cx="4572000" cy="1709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test_sin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==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E2CABD-4DD2-387E-194D-440EB61303E6}"/>
              </a:ext>
            </a:extLst>
          </p:cNvPr>
          <p:cNvSpPr txBox="1"/>
          <p:nvPr/>
        </p:nvSpPr>
        <p:spPr>
          <a:xfrm>
            <a:off x="1706939" y="3403107"/>
            <a:ext cx="57301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Tests should be complete, independent, reproducible, and small!!</a:t>
            </a:r>
          </a:p>
        </p:txBody>
      </p:sp>
    </p:spTree>
    <p:extLst>
      <p:ext uri="{BB962C8B-B14F-4D97-AF65-F5344CB8AC3E}">
        <p14:creationId xmlns:p14="http://schemas.microsoft.com/office/powerpoint/2010/main" val="2086239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E7449-8A14-8E4E-1773-68687CF07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FD7A7-318A-9FEF-28C1-5F14AE540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Case 1:</a:t>
            </a:r>
          </a:p>
          <a:p>
            <a:pPr lvl="1"/>
            <a:r>
              <a:rPr lang="en-US" dirty="0"/>
              <a:t>Consistent config / setup</a:t>
            </a:r>
          </a:p>
          <a:p>
            <a:pPr lvl="1"/>
            <a:r>
              <a:rPr lang="en-US" dirty="0"/>
              <a:t>Consistent parameters</a:t>
            </a:r>
          </a:p>
          <a:p>
            <a:r>
              <a:rPr lang="en-US" dirty="0"/>
              <a:t>Case 2:</a:t>
            </a:r>
          </a:p>
          <a:p>
            <a:pPr lvl="1"/>
            <a:r>
              <a:rPr lang="en-US" dirty="0"/>
              <a:t>Input data generally stays the same</a:t>
            </a:r>
          </a:p>
          <a:p>
            <a:pPr lvl="1"/>
            <a:r>
              <a:rPr lang="en-US" dirty="0"/>
              <a:t>Multiple functions might need the same inputs</a:t>
            </a:r>
          </a:p>
          <a:p>
            <a:pPr lvl="1"/>
            <a:r>
              <a:rPr lang="en-US" dirty="0"/>
              <a:t>Have to write the same input data for each test?</a:t>
            </a:r>
          </a:p>
          <a:p>
            <a:r>
              <a:rPr lang="en-US" dirty="0"/>
              <a:t>Case 3:</a:t>
            </a:r>
          </a:p>
          <a:p>
            <a:pPr lvl="1"/>
            <a:r>
              <a:rPr lang="en-US" dirty="0"/>
              <a:t>Specific objects might take a while to instantiate</a:t>
            </a:r>
          </a:p>
          <a:p>
            <a:pPr lvl="1"/>
            <a:r>
              <a:rPr lang="en-US" dirty="0"/>
              <a:t>We want our tests to be fast</a:t>
            </a:r>
          </a:p>
          <a:p>
            <a:pPr lvl="1"/>
            <a:r>
              <a:rPr lang="en-US" dirty="0"/>
              <a:t>Preload those objects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5FC9A-DC16-0D9D-1583-AC865242E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5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08E3C8-C147-89EA-F9F4-7977B79D86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408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E8921-BD4D-5B6E-2FBA-F2836DE0B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Fixtures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762C841-FABF-D46F-FC8F-616B8BE6BE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27365" y="1052454"/>
            <a:ext cx="7115988" cy="335848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531EB-F71B-5C5F-1F1F-F121CA1CD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5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A70CB1-4188-AD39-4290-CCF8E0598A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033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DDD1B-F3B0-F59F-345F-5D1C7D0E0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Fixtures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B2174EE-2812-2F22-76C8-97935FAF62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29373" y="79031"/>
            <a:ext cx="6014627" cy="498543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BFB7D-B32A-FBF3-D5F5-F1CD4FC1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5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8089C0-371A-E4C3-77BB-56B809D2E5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3589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7FFEF-2D47-84E3-5D79-E149C8FAB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Fixtures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BD7C6-0C9A-08C8-D1BA-911281F6A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5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5C8B6B-CA8E-CB24-2673-8ADE45EA25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7D20357-922E-650B-37D3-399955890E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95520" y="171559"/>
            <a:ext cx="4991441" cy="480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209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0BFE8-BEA7-3940-667B-3FF6A7BCD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Mocking </a:t>
            </a:r>
            <a:r>
              <a:rPr lang="en-US"/>
              <a:t>External References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B9305-2CBA-FCFF-86FC-1A2D6F2DC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5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4ECD0-6721-C76E-C7B4-37CC4871FA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99213A-75CF-F98A-E60B-E51AD918363A}"/>
              </a:ext>
            </a:extLst>
          </p:cNvPr>
          <p:cNvSpPr txBox="1"/>
          <p:nvPr/>
        </p:nvSpPr>
        <p:spPr>
          <a:xfrm>
            <a:off x="719732" y="1336317"/>
            <a:ext cx="7704536" cy="2171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spcAft>
                <a:spcPts val="115"/>
              </a:spcAft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requests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115"/>
              </a:spcAft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115"/>
              </a:spcAft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get_user_name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user_id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spcAft>
                <a:spcPts val="115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"""Fetch a user's name from an API."""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115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requests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"https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://api.example.com/users/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user_id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spcAft>
                <a:spcPts val="115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status_code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spcAft>
                <a:spcPts val="115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().get(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spcAft>
                <a:spcPts val="115"/>
              </a:spcAft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3822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A065D-43EB-5C9E-6C77-5DE8A5399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43A9F-4B4E-95F8-EEB1-E8C38E2EE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36716"/>
            <a:ext cx="6173470" cy="685800"/>
          </a:xfrm>
        </p:spPr>
        <p:txBody>
          <a:bodyPr/>
          <a:lstStyle/>
          <a:p>
            <a:r>
              <a:rPr lang="en-US" dirty="0"/>
              <a:t>Mocking External 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4005A-829B-83A4-FF01-9C589FCB3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5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8DB06A-57DF-70DE-DB16-44D75ADAB5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08AC6B-9053-105C-9BBA-D292A8B9CC69}"/>
              </a:ext>
            </a:extLst>
          </p:cNvPr>
          <p:cNvSpPr txBox="1"/>
          <p:nvPr/>
        </p:nvSpPr>
        <p:spPr>
          <a:xfrm>
            <a:off x="720090" y="679616"/>
            <a:ext cx="9867568" cy="4222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pytest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get_user_name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test_get_user_name_success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mocker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"""Test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get_user_name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with a mocked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requests.get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"""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Create a mock response object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mock_response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mocker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mock_response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.status_code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mock_response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.json.return_value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Patch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requests.get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to return our mock response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mocker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.patch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app.requests.get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return_value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mock_response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Call the function under test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get_user_name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Assertions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"Alice"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app_requests_get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mocker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.patch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app.requests.get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app_requests_get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.assert_called_once_with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"https://api.example.com/users/123"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5857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C3137-EE76-F4BD-9363-EE66EBBB6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475912A-B09E-D7AA-BF2E-B85E1D93DE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Hands-On #2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38F5AAB-5F11-E345-0D62-9631ED1D55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267A7-C484-C83E-8B82-9CF82CE72D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5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D7289-0998-CE75-D9FB-F16435D97F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113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BB461378-5E4E-EAA7-2DA6-FF06B0491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010153"/>
            <a:ext cx="6858000" cy="1241822"/>
          </a:xfrm>
        </p:spPr>
        <p:txBody>
          <a:bodyPr>
            <a:normAutofit/>
          </a:bodyPr>
          <a:lstStyle/>
          <a:p>
            <a:r>
              <a:rPr lang="en-US" sz="4000" dirty="0"/>
              <a:t>Questions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127C-DDD5-C7BF-D5E8-90D39B1EDE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5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2DB0D-94F5-49EC-EC7E-FF3574D6EE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93329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815</TotalTime>
  <Words>1283</Words>
  <Application>Microsoft Office PowerPoint</Application>
  <PresentationFormat>On-screen Show (16:9)</PresentationFormat>
  <Paragraphs>262</Paragraphs>
  <Slides>26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Arial Bold</vt:lpstr>
      <vt:lpstr>Consolas</vt:lpstr>
      <vt:lpstr>Courier New</vt:lpstr>
      <vt:lpstr>Play</vt:lpstr>
      <vt:lpstr>Wingdings</vt:lpstr>
      <vt:lpstr>US Army 2023 AFC DEVCOM Logo</vt:lpstr>
      <vt:lpstr>Testing</vt:lpstr>
      <vt:lpstr>Lesson Objectives</vt:lpstr>
      <vt:lpstr>Why Test?</vt:lpstr>
      <vt:lpstr>Test Driven Development</vt:lpstr>
      <vt:lpstr>Testing Types</vt:lpstr>
      <vt:lpstr>Unit Tests</vt:lpstr>
      <vt:lpstr>Unit Testing</vt:lpstr>
      <vt:lpstr>Unit Testing / Reqts. Framework</vt:lpstr>
      <vt:lpstr>PowerPoint Presentation</vt:lpstr>
      <vt:lpstr>Testing in Python</vt:lpstr>
      <vt:lpstr>PyTest</vt:lpstr>
      <vt:lpstr>Pytest Example</vt:lpstr>
      <vt:lpstr>Hands-On #1</vt:lpstr>
      <vt:lpstr>Other Testing Ideas</vt:lpstr>
      <vt:lpstr>Completeness</vt:lpstr>
      <vt:lpstr>Small Example</vt:lpstr>
      <vt:lpstr>Larger Example</vt:lpstr>
      <vt:lpstr>Another Example</vt:lpstr>
      <vt:lpstr>DRY</vt:lpstr>
      <vt:lpstr>Fixtures</vt:lpstr>
      <vt:lpstr>Fixtures</vt:lpstr>
      <vt:lpstr>Fixtures</vt:lpstr>
      <vt:lpstr>Mocking External References</vt:lpstr>
      <vt:lpstr>Mocking External References</vt:lpstr>
      <vt:lpstr>Hands-On #2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Robert Haenze</cp:lastModifiedBy>
  <cp:revision>268</cp:revision>
  <dcterms:modified xsi:type="dcterms:W3CDTF">2026-08-05T19:07:42Z</dcterms:modified>
</cp:coreProperties>
</file>